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11.xml" ContentType="application/vnd.openxmlformats-officedocument.drawingml.diagramColors+xml"/>
  <Override PartName="/ppt/diagrams/colors12.xml" ContentType="application/vnd.openxmlformats-officedocument.drawingml.diagramColors+xml"/>
  <Override PartName="/ppt/diagrams/colors13.xml" ContentType="application/vnd.openxmlformats-officedocument.drawingml.diagramColors+xml"/>
  <Override PartName="/ppt/diagrams/colors14.xml" ContentType="application/vnd.openxmlformats-officedocument.drawingml.diagramColors+xml"/>
  <Override PartName="/ppt/diagrams/colors15.xml" ContentType="application/vnd.openxmlformats-officedocument.drawingml.diagramColors+xml"/>
  <Override PartName="/ppt/diagrams/colors16.xml" ContentType="application/vnd.openxmlformats-officedocument.drawingml.diagramColors+xml"/>
  <Override PartName="/ppt/diagrams/colors17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data13.xml" ContentType="application/vnd.openxmlformats-officedocument.drawingml.diagramData+xml"/>
  <Override PartName="/ppt/diagrams/data14.xml" ContentType="application/vnd.openxmlformats-officedocument.drawingml.diagramData+xml"/>
  <Override PartName="/ppt/diagrams/data15.xml" ContentType="application/vnd.openxmlformats-officedocument.drawingml.diagramData+xml"/>
  <Override PartName="/ppt/diagrams/data16.xml" ContentType="application/vnd.openxmlformats-officedocument.drawingml.diagramData+xml"/>
  <Override PartName="/ppt/diagrams/data17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11.xml" ContentType="application/vnd.ms-office.drawingml.diagramDrawing+xml"/>
  <Override PartName="/ppt/diagrams/drawing12.xml" ContentType="application/vnd.ms-office.drawingml.diagramDrawing+xml"/>
  <Override PartName="/ppt/diagrams/drawing13.xml" ContentType="application/vnd.ms-office.drawingml.diagramDrawing+xml"/>
  <Override PartName="/ppt/diagrams/drawing14.xml" ContentType="application/vnd.ms-office.drawingml.diagramDrawing+xml"/>
  <Override PartName="/ppt/diagrams/drawing15.xml" ContentType="application/vnd.ms-office.drawingml.diagramDrawing+xml"/>
  <Override PartName="/ppt/diagrams/drawing16.xml" ContentType="application/vnd.ms-office.drawingml.diagramDrawing+xml"/>
  <Override PartName="/ppt/diagrams/drawing17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11.xml" ContentType="application/vnd.openxmlformats-officedocument.drawingml.diagramLayout+xml"/>
  <Override PartName="/ppt/diagrams/layout12.xml" ContentType="application/vnd.openxmlformats-officedocument.drawingml.diagramLayout+xml"/>
  <Override PartName="/ppt/diagrams/layout13.xml" ContentType="application/vnd.openxmlformats-officedocument.drawingml.diagramLayout+xml"/>
  <Override PartName="/ppt/diagrams/layout14.xml" ContentType="application/vnd.openxmlformats-officedocument.drawingml.diagramLayout+xml"/>
  <Override PartName="/ppt/diagrams/layout15.xml" ContentType="application/vnd.openxmlformats-officedocument.drawingml.diagramLayout+xml"/>
  <Override PartName="/ppt/diagrams/layout16.xml" ContentType="application/vnd.openxmlformats-officedocument.drawingml.diagramLayout+xml"/>
  <Override PartName="/ppt/diagrams/layout17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11.xml" ContentType="application/vnd.openxmlformats-officedocument.drawingml.diagramStyle+xml"/>
  <Override PartName="/ppt/diagrams/quickStyle12.xml" ContentType="application/vnd.openxmlformats-officedocument.drawingml.diagramStyle+xml"/>
  <Override PartName="/ppt/diagrams/quickStyle13.xml" ContentType="application/vnd.openxmlformats-officedocument.drawingml.diagramStyle+xml"/>
  <Override PartName="/ppt/diagrams/quickStyle14.xml" ContentType="application/vnd.openxmlformats-officedocument.drawingml.diagramStyle+xml"/>
  <Override PartName="/ppt/diagrams/quickStyle15.xml" ContentType="application/vnd.openxmlformats-officedocument.drawingml.diagramStyle+xml"/>
  <Override PartName="/ppt/diagrams/quickStyle16.xml" ContentType="application/vnd.openxmlformats-officedocument.drawingml.diagramStyle+xml"/>
  <Override PartName="/ppt/diagrams/quickStyle17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466" r:id="rId4"/>
    <p:sldId id="461" r:id="rId5"/>
    <p:sldId id="374" r:id="rId6"/>
    <p:sldId id="478" r:id="rId7"/>
    <p:sldId id="470" r:id="rId8"/>
    <p:sldId id="504" r:id="rId9"/>
    <p:sldId id="505" r:id="rId10"/>
    <p:sldId id="506" r:id="rId11"/>
    <p:sldId id="507" r:id="rId12"/>
    <p:sldId id="508" r:id="rId13"/>
    <p:sldId id="509" r:id="rId14"/>
    <p:sldId id="510" r:id="rId16"/>
    <p:sldId id="511" r:id="rId17"/>
    <p:sldId id="512" r:id="rId18"/>
    <p:sldId id="513" r:id="rId19"/>
    <p:sldId id="514" r:id="rId20"/>
    <p:sldId id="515" r:id="rId21"/>
    <p:sldId id="516" r:id="rId22"/>
    <p:sldId id="517" r:id="rId23"/>
    <p:sldId id="518" r:id="rId24"/>
    <p:sldId id="519" r:id="rId25"/>
    <p:sldId id="520" r:id="rId26"/>
    <p:sldId id="521" r:id="rId27"/>
    <p:sldId id="522" r:id="rId28"/>
    <p:sldId id="523" r:id="rId29"/>
    <p:sldId id="524" r:id="rId30"/>
    <p:sldId id="530" r:id="rId31"/>
    <p:sldId id="531" r:id="rId32"/>
    <p:sldId id="532" r:id="rId33"/>
    <p:sldId id="533" r:id="rId34"/>
    <p:sldId id="534" r:id="rId35"/>
    <p:sldId id="535" r:id="rId36"/>
    <p:sldId id="536" r:id="rId37"/>
    <p:sldId id="537" r:id="rId38"/>
    <p:sldId id="541" r:id="rId39"/>
    <p:sldId id="542" r:id="rId40"/>
    <p:sldId id="543" r:id="rId41"/>
    <p:sldId id="545" r:id="rId42"/>
    <p:sldId id="447" r:id="rId43"/>
    <p:sldId id="423" r:id="rId4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57" userDrawn="1">
          <p15:clr>
            <a:srgbClr val="A4A3A4"/>
          </p15:clr>
        </p15:guide>
        <p15:guide id="3" pos="4970" userDrawn="1">
          <p15:clr>
            <a:srgbClr val="A4A3A4"/>
          </p15:clr>
        </p15:guide>
        <p15:guide id="4" orient="horz" pos="21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EBD"/>
    <a:srgbClr val="2F5395"/>
    <a:srgbClr val="F9C0B1"/>
    <a:srgbClr val="6679FC"/>
    <a:srgbClr val="8C5AA5"/>
    <a:srgbClr val="7C4493"/>
    <a:srgbClr val="E4E6EB"/>
    <a:srgbClr val="2C2C87"/>
    <a:srgbClr val="009EB2"/>
    <a:srgbClr val="F47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0" d="100"/>
          <a:sy n="60" d="100"/>
        </p:scale>
        <p:origin x="884" y="48"/>
      </p:cViewPr>
      <p:guideLst>
        <p:guide pos="2457"/>
        <p:guide pos="4970"/>
        <p:guide orient="horz" pos="21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vasanth.thennarasu\Downloads\Belk%20MSR%20Release%20Trends-Web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priyanka.moorthy\Downloads\New%20folder\Belk%20MSR%20Release%20Trends-App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belk2com-my.sharepoint.com/personal/ankur_degaramudi_belk_com/Documents/Microsoft%20Teams%20Chat%20Files/plot.xlsx" TargetMode="External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2.xml"/><Relationship Id="rId1" Type="http://schemas.openxmlformats.org/officeDocument/2006/relationships/oleObject" Target="file:///C:\Users\vasanth.thennarasu\Downloads\MSR\Mar%202026\Belk-Effort%20Variance_Mar2026.xlsx" TargetMode="External"/></Relationships>
</file>

<file path=ppt/charts/_rels/chart6.xml.rels><?xml version="1.0" encoding="UTF-8" standalone="yes"?>
<Relationships xmlns="http://schemas.openxmlformats.org/package/2006/relationships"><Relationship Id="rId4" Type="http://schemas.microsoft.com/office/2011/relationships/chartColorStyle" Target="colors5.xml"/><Relationship Id="rId3" Type="http://schemas.microsoft.com/office/2011/relationships/chartStyle" Target="style5.xml"/><Relationship Id="rId2" Type="http://schemas.openxmlformats.org/officeDocument/2006/relationships/themeOverride" Target="../theme/themeOverride3.xml"/><Relationship Id="rId1" Type="http://schemas.openxmlformats.org/officeDocument/2006/relationships/oleObject" Target="file:///C:\Users\vasanth.thennarasu\Downloads\MSR\Mar%202026\Belk-Effort%20Variance_Mar2026.xlsx" TargetMode="External"/></Relationships>
</file>

<file path=ppt/charts/_rels/chart7.xml.rels><?xml version="1.0" encoding="UTF-8" standalone="yes"?>
<Relationships xmlns="http://schemas.openxmlformats.org/package/2006/relationships"><Relationship Id="rId4" Type="http://schemas.microsoft.com/office/2011/relationships/chartColorStyle" Target="colors6.xml"/><Relationship Id="rId3" Type="http://schemas.microsoft.com/office/2011/relationships/chartStyle" Target="style6.xml"/><Relationship Id="rId2" Type="http://schemas.openxmlformats.org/officeDocument/2006/relationships/themeOverride" Target="../theme/themeOverride4.xml"/><Relationship Id="rId1" Type="http://schemas.openxmlformats.org/officeDocument/2006/relationships/oleObject" Target="file:///C:\Users\vasanth.thennarasu\Downloads\MSR\Mar%202026\Belk-Effort%20Variance_Mar2026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vasanth.thennarasu\Downloads\MSR\Mar%202026\Belk-Effort%20Variance_Mar202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42"/>
    </mc:Choice>
    <mc:Fallback>
      <c:style val="4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baseline="0">
                <a:effectLst/>
              </a:rPr>
              <a:t>Story/Defect  for Major Release trend</a:t>
            </a:r>
            <a:endParaRPr lang="en-IN">
              <a:effectLst/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101399483838893"/>
          <c:w val="0.970441899767341"/>
          <c:h val="0.616820125896519"/>
        </c:manualLayout>
      </c:layout>
      <c:lineChart>
        <c:grouping val="stacked"/>
        <c:varyColors val="0"/>
        <c:ser>
          <c:idx val="0"/>
          <c:order val="0"/>
          <c:tx>
            <c:strRef>
              <c:f>'[Belk MSR Release Trends-Web.xlsx]Website'!$B$3</c:f>
              <c:strCache>
                <c:ptCount val="1"/>
                <c:pt idx="0">
                  <c:v>Validated Story</c:v>
                </c:pt>
              </c:strCache>
            </c:strRef>
          </c:tx>
          <c:spPr>
            <a:ln w="47625" cap="rnd" cmpd="sng" algn="ctr">
              <a:solidFill>
                <a:srgbClr val="00B050"/>
              </a:solidFill>
              <a:prstDash val="solid"/>
              <a:round/>
            </a:ln>
          </c:spPr>
          <c:marker>
            <c:spPr>
              <a:solidFill>
                <a:srgbClr val="00B050"/>
              </a:solidFill>
              <a:ln w="9525" cap="flat" cmpd="sng" algn="ctr">
                <a:solidFill>
                  <a:srgbClr val="00B050"/>
                </a:solidFill>
                <a:prstDash val="solid"/>
                <a:round/>
              </a:ln>
            </c:spPr>
          </c:marker>
          <c:dLbls>
            <c:dLbl>
              <c:idx val="0"/>
              <c:layout>
                <c:manualLayout>
                  <c:x val="-0.00063919259882254"/>
                  <c:y val="-0.02825240594925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0639192598822581"/>
                  <c:y val="-0.014363517060367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'[Belk MSR Release Trends-Web.xlsx]Website'!$I$2:$AU$2</c:f>
              <c:strCache>
                <c:ptCount val="7"/>
                <c:pt idx="0">
                  <c:v>September (Coral)</c:v>
                </c:pt>
                <c:pt idx="1">
                  <c:v>October (Coral.2, Ruby)</c:v>
                </c:pt>
                <c:pt idx="2">
                  <c:v>November (Ruby.2)</c:v>
                </c:pt>
                <c:pt idx="3">
                  <c:v>December (Ruby.4)</c:v>
                </c:pt>
                <c:pt idx="4">
                  <c:v>January (Pearl)</c:v>
                </c:pt>
                <c:pt idx="5">
                  <c:v>February (Espresso)</c:v>
                </c:pt>
                <c:pt idx="6">
                  <c:v>March (Espresso.2 &amp; .4, Latte)</c:v>
                </c:pt>
              </c:strCache>
            </c:strRef>
          </c:cat>
          <c:val>
            <c:numRef>
              <c:f>'[Belk MSR Release Trends-Web.xlsx]Website'!$I$3:$AU$3</c:f>
              <c:numCache>
                <c:formatCode>General</c:formatCode>
                <c:ptCount val="7"/>
                <c:pt idx="0">
                  <c:v>112</c:v>
                </c:pt>
                <c:pt idx="1">
                  <c:v>84</c:v>
                </c:pt>
                <c:pt idx="2">
                  <c:v>43</c:v>
                </c:pt>
                <c:pt idx="3">
                  <c:v>39</c:v>
                </c:pt>
                <c:pt idx="4">
                  <c:v>38</c:v>
                </c:pt>
                <c:pt idx="5">
                  <c:v>62</c:v>
                </c:pt>
                <c:pt idx="6">
                  <c:v>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'[Belk MSR Release Trends-Web.xlsx]Website'!$B$4</c:f>
              <c:strCache>
                <c:ptCount val="1"/>
                <c:pt idx="0">
                  <c:v>Validated Bug</c:v>
                </c:pt>
              </c:strCache>
            </c:strRef>
          </c:tx>
          <c:spPr>
            <a:ln w="47625" cap="rnd" cmpd="sng" algn="ctr">
              <a:solidFill>
                <a:schemeClr val="accent6"/>
              </a:solidFill>
              <a:prstDash val="solid"/>
              <a:round/>
            </a:ln>
          </c:spPr>
          <c:marker>
            <c:spPr>
              <a:solidFill>
                <a:schemeClr val="accent6"/>
              </a:solidFill>
              <a:ln w="9525" cap="flat" cmpd="sng" algn="ctr">
                <a:solidFill>
                  <a:schemeClr val="accent6"/>
                </a:solidFill>
                <a:prstDash val="solid"/>
                <a:round/>
              </a:ln>
            </c:spPr>
          </c:marker>
          <c:dLbls>
            <c:dLbl>
              <c:idx val="0"/>
              <c:layout>
                <c:manualLayout>
                  <c:x val="-0.0363493452207363"/>
                  <c:y val="0.024556401201938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365236893748248"/>
                  <c:y val="-0.0097338874307378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348196172702971"/>
                  <c:y val="0.0087846310877806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'[Belk MSR Release Trends-Web.xlsx]Website'!$I$2:$AU$2</c:f>
              <c:strCache>
                <c:ptCount val="7"/>
                <c:pt idx="0">
                  <c:v>September (Coral)</c:v>
                </c:pt>
                <c:pt idx="1">
                  <c:v>October (Coral.2, Ruby)</c:v>
                </c:pt>
                <c:pt idx="2">
                  <c:v>November (Ruby.2)</c:v>
                </c:pt>
                <c:pt idx="3">
                  <c:v>December (Ruby.4)</c:v>
                </c:pt>
                <c:pt idx="4">
                  <c:v>January (Pearl)</c:v>
                </c:pt>
                <c:pt idx="5">
                  <c:v>February (Espresso)</c:v>
                </c:pt>
                <c:pt idx="6">
                  <c:v>March (Espresso.2 &amp; .4, Latte)</c:v>
                </c:pt>
              </c:strCache>
            </c:strRef>
          </c:cat>
          <c:val>
            <c:numRef>
              <c:f>'[Belk MSR Release Trends-Web.xlsx]Website'!$I$4:$AU$4</c:f>
              <c:numCache>
                <c:formatCode>General</c:formatCode>
                <c:ptCount val="7"/>
                <c:pt idx="0">
                  <c:v>373</c:v>
                </c:pt>
                <c:pt idx="1">
                  <c:v>512</c:v>
                </c:pt>
                <c:pt idx="2">
                  <c:v>246</c:v>
                </c:pt>
                <c:pt idx="3">
                  <c:v>103</c:v>
                </c:pt>
                <c:pt idx="4">
                  <c:v>206</c:v>
                </c:pt>
                <c:pt idx="5">
                  <c:v>355</c:v>
                </c:pt>
                <c:pt idx="6">
                  <c:v>589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'[Belk MSR Release Trends-Web.xlsx]Website'!$B$5</c:f>
              <c:strCache>
                <c:ptCount val="1"/>
                <c:pt idx="0">
                  <c:v>Tickets Reopened</c:v>
                </c:pt>
              </c:strCache>
            </c:strRef>
          </c:tx>
          <c:spPr>
            <a:ln w="47625" cap="rnd" cmpd="sng" algn="ctr">
              <a:solidFill>
                <a:srgbClr val="FF0000"/>
              </a:solidFill>
              <a:prstDash val="solid"/>
              <a:round/>
            </a:ln>
          </c:spPr>
          <c:marker>
            <c:spPr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round/>
              </a:ln>
            </c:spPr>
          </c:marker>
          <c:dLbls>
            <c:dLbl>
              <c:idx val="0"/>
              <c:layout>
                <c:manualLayout>
                  <c:x val="-0.0364903461141431"/>
                  <c:y val="-0.022664882767091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176058312307261"/>
                  <c:y val="-0.051400554097404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'[Belk MSR Release Trends-Web.xlsx]Website'!$I$2:$AU$2</c:f>
              <c:strCache>
                <c:ptCount val="7"/>
                <c:pt idx="0">
                  <c:v>September (Coral)</c:v>
                </c:pt>
                <c:pt idx="1">
                  <c:v>October (Coral.2, Ruby)</c:v>
                </c:pt>
                <c:pt idx="2">
                  <c:v>November (Ruby.2)</c:v>
                </c:pt>
                <c:pt idx="3">
                  <c:v>December (Ruby.4)</c:v>
                </c:pt>
                <c:pt idx="4">
                  <c:v>January (Pearl)</c:v>
                </c:pt>
                <c:pt idx="5">
                  <c:v>February (Espresso)</c:v>
                </c:pt>
                <c:pt idx="6">
                  <c:v>March (Espresso.2 &amp; .4, Latte)</c:v>
                </c:pt>
              </c:strCache>
            </c:strRef>
          </c:cat>
          <c:val>
            <c:numRef>
              <c:f>'[Belk MSR Release Trends-Web.xlsx]Website'!$I$5:$AU$5</c:f>
              <c:numCache>
                <c:formatCode>General</c:formatCode>
                <c:ptCount val="7"/>
                <c:pt idx="0">
                  <c:v>27</c:v>
                </c:pt>
                <c:pt idx="1">
                  <c:v>175</c:v>
                </c:pt>
                <c:pt idx="2">
                  <c:v>56</c:v>
                </c:pt>
                <c:pt idx="3">
                  <c:v>35</c:v>
                </c:pt>
                <c:pt idx="4">
                  <c:v>44</c:v>
                </c:pt>
                <c:pt idx="5">
                  <c:v>88</c:v>
                </c:pt>
                <c:pt idx="6">
                  <c:v>138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'[Belk MSR Release Trends-Web.xlsx]Website'!$B$6</c:f>
              <c:strCache>
                <c:ptCount val="1"/>
                <c:pt idx="0">
                  <c:v>New Bug  Raised</c:v>
                </c:pt>
              </c:strCache>
            </c:strRef>
          </c:tx>
          <c:spPr>
            <a:ln w="47625" cap="rnd" cmpd="sng" algn="ctr">
              <a:solidFill>
                <a:srgbClr val="CC00CC"/>
              </a:solidFill>
              <a:prstDash val="solid"/>
              <a:round/>
            </a:ln>
          </c:spPr>
          <c:marker>
            <c:spPr>
              <a:solidFill>
                <a:srgbClr val="CC00CC"/>
              </a:solidFill>
              <a:ln w="9525" cap="flat" cmpd="sng" algn="ctr">
                <a:solidFill>
                  <a:srgbClr val="CC00CC"/>
                </a:solidFill>
                <a:prstDash val="solid"/>
                <a:round/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'[Belk MSR Release Trends-Web.xlsx]Website'!$I$2:$AU$2</c:f>
              <c:strCache>
                <c:ptCount val="7"/>
                <c:pt idx="0">
                  <c:v>September (Coral)</c:v>
                </c:pt>
                <c:pt idx="1">
                  <c:v>October (Coral.2, Ruby)</c:v>
                </c:pt>
                <c:pt idx="2">
                  <c:v>November (Ruby.2)</c:v>
                </c:pt>
                <c:pt idx="3">
                  <c:v>December (Ruby.4)</c:v>
                </c:pt>
                <c:pt idx="4">
                  <c:v>January (Pearl)</c:v>
                </c:pt>
                <c:pt idx="5">
                  <c:v>February (Espresso)</c:v>
                </c:pt>
                <c:pt idx="6">
                  <c:v>March (Espresso.2 &amp; .4, Latte)</c:v>
                </c:pt>
              </c:strCache>
            </c:strRef>
          </c:cat>
          <c:val>
            <c:numRef>
              <c:f>'[Belk MSR Release Trends-Web.xlsx]Website'!$I$6:$AU$6</c:f>
              <c:numCache>
                <c:formatCode>General</c:formatCode>
                <c:ptCount val="7"/>
                <c:pt idx="0">
                  <c:v>515</c:v>
                </c:pt>
                <c:pt idx="1">
                  <c:v>308</c:v>
                </c:pt>
                <c:pt idx="2">
                  <c:v>129</c:v>
                </c:pt>
                <c:pt idx="3">
                  <c:v>58</c:v>
                </c:pt>
                <c:pt idx="4">
                  <c:v>169</c:v>
                </c:pt>
                <c:pt idx="5">
                  <c:v>558</c:v>
                </c:pt>
                <c:pt idx="6">
                  <c:v>546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73479424"/>
        <c:axId val="162473664"/>
      </c:lineChart>
      <c:catAx>
        <c:axId val="1734794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162473664"/>
        <c:crosses val="autoZero"/>
        <c:auto val="1"/>
        <c:lblAlgn val="ctr"/>
        <c:lblOffset val="100"/>
        <c:noMultiLvlLbl val="0"/>
      </c:catAx>
      <c:valAx>
        <c:axId val="1624736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</a:p>
        </c:txPr>
        <c:crossAx val="173479424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258318372030994"/>
          <c:y val="0.907728301203729"/>
          <c:w val="0.524353772601653"/>
          <c:h val="0.069283193049144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fa0578af-8df1-4024-849e-bcd1447876ab}"/>
      </c:ext>
    </c:extLst>
  </c:chart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aseline="0">
                <a:solidFill>
                  <a:schemeClr val="bg1"/>
                </a:solidFill>
              </a:rPr>
              <a:t>Monthly Trend</a:t>
            </a:r>
            <a:endParaRPr lang="en-IN" baseline="0">
              <a:solidFill>
                <a:schemeClr val="bg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25191550353835"/>
          <c:y val="0.20412037037037"/>
          <c:w val="0.900691819931831"/>
          <c:h val="0.613307336582927"/>
        </c:manualLayout>
      </c:layout>
      <c:lineChart>
        <c:grouping val="stacked"/>
        <c:varyColors val="0"/>
        <c:ser>
          <c:idx val="0"/>
          <c:order val="0"/>
          <c:tx>
            <c:strRef>
              <c:f>'[Belk MSR Release Trends-App.xlsx]App'!$B$4</c:f>
              <c:strCache>
                <c:ptCount val="1"/>
                <c:pt idx="0">
                  <c:v>Validated Story/Defect</c:v>
                </c:pt>
              </c:strCache>
            </c:strRef>
          </c:tx>
          <c:spPr>
            <a:ln w="25400" cap="rnd">
              <a:solidFill>
                <a:srgbClr val="009900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rgbClr val="009900"/>
              </a:solidFill>
              <a:ln w="9525">
                <a:solidFill>
                  <a:srgbClr val="009900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0.04133865156619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0.064814814814814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7.41856208297371e-17"/>
                  <c:y val="0.069444444444444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5.8339288934125e-17"/>
                  <c:y val="0.069444444444444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0.092592592592592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177187133330758"/>
                  <c:y val="0.01415356413781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 MSR Release Trends-App.xlsx]App'!$G$3:$L$3</c:f>
              <c:strCache>
                <c:ptCount val="6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</c:strCache>
            </c:strRef>
          </c:cat>
          <c:val>
            <c:numRef>
              <c:f>'[Belk MSR Release Trends-App.xlsx]App'!$G$4:$L$4</c:f>
              <c:numCache>
                <c:formatCode>General</c:formatCode>
                <c:ptCount val="6"/>
                <c:pt idx="0">
                  <c:v>353</c:v>
                </c:pt>
                <c:pt idx="1">
                  <c:v>178</c:v>
                </c:pt>
                <c:pt idx="2">
                  <c:v>62</c:v>
                </c:pt>
                <c:pt idx="3">
                  <c:v>116</c:v>
                </c:pt>
                <c:pt idx="4">
                  <c:v>142</c:v>
                </c:pt>
                <c:pt idx="5">
                  <c:v>156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'[Belk MSR Release Trends-App.xlsx]App'!$B$5</c:f>
              <c:strCache>
                <c:ptCount val="1"/>
                <c:pt idx="0">
                  <c:v>Tickets Reopened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rgbClr val="C00000"/>
              </a:solidFill>
              <a:ln w="9525">
                <a:solidFill>
                  <a:srgbClr val="C00000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3.70928104148686e-17"/>
                  <c:y val="-0.078703703703703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82094081942337"/>
                  <c:y val="-0.055555555555555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21396054628225"/>
                  <c:y val="-0.069444444444444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477326968973753"/>
                  <c:y val="-0.069444444444444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59108989657922"/>
                  <c:y val="-0.046296296296296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0159108989657916"/>
                  <c:y val="-0.0555555555555556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 MSR Release Trends-App.xlsx]App'!$G$3:$L$3</c:f>
              <c:strCache>
                <c:ptCount val="6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</c:strCache>
            </c:strRef>
          </c:cat>
          <c:val>
            <c:numRef>
              <c:f>'[Belk MSR Release Trends-App.xlsx]App'!$G$5:$L$5</c:f>
              <c:numCache>
                <c:formatCode>General</c:formatCode>
                <c:ptCount val="6"/>
                <c:pt idx="0">
                  <c:v>11</c:v>
                </c:pt>
                <c:pt idx="1">
                  <c:v>29</c:v>
                </c:pt>
                <c:pt idx="2">
                  <c:v>38</c:v>
                </c:pt>
                <c:pt idx="3">
                  <c:v>17</c:v>
                </c:pt>
                <c:pt idx="4">
                  <c:v>22</c:v>
                </c:pt>
                <c:pt idx="5">
                  <c:v>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'[Belk MSR Release Trends-App.xlsx]App'!$B$6</c:f>
              <c:strCache>
                <c:ptCount val="1"/>
                <c:pt idx="0">
                  <c:v>New Bug  Raised</c:v>
                </c:pt>
              </c:strCache>
            </c:strRef>
          </c:tx>
          <c:spPr>
            <a:ln w="25400" cap="rnd">
              <a:solidFill>
                <a:srgbClr val="3333CC"/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rgbClr val="3333CC"/>
              </a:solidFill>
              <a:ln w="9525">
                <a:solidFill>
                  <a:srgbClr val="3333CC"/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0.0242792109256449"/>
                  <c:y val="-0.064814814814814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101163378856854"/>
                  <c:y val="-0.0324074074074074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61861406170966"/>
                  <c:y val="-0.060185185185185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10335916110961"/>
                  <c:y val="-0.033862433862433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rgbClr val="3333CC">
                          <a:alpha val="99000"/>
                        </a:srgb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 MSR Release Trends-App.xlsx]App'!$G$3:$L$3</c:f>
              <c:strCache>
                <c:ptCount val="6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</c:strCache>
            </c:strRef>
          </c:cat>
          <c:val>
            <c:numRef>
              <c:f>'[Belk MSR Release Trends-App.xlsx]App'!$G$6:$L$6</c:f>
              <c:numCache>
                <c:formatCode>General</c:formatCode>
                <c:ptCount val="6"/>
                <c:pt idx="0">
                  <c:v>219</c:v>
                </c:pt>
                <c:pt idx="1">
                  <c:v>121</c:v>
                </c:pt>
                <c:pt idx="2">
                  <c:v>43</c:v>
                </c:pt>
                <c:pt idx="3">
                  <c:v>67</c:v>
                </c:pt>
                <c:pt idx="4">
                  <c:v>94</c:v>
                </c:pt>
                <c:pt idx="5">
                  <c:v>123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982689583"/>
        <c:axId val="1982689999"/>
      </c:lineChart>
      <c:catAx>
        <c:axId val="1982689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cap="none" spc="120" normalizeH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982689999"/>
        <c:crosses val="autoZero"/>
        <c:auto val="1"/>
        <c:lblAlgn val="ctr"/>
        <c:lblOffset val="100"/>
        <c:noMultiLvlLbl val="0"/>
      </c:catAx>
      <c:valAx>
        <c:axId val="19826899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982689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zero"/>
    <c:showDLblsOverMax val="0"/>
    <c:extLst>
      <c:ext uri="{0b15fc19-7d7d-44ad-8c2d-2c3a37ce22c3}">
        <chartProps xmlns="https://web.wps.cn/et/2018/main" chartId="{6b21c691-a2ce-4ac1-978b-8860d358ec93}"/>
      </c:ext>
    </c:extLst>
  </c:chart>
  <c:spPr>
    <a:solidFill>
      <a:schemeClr val="tx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'Plot (2)'!$I$6</c:f>
              <c:strCache>
                <c:ptCount val="1"/>
                <c:pt idx="0">
                  <c:v>Story Validated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'Plot (2)'!$H$7:$H$12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'Plot (2)'!$I$7:$I$12</c:f>
              <c:numCache>
                <c:formatCode>General</c:formatCode>
                <c:ptCount val="6"/>
                <c:pt idx="0">
                  <c:v>27</c:v>
                </c:pt>
                <c:pt idx="1">
                  <c:v>28</c:v>
                </c:pt>
                <c:pt idx="2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'Plot (2)'!$J$6</c:f>
              <c:strCache>
                <c:ptCount val="1"/>
                <c:pt idx="0">
                  <c:v>Defects Validated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'Plot (2)'!$H$7:$H$12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'Plot (2)'!$J$7:$J$12</c:f>
              <c:numCache>
                <c:formatCode>General</c:formatCode>
                <c:ptCount val="6"/>
                <c:pt idx="0">
                  <c:v>91</c:v>
                </c:pt>
                <c:pt idx="1">
                  <c:v>151</c:v>
                </c:pt>
                <c:pt idx="2">
                  <c:v>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'Plot (2)'!$K$6</c:f>
              <c:strCache>
                <c:ptCount val="1"/>
                <c:pt idx="0">
                  <c:v>Tickets Reopened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'Plot (2)'!$H$7:$H$12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'Plot (2)'!$K$7:$K$12</c:f>
              <c:numCache>
                <c:formatCode>General</c:formatCode>
                <c:ptCount val="6"/>
                <c:pt idx="0">
                  <c:v>31</c:v>
                </c:pt>
                <c:pt idx="1">
                  <c:v>29</c:v>
                </c:pt>
                <c:pt idx="2">
                  <c:v>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'Plot (2)'!$L$6</c:f>
              <c:strCache>
                <c:ptCount val="1"/>
                <c:pt idx="0">
                  <c:v>New Defects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'Plot (2)'!$H$7:$H$12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'Plot (2)'!$L$7:$L$12</c:f>
              <c:numCache>
                <c:formatCode>General</c:formatCode>
                <c:ptCount val="6"/>
                <c:pt idx="0">
                  <c:v>112</c:v>
                </c:pt>
                <c:pt idx="1">
                  <c:v>117</c:v>
                </c:pt>
                <c:pt idx="2">
                  <c:v>35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94875192"/>
        <c:axId val="894874472"/>
      </c:lineChart>
      <c:catAx>
        <c:axId val="894875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94874472"/>
        <c:crosses val="autoZero"/>
        <c:auto val="1"/>
        <c:lblAlgn val="ctr"/>
        <c:lblOffset val="100"/>
        <c:noMultiLvlLbl val="0"/>
      </c:catAx>
      <c:valAx>
        <c:axId val="894874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94875192"/>
        <c:crosses val="autoZero"/>
        <c:crossBetween val="between"/>
      </c:valAx>
      <c:spPr>
        <a:solidFill>
          <a:schemeClr val="tx1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6ef3d0-dd73-4425-adf0-3cb185f0ef1b}"/>
      </c:ext>
    </c:extLst>
  </c:chart>
  <c:spPr>
    <a:solidFill>
      <a:schemeClr val="tx1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 Trend for Story/Defect Validation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Sheet4!$D$4</c:f>
              <c:strCache>
                <c:ptCount val="1"/>
                <c:pt idx="0">
                  <c:v>Story Validated</c:v>
                </c:pt>
              </c:strCache>
            </c:strRef>
          </c:tx>
          <c:spPr>
            <a:ln w="444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Sheet4!$C$12:$C$17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Sheet4!$D$12:$D$17</c:f>
              <c:numCache>
                <c:formatCode>General</c:formatCode>
                <c:ptCount val="6"/>
                <c:pt idx="0">
                  <c:v>18</c:v>
                </c:pt>
                <c:pt idx="1">
                  <c:v>16</c:v>
                </c:pt>
                <c:pt idx="2">
                  <c:v>12</c:v>
                </c:pt>
                <c:pt idx="3">
                  <c:v>12</c:v>
                </c:pt>
                <c:pt idx="4">
                  <c:v>6</c:v>
                </c:pt>
                <c:pt idx="5">
                  <c:v>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Sheet4!$E$4</c:f>
              <c:strCache>
                <c:ptCount val="1"/>
                <c:pt idx="0">
                  <c:v>Defect Validated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Sheet4!$C$12:$C$17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Sheet4!$E$12:$E$17</c:f>
              <c:numCache>
                <c:formatCode>General</c:formatCode>
                <c:ptCount val="6"/>
                <c:pt idx="0">
                  <c:v>24</c:v>
                </c:pt>
                <c:pt idx="1">
                  <c:v>26</c:v>
                </c:pt>
                <c:pt idx="2">
                  <c:v>21</c:v>
                </c:pt>
                <c:pt idx="3">
                  <c:v>12</c:v>
                </c:pt>
                <c:pt idx="4">
                  <c:v>12</c:v>
                </c:pt>
                <c:pt idx="5">
                  <c:v>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Sheet4!$F$4</c:f>
              <c:strCache>
                <c:ptCount val="1"/>
                <c:pt idx="0">
                  <c:v>Ticket Reopened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</c:dPt>
          <c:dPt>
            <c:idx val="1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</c:dPt>
          <c:dPt>
            <c:idx val="2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</c:dPt>
          <c:dPt>
            <c:idx val="3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</c:dPt>
          <c:dPt>
            <c:idx val="4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</c:dPt>
          <c:dPt>
            <c:idx val="5"/>
            <c:marker>
              <c:symbol val="circle"/>
              <c:size val="5"/>
              <c:spPr>
                <a:solidFill>
                  <a:schemeClr val="accent3"/>
                </a:solidFill>
                <a:ln w="9525">
                  <a:solidFill>
                    <a:schemeClr val="accent3"/>
                  </a:solidFill>
                </a:ln>
                <a:effectLst/>
              </c:spPr>
            </c:marker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Sheet4!$C$12:$C$17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Sheet4!$F$12:$F$17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Sheet4!$G$4</c:f>
              <c:strCache>
                <c:ptCount val="1"/>
                <c:pt idx="0">
                  <c:v>New Defects</c:v>
                </c:pt>
              </c:strCache>
            </c:strRef>
          </c:tx>
          <c:spPr>
            <a:ln w="444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Sheet4!$C$12:$C$17</c:f>
              <c:strCache>
                <c:ptCount val="6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</c:strCache>
            </c:strRef>
          </c:cat>
          <c:val>
            <c:numRef>
              <c:f>Sheet4!$G$12:$G$17</c:f>
              <c:numCache>
                <c:formatCode>General</c:formatCode>
                <c:ptCount val="6"/>
                <c:pt idx="0">
                  <c:v>24</c:v>
                </c:pt>
                <c:pt idx="1">
                  <c:v>16</c:v>
                </c:pt>
                <c:pt idx="2">
                  <c:v>21</c:v>
                </c:pt>
                <c:pt idx="3">
                  <c:v>15</c:v>
                </c:pt>
                <c:pt idx="4">
                  <c:v>12</c:v>
                </c:pt>
                <c:pt idx="5">
                  <c:v>15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95921247"/>
        <c:axId val="1939901471"/>
      </c:lineChart>
      <c:catAx>
        <c:axId val="595921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939901471"/>
        <c:crosses val="autoZero"/>
        <c:auto val="1"/>
        <c:lblAlgn val="ctr"/>
        <c:lblOffset val="100"/>
        <c:noMultiLvlLbl val="0"/>
      </c:catAx>
      <c:valAx>
        <c:axId val="19399014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595921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42b831e-c1d1-426e-9d77-dc4a7f2a0233}"/>
      </c:ext>
    </c:extLst>
  </c:chart>
  <c:spPr>
    <a:solidFill>
      <a:schemeClr val="tx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>
          <a:solidFill>
            <a:schemeClr val="bg1"/>
          </a:solidFill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1" i="0" u="sng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>
                  <a:solidFill>
                    <a:schemeClr val="bg1"/>
                  </a:solidFill>
                </a:uFill>
                <a:latin typeface="+mn-lt"/>
                <a:ea typeface="+mn-ea"/>
                <a:cs typeface="+mn-cs"/>
              </a:defRPr>
            </a:pPr>
            <a:r>
              <a:rPr lang="en-US"/>
              <a:t>Website - Effort</a:t>
            </a:r>
            <a:r>
              <a:rPr lang="en-US" baseline="0"/>
              <a:t> Break Up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'[Belk-Effort Variance_Mar2026.xlsx]Teamwise'!$D$3</c:f>
              <c:strCache>
                <c:ptCount val="1"/>
                <c:pt idx="0">
                  <c:v>Planned Hrs</c:v>
                </c:pt>
              </c:strCache>
            </c:strRef>
          </c:tx>
          <c:spPr>
            <a:solidFill>
              <a:srgbClr val="3333CC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Variance_Mar2026.xlsx]Teamwise'!$C$4:$C$5</c:f>
              <c:strCache>
                <c:ptCount val="2"/>
                <c:pt idx="0">
                  <c:v>Offshore</c:v>
                </c:pt>
                <c:pt idx="1">
                  <c:v>Onsite</c:v>
                </c:pt>
              </c:strCache>
            </c:strRef>
          </c:cat>
          <c:val>
            <c:numRef>
              <c:f>'[Belk-Effort Variance_Mar2026.xlsx]Teamwise'!$D$4:$D$5</c:f>
              <c:numCache>
                <c:formatCode>General</c:formatCode>
                <c:ptCount val="2"/>
                <c:pt idx="0">
                  <c:v>1232</c:v>
                </c:pt>
                <c:pt idx="1">
                  <c:v>176</c:v>
                </c:pt>
              </c:numCache>
            </c:numRef>
          </c:val>
        </c:ser>
        <c:ser>
          <c:idx val="1"/>
          <c:order val="1"/>
          <c:tx>
            <c:strRef>
              <c:f>'[Belk-Effort Variance_Mar2026.xlsx]Teamwise'!$E$3</c:f>
              <c:strCache>
                <c:ptCount val="1"/>
                <c:pt idx="0">
                  <c:v>Actual Hrs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Variance_Mar2026.xlsx]Teamwise'!$C$4:$C$5</c:f>
              <c:strCache>
                <c:ptCount val="2"/>
                <c:pt idx="0">
                  <c:v>Offshore</c:v>
                </c:pt>
                <c:pt idx="1">
                  <c:v>Onsite</c:v>
                </c:pt>
              </c:strCache>
            </c:strRef>
          </c:cat>
          <c:val>
            <c:numRef>
              <c:f>'[Belk-Effort Variance_Mar2026.xlsx]Teamwise'!$E$4:$E$5</c:f>
              <c:numCache>
                <c:formatCode>General</c:formatCode>
                <c:ptCount val="2"/>
                <c:pt idx="0">
                  <c:v>1474</c:v>
                </c:pt>
                <c:pt idx="1">
                  <c:v>176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12842752"/>
        <c:axId val="1512844832"/>
      </c:barChart>
      <c:catAx>
        <c:axId val="151284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12844832"/>
        <c:crosses val="autoZero"/>
        <c:auto val="1"/>
        <c:lblAlgn val="ctr"/>
        <c:lblOffset val="100"/>
        <c:noMultiLvlLbl val="0"/>
      </c:catAx>
      <c:valAx>
        <c:axId val="1512844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1284275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aa9bdf0-06b5-41ce-b6cf-0a9e933ad09f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200" b="1" i="0" u="sng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>
                  <a:solidFill>
                    <a:sysClr val="window" lastClr="FFFFFF"/>
                  </a:solidFill>
                </a:uFill>
                <a:latin typeface="+mn-lt"/>
                <a:ea typeface="+mn-ea"/>
                <a:cs typeface="+mn-cs"/>
              </a:defRPr>
            </a:pPr>
            <a:r>
              <a:rPr lang="en-US" sz="1200" b="1" i="0" u="sng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>
                  <a:solidFill>
                    <a:sysClr val="window" lastClr="FFFFFF"/>
                  </a:solidFill>
                </a:uFill>
              </a:rPr>
              <a:t>Mobile App - Effort Break Up</a:t>
            </a:r>
            <a:endParaRPr lang="en-US" sz="1200" b="1" i="0" u="sng" strike="noStrike" kern="1200" spc="100" baseline="0">
              <a:solidFill>
                <a:sysClr val="window" lastClr="FFFFFF">
                  <a:lumMod val="95000"/>
                </a:sys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Fill>
                <a:solidFill>
                  <a:sysClr val="window" lastClr="FFFFFF"/>
                </a:solidFill>
              </a:u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'[Belk-Effort Variance_Mar2026.xlsx]Teamwise'!$D$23</c:f>
              <c:strCache>
                <c:ptCount val="1"/>
                <c:pt idx="0">
                  <c:v>Planned Hrs</c:v>
                </c:pt>
              </c:strCache>
            </c:strRef>
          </c:tx>
          <c:spPr>
            <a:solidFill>
              <a:srgbClr val="3333CC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Variance_Mar2026.xlsx]Teamwise'!$C$24:$C$25</c:f>
              <c:strCache>
                <c:ptCount val="2"/>
                <c:pt idx="0">
                  <c:v>Offshore</c:v>
                </c:pt>
                <c:pt idx="1">
                  <c:v>Onsite</c:v>
                </c:pt>
              </c:strCache>
            </c:strRef>
          </c:cat>
          <c:val>
            <c:numRef>
              <c:f>'[Belk-Effort Variance_Mar2026.xlsx]Teamwise'!$D$24:$D$25</c:f>
              <c:numCache>
                <c:formatCode>General</c:formatCode>
                <c:ptCount val="2"/>
                <c:pt idx="0">
                  <c:v>704</c:v>
                </c:pt>
                <c:pt idx="1">
                  <c:v>176</c:v>
                </c:pt>
              </c:numCache>
            </c:numRef>
          </c:val>
        </c:ser>
        <c:ser>
          <c:idx val="1"/>
          <c:order val="1"/>
          <c:tx>
            <c:strRef>
              <c:f>'[Belk-Effort Variance_Mar2026.xlsx]Teamwise'!$E$23</c:f>
              <c:strCache>
                <c:ptCount val="1"/>
                <c:pt idx="0">
                  <c:v>Actual Hrs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Variance_Mar2026.xlsx]Teamwise'!$C$24:$C$25</c:f>
              <c:strCache>
                <c:ptCount val="2"/>
                <c:pt idx="0">
                  <c:v>Offshore</c:v>
                </c:pt>
                <c:pt idx="1">
                  <c:v>Onsite</c:v>
                </c:pt>
              </c:strCache>
            </c:strRef>
          </c:cat>
          <c:val>
            <c:numRef>
              <c:f>'[Belk-Effort Variance_Mar2026.xlsx]Teamwise'!$E$24:$E$25</c:f>
              <c:numCache>
                <c:formatCode>General</c:formatCode>
                <c:ptCount val="2"/>
                <c:pt idx="0">
                  <c:v>784</c:v>
                </c:pt>
                <c:pt idx="1">
                  <c:v>176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12842752"/>
        <c:axId val="1512844832"/>
      </c:barChart>
      <c:catAx>
        <c:axId val="151284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12844832"/>
        <c:crosses val="autoZero"/>
        <c:auto val="1"/>
        <c:lblAlgn val="ctr"/>
        <c:lblOffset val="100"/>
        <c:noMultiLvlLbl val="0"/>
      </c:catAx>
      <c:valAx>
        <c:axId val="1512844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1284275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e2ff802-ce35-4895-8950-e4282fa68d6c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200" b="1" i="0" u="sng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>
                  <a:solidFill>
                    <a:sysClr val="window" lastClr="FFFFFF"/>
                  </a:solidFill>
                </a:uFill>
                <a:latin typeface="+mn-lt"/>
                <a:ea typeface="+mn-ea"/>
                <a:cs typeface="+mn-cs"/>
              </a:defRPr>
            </a:pPr>
            <a:r>
              <a:rPr lang="en-US" sz="1200" b="1" i="0" u="sng" strike="noStrike" kern="1200" spc="100" baseline="0">
                <a:solidFill>
                  <a:sysClr val="window" lastClr="FFFFFF">
                    <a:lumMod val="95000"/>
                  </a:sys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Fill>
                  <a:solidFill>
                    <a:sysClr val="window" lastClr="FFFFFF"/>
                  </a:solidFill>
                </a:uFill>
              </a:rPr>
              <a:t>Integration - Effort Break Up</a:t>
            </a:r>
            <a:endParaRPr lang="en-US" sz="1200" b="1" i="0" u="sng" strike="noStrike" kern="1200" spc="100" baseline="0">
              <a:solidFill>
                <a:sysClr val="window" lastClr="FFFFFF">
                  <a:lumMod val="95000"/>
                </a:sys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Fill>
                <a:solidFill>
                  <a:sysClr val="window" lastClr="FFFFFF"/>
                </a:solidFill>
              </a:u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'[Belk-Effort Variance_Mar2026.xlsx]Teamwise'!$D$40</c:f>
              <c:strCache>
                <c:ptCount val="1"/>
                <c:pt idx="0">
                  <c:v>Planned Hrs</c:v>
                </c:pt>
              </c:strCache>
            </c:strRef>
          </c:tx>
          <c:spPr>
            <a:solidFill>
              <a:srgbClr val="3333CC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Variance_Mar2026.xlsx]Teamwise'!$C$41:$C$42</c:f>
              <c:strCache>
                <c:ptCount val="2"/>
                <c:pt idx="0">
                  <c:v>Offshore</c:v>
                </c:pt>
                <c:pt idx="1">
                  <c:v>Onsite</c:v>
                </c:pt>
              </c:strCache>
            </c:strRef>
          </c:cat>
          <c:val>
            <c:numRef>
              <c:f>'[Belk-Effort Variance_Mar2026.xlsx]Teamwise'!$D$41:$D$42</c:f>
              <c:numCache>
                <c:formatCode>General</c:formatCode>
                <c:ptCount val="2"/>
                <c:pt idx="0">
                  <c:v>1056</c:v>
                </c:pt>
                <c:pt idx="1">
                  <c:v>352</c:v>
                </c:pt>
              </c:numCache>
            </c:numRef>
          </c:val>
        </c:ser>
        <c:ser>
          <c:idx val="1"/>
          <c:order val="1"/>
          <c:tx>
            <c:strRef>
              <c:f>'[Belk-Effort Variance_Mar2026.xlsx]Teamwise'!$E$40</c:f>
              <c:strCache>
                <c:ptCount val="1"/>
                <c:pt idx="0">
                  <c:v>Actual Hrs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Variance_Mar2026.xlsx]Teamwise'!$C$41:$C$42</c:f>
              <c:strCache>
                <c:ptCount val="2"/>
                <c:pt idx="0">
                  <c:v>Offshore</c:v>
                </c:pt>
                <c:pt idx="1">
                  <c:v>Onsite</c:v>
                </c:pt>
              </c:strCache>
            </c:strRef>
          </c:cat>
          <c:val>
            <c:numRef>
              <c:f>'[Belk-Effort Variance_Mar2026.xlsx]Teamwise'!$E$41:$E$42</c:f>
              <c:numCache>
                <c:formatCode>General</c:formatCode>
                <c:ptCount val="2"/>
                <c:pt idx="0">
                  <c:v>1081</c:v>
                </c:pt>
                <c:pt idx="1">
                  <c:v>271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12842752"/>
        <c:axId val="1512844832"/>
      </c:barChart>
      <c:catAx>
        <c:axId val="1512842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12844832"/>
        <c:crosses val="autoZero"/>
        <c:auto val="1"/>
        <c:lblAlgn val="ctr"/>
        <c:lblOffset val="100"/>
        <c:noMultiLvlLbl val="0"/>
      </c:catAx>
      <c:valAx>
        <c:axId val="1512844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hours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512842752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30f7885-d2a0-42fd-a888-b30db8809511}"/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cap="none" spc="120" normalizeH="0" baseline="0">
                <a:solidFill>
                  <a:schemeClr val="bg1"/>
                </a:solidFill>
                <a:latin typeface="Calibri" panose="020F0502020204030204" charset="0"/>
                <a:ea typeface="+mn-ea"/>
                <a:cs typeface="+mn-cs"/>
              </a:defRPr>
            </a:pPr>
            <a:r>
              <a:rPr lang="en-IN" sz="1400" cap="none" baseline="0">
                <a:solidFill>
                  <a:schemeClr val="bg1"/>
                </a:solidFill>
                <a:latin typeface="Calibri" panose="020F0502020204030204" charset="0"/>
              </a:rPr>
              <a:t>Monthly Effort Trend -  Planned VS Actual</a:t>
            </a:r>
            <a:endParaRPr lang="en-IN" cap="none" baseline="0">
              <a:solidFill>
                <a:schemeClr val="bg1"/>
              </a:solidFill>
              <a:latin typeface="Calibri" panose="020F0502020204030204" charset="0"/>
            </a:endParaRPr>
          </a:p>
        </c:rich>
      </c:tx>
      <c:layout>
        <c:manualLayout>
          <c:xMode val="edge"/>
          <c:yMode val="edge"/>
          <c:x val="0.162223830642553"/>
          <c:y val="0.010063737001006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33404855404157"/>
          <c:y val="0.229240957717779"/>
          <c:w val="0.811348602037767"/>
          <c:h val="0.581660723382578"/>
        </c:manualLayout>
      </c:layout>
      <c:lineChart>
        <c:grouping val="stacked"/>
        <c:varyColors val="0"/>
        <c:ser>
          <c:idx val="0"/>
          <c:order val="0"/>
          <c:tx>
            <c:strRef>
              <c:f>'[Belk-Effort Variance_Mar2026.xlsx]Monthly'!$C$5</c:f>
              <c:strCache>
                <c:ptCount val="1"/>
                <c:pt idx="0">
                  <c:v>Planned Effort</c:v>
                </c:pt>
              </c:strCache>
            </c:strRef>
          </c:tx>
          <c:spPr>
            <a:ln w="38100" cap="rnd">
              <a:solidFill>
                <a:srgbClr val="0000FF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6">
                  <a:lumMod val="75000"/>
                </a:schemeClr>
              </a:solidFill>
              <a:ln w="38100">
                <a:solidFill>
                  <a:srgbClr val="0000FF"/>
                </a:solidFill>
                <a:round/>
              </a:ln>
              <a:effectLst/>
            </c:spPr>
          </c:marker>
          <c:dPt>
            <c:idx val="0"/>
            <c:marker>
              <c:symbol val="diamond"/>
              <c:size val="6"/>
              <c:spPr>
                <a:solidFill>
                  <a:schemeClr val="accent6">
                    <a:lumMod val="75000"/>
                  </a:schemeClr>
                </a:solidFill>
                <a:ln w="38100">
                  <a:solidFill>
                    <a:srgbClr val="0000FF"/>
                  </a:solidFill>
                  <a:round/>
                </a:ln>
                <a:effectLst/>
              </c:spPr>
            </c:marker>
            <c:bubble3D val="0"/>
          </c:dPt>
          <c:dPt>
            <c:idx val="1"/>
            <c:marker>
              <c:symbol val="diamond"/>
              <c:size val="6"/>
              <c:spPr>
                <a:solidFill>
                  <a:schemeClr val="accent6">
                    <a:lumMod val="75000"/>
                  </a:schemeClr>
                </a:solidFill>
                <a:ln w="38100">
                  <a:solidFill>
                    <a:srgbClr val="0000FF"/>
                  </a:solidFill>
                  <a:round/>
                </a:ln>
                <a:effectLst/>
              </c:spPr>
            </c:marker>
            <c:bubble3D val="0"/>
          </c:dPt>
          <c:dPt>
            <c:idx val="2"/>
            <c:marker>
              <c:symbol val="diamond"/>
              <c:size val="6"/>
              <c:spPr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</a:ln>
                <a:effectLst/>
              </c:spPr>
            </c:marker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Variance_Mar2026.xlsx]Monthly'!$B$6:$B$11</c:f>
              <c:strCache>
                <c:ptCount val="6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</c:strCache>
            </c:strRef>
          </c:cat>
          <c:val>
            <c:numRef>
              <c:f>'[Belk-Effort Variance_Mar2026.xlsx]Monthly'!$C$6:$C$11</c:f>
              <c:numCache>
                <c:formatCode>General</c:formatCode>
                <c:ptCount val="6"/>
                <c:pt idx="0">
                  <c:v>3616</c:v>
                </c:pt>
                <c:pt idx="1">
                  <c:v>3488</c:v>
                </c:pt>
                <c:pt idx="2">
                  <c:v>3696</c:v>
                </c:pt>
                <c:pt idx="3">
                  <c:v>3360</c:v>
                </c:pt>
                <c:pt idx="4">
                  <c:v>3360</c:v>
                </c:pt>
                <c:pt idx="5">
                  <c:v>3696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'[Belk-Effort Variance_Mar2026.xlsx]Monthly'!$D$5</c:f>
              <c:strCache>
                <c:ptCount val="1"/>
                <c:pt idx="0">
                  <c:v>Actual Effort</c:v>
                </c:pt>
              </c:strCache>
            </c:strRef>
          </c:tx>
          <c:spPr>
            <a:ln w="38100" cap="rnd">
              <a:solidFill>
                <a:srgbClr val="CC0000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rgbClr val="CC0000"/>
              </a:solidFill>
              <a:ln w="38100">
                <a:solidFill>
                  <a:srgbClr val="CC0000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'[Belk-Effort Variance_Mar2026.xlsx]Monthly'!$B$6:$B$11</c:f>
              <c:strCache>
                <c:ptCount val="6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  <c:pt idx="3">
                  <c:v>January</c:v>
                </c:pt>
                <c:pt idx="4">
                  <c:v>February</c:v>
                </c:pt>
                <c:pt idx="5">
                  <c:v>March</c:v>
                </c:pt>
              </c:strCache>
            </c:strRef>
          </c:cat>
          <c:val>
            <c:numRef>
              <c:f>'[Belk-Effort Variance_Mar2026.xlsx]Monthly'!$D$6:$D$11</c:f>
              <c:numCache>
                <c:formatCode>General</c:formatCode>
                <c:ptCount val="6"/>
                <c:pt idx="0">
                  <c:v>4192</c:v>
                </c:pt>
                <c:pt idx="1">
                  <c:v>4021</c:v>
                </c:pt>
                <c:pt idx="2">
                  <c:v>3962</c:v>
                </c:pt>
                <c:pt idx="3">
                  <c:v>3387</c:v>
                </c:pt>
                <c:pt idx="4">
                  <c:v>3586</c:v>
                </c:pt>
                <c:pt idx="5">
                  <c:v>3982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12965360"/>
        <c:axId val="1412966608"/>
      </c:lineChart>
      <c:catAx>
        <c:axId val="141296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0" i="0" u="none" strike="noStrike" kern="1200" cap="all" spc="120" normalizeH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412966608"/>
        <c:crosses val="autoZero"/>
        <c:auto val="1"/>
        <c:lblAlgn val="ctr"/>
        <c:lblOffset val="100"/>
        <c:noMultiLvlLbl val="0"/>
      </c:catAx>
      <c:valAx>
        <c:axId val="14129666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12965360"/>
        <c:crosses val="autoZero"/>
        <c:crossBetween val="between"/>
      </c:valAx>
      <c:spPr>
        <a:noFill/>
        <a:ln cap="rnd">
          <a:solidFill>
            <a:schemeClr val="bg1"/>
          </a:solidFill>
        </a:ln>
        <a:effectLst/>
      </c:spPr>
    </c:plotArea>
    <c:legend>
      <c:legendPos val="r"/>
      <c:layout>
        <c:manualLayout>
          <c:xMode val="edge"/>
          <c:yMode val="edge"/>
          <c:x val="0.856236786469345"/>
          <c:y val="0.327231121281465"/>
          <c:w val="0.143763206607329"/>
          <c:h val="0.413190211729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8904300-c0dc-49ba-9cef-dc19ef301956}"/>
      </c:ext>
    </c:extLst>
  </c:chart>
  <c:spPr>
    <a:solidFill>
      <a:schemeClr val="tx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1" loCatId="process" qsTypeId="urn:microsoft.com/office/officeart/2005/8/quickstyle/simple1#1" qsCatId="simple" csTypeId="urn:microsoft.com/office/officeart/2005/8/colors/accent1_2#1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341D98-9494-4785-891B-4C48B1FF21FB}" type="doc">
      <dgm:prSet loTypeId="hierarchy" loCatId="hierarchy" qsTypeId="urn:microsoft.com/office/officeart/2005/8/quickstyle/3d3#1" qsCatId="3D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762368FC-8A21-42DF-862F-49913B4CA600}">
      <dgm:prSet phldrT="[Text]" phldr="0" custT="1"/>
      <dgm:spPr>
        <a:solidFill>
          <a:srgbClr val="6679FC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 </a:t>
          </a:r>
          <a:r>
            <a:rPr lang="en-US" sz="1400" b="1" dirty="0">
              <a:solidFill>
                <a:schemeClr val="bg1"/>
              </a:solidFill>
            </a:rPr>
            <a:t/>
          </a:r>
          <a:endParaRPr lang="en-US" sz="1400" b="1" dirty="0">
            <a:solidFill>
              <a:schemeClr val="bg1"/>
            </a:solidFill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IN" sz="1400" b="1" dirty="0">
              <a:solidFill>
                <a:schemeClr val="bg1"/>
              </a:solidFill>
            </a:rPr>
            <a:t>57+</a:t>
          </a:r>
          <a:r>
            <a:rPr lang="en-US" altLang="en-IN" sz="1400" b="1" dirty="0">
              <a:solidFill>
                <a:schemeClr val="bg1"/>
              </a:solidFill>
            </a:rPr>
            <a:t>589 = 646</a:t>
          </a:r>
          <a:r>
            <a:rPr sz="1400" dirty="0"/>
            <a:t/>
          </a:r>
          <a:endParaRPr sz="1400" dirty="0"/>
        </a:p>
      </dgm:t>
    </dgm:pt>
    <dgm:pt modelId="{B57AD276-BF53-4E4E-BA10-2FE2EDF7FBF3}" cxnId="{C845B1D4-C961-4556-BEE1-D384C31D89E1}" type="parTrans">
      <dgm:prSet/>
      <dgm:spPr/>
      <dgm:t>
        <a:bodyPr/>
        <a:lstStyle/>
        <a:p>
          <a:endParaRPr lang="en-US" sz="1100" b="1"/>
        </a:p>
      </dgm:t>
    </dgm:pt>
    <dgm:pt modelId="{DA9AB284-C6AC-4CC0-9FE5-67193AF8CD57}" cxnId="{C845B1D4-C961-4556-BEE1-D384C31D89E1}" type="sibTrans">
      <dgm:prSet/>
      <dgm:spPr/>
      <dgm:t>
        <a:bodyPr/>
        <a:lstStyle/>
        <a:p>
          <a:endParaRPr lang="en-US" sz="1100" b="1"/>
        </a:p>
      </dgm:t>
    </dgm:pt>
    <dgm:pt modelId="{CAAF34B5-F334-4D18-BD84-68E109DE370A}">
      <dgm:prSet phldrT="[Text]" phldr="0" custT="1"/>
      <dgm:spPr>
        <a:solidFill>
          <a:schemeClr val="accent6">
            <a:lumMod val="7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/>
            <a:t>Closed - 646 </a:t>
          </a:r>
          <a:r>
            <a:rPr lang="en-US" sz="1400" b="1" dirty="0"/>
            <a:t/>
          </a:r>
          <a:endParaRPr lang="en-US" sz="1400" b="1" dirty="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1" dirty="0"/>
            <a:t>[57+589]</a:t>
          </a:r>
          <a:r>
            <a:rPr sz="6500" i="1" dirty="0"/>
            <a:t/>
          </a:r>
          <a:endParaRPr sz="6500" i="1" dirty="0"/>
        </a:p>
      </dgm:t>
    </dgm:pt>
    <dgm:pt modelId="{156C782C-9FFE-4F81-9506-769FCFB8F257}" cxnId="{4B9C79FE-CF10-450B-B6AD-37D98A8F9C4C}" type="parTrans">
      <dgm:prSet custT="1"/>
      <dgm:spPr/>
      <dgm:t>
        <a:bodyPr/>
        <a:lstStyle/>
        <a:p>
          <a:endParaRPr lang="en-US" sz="100" b="1"/>
        </a:p>
      </dgm:t>
    </dgm:pt>
    <dgm:pt modelId="{1967F592-1C3C-46B7-9983-EFDC4CB79F76}" cxnId="{4B9C79FE-CF10-450B-B6AD-37D98A8F9C4C}" type="sibTrans">
      <dgm:prSet/>
      <dgm:spPr/>
      <dgm:t>
        <a:bodyPr/>
        <a:lstStyle/>
        <a:p>
          <a:endParaRPr lang="en-US" sz="1100" b="1"/>
        </a:p>
      </dgm:t>
    </dgm:pt>
    <dgm:pt modelId="{4A0DE495-8723-4E60-8612-1DFDFDA4BDA9}">
      <dgm:prSet phldrT="[Text]" phldr="0" custT="1"/>
      <dgm:spPr>
        <a:solidFill>
          <a:srgbClr val="FF0000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/>
            <a:t>Reopened - 138</a:t>
          </a:r>
          <a:r>
            <a:rPr sz="6500" dirty="0"/>
            <a:t/>
          </a:r>
          <a:endParaRPr sz="6500" dirty="0"/>
        </a:p>
      </dgm:t>
    </dgm:pt>
    <dgm:pt modelId="{D07D4D30-6707-4EDB-9D1A-070940111A35}" cxnId="{5C5B4782-7F40-469C-B9F4-08CE0A71AF99}" type="parTrans">
      <dgm:prSet custT="1"/>
      <dgm:spPr/>
      <dgm:t>
        <a:bodyPr/>
        <a:lstStyle/>
        <a:p>
          <a:endParaRPr lang="en-US" sz="100" b="1"/>
        </a:p>
      </dgm:t>
    </dgm:pt>
    <dgm:pt modelId="{71605767-7F18-455F-BC11-8D15812EBC74}" cxnId="{5C5B4782-7F40-469C-B9F4-08CE0A71AF99}" type="sibTrans">
      <dgm:prSet/>
      <dgm:spPr/>
      <dgm:t>
        <a:bodyPr/>
        <a:lstStyle/>
        <a:p>
          <a:endParaRPr lang="en-US" sz="1100" b="1"/>
        </a:p>
      </dgm:t>
    </dgm:pt>
    <dgm:pt modelId="{380E0CCC-A032-451B-940B-273C8CB10DF9}" type="pres">
      <dgm:prSet presAssocID="{9A341D98-9494-4785-891B-4C48B1FF21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FCFEE9F-7BB2-48E9-94A9-4ED245F224A9}" type="pres">
      <dgm:prSet presAssocID="{762368FC-8A21-42DF-862F-49913B4CA600}" presName="root1" presStyleCnt="0"/>
      <dgm:spPr/>
    </dgm:pt>
    <dgm:pt modelId="{C68481FC-E4AC-4DC1-847B-0FB2B55517FB}" type="pres">
      <dgm:prSet presAssocID="{762368FC-8A21-42DF-862F-49913B4CA600}" presName="LevelOneTextNode" presStyleLbl="node0" presStyleIdx="0" presStyleCnt="1" custScaleY="107616" custLinFactNeighborX="3463" custLinFactNeighborY="-7965">
        <dgm:presLayoutVars>
          <dgm:chPref val="3"/>
        </dgm:presLayoutVars>
      </dgm:prSet>
      <dgm:spPr/>
    </dgm:pt>
    <dgm:pt modelId="{7252753E-90C7-4157-8C5C-BEAFAFC4B76C}" type="pres">
      <dgm:prSet presAssocID="{762368FC-8A21-42DF-862F-49913B4CA600}" presName="level2hierChild" presStyleCnt="0"/>
      <dgm:spPr/>
    </dgm:pt>
    <dgm:pt modelId="{9F3840BB-1876-4A23-8D56-C51342CCBDCD}" type="pres">
      <dgm:prSet presAssocID="{156C782C-9FFE-4F81-9506-769FCFB8F257}" presName="conn2-1" presStyleLbl="parChTrans1D2" presStyleIdx="0" presStyleCnt="2"/>
      <dgm:spPr/>
    </dgm:pt>
    <dgm:pt modelId="{AD1C5297-6470-4205-B48C-F06D98DE5EF1}" type="pres">
      <dgm:prSet presAssocID="{156C782C-9FFE-4F81-9506-769FCFB8F257}" presName="connTx" presStyleCnt="0"/>
      <dgm:spPr/>
    </dgm:pt>
    <dgm:pt modelId="{7BE2565D-E701-461B-87B9-A46BD19DF5AC}" type="pres">
      <dgm:prSet presAssocID="{CAAF34B5-F334-4D18-BD84-68E109DE370A}" presName="root2" presStyleCnt="0"/>
      <dgm:spPr/>
    </dgm:pt>
    <dgm:pt modelId="{6A880FA7-B117-4398-A659-602501FB7E10}" type="pres">
      <dgm:prSet presAssocID="{CAAF34B5-F334-4D18-BD84-68E109DE370A}" presName="LevelTwoTextNode" presStyleLbl="node2" presStyleIdx="0" presStyleCnt="2">
        <dgm:presLayoutVars>
          <dgm:chPref val="3"/>
        </dgm:presLayoutVars>
      </dgm:prSet>
      <dgm:spPr/>
    </dgm:pt>
    <dgm:pt modelId="{D91E9AD6-44CA-45DA-9D1B-056D1D3DC2E4}" type="pres">
      <dgm:prSet presAssocID="{CAAF34B5-F334-4D18-BD84-68E109DE370A}" presName="level3hierChild" presStyleCnt="0"/>
      <dgm:spPr/>
    </dgm:pt>
    <dgm:pt modelId="{6BD1F47B-B70E-4BD0-AD51-CA426A38BEBF}" type="pres">
      <dgm:prSet presAssocID="{D07D4D30-6707-4EDB-9D1A-070940111A35}" presName="conn2-1" presStyleLbl="parChTrans1D2" presStyleIdx="1" presStyleCnt="2"/>
      <dgm:spPr/>
    </dgm:pt>
    <dgm:pt modelId="{862DBE7B-1FFA-4857-A363-E8AE1E584881}" type="pres">
      <dgm:prSet presAssocID="{D07D4D30-6707-4EDB-9D1A-070940111A35}" presName="connTx" presStyleCnt="0"/>
      <dgm:spPr/>
    </dgm:pt>
    <dgm:pt modelId="{ECBD37BD-AD7A-4229-BB50-35688D4F8A97}" type="pres">
      <dgm:prSet presAssocID="{4A0DE495-8723-4E60-8612-1DFDFDA4BDA9}" presName="root2" presStyleCnt="0"/>
      <dgm:spPr/>
    </dgm:pt>
    <dgm:pt modelId="{F08D0CF8-D76D-4E4E-BE09-F973D395634D}" type="pres">
      <dgm:prSet presAssocID="{4A0DE495-8723-4E60-8612-1DFDFDA4BDA9}" presName="LevelTwoTextNode" presStyleLbl="node2" presStyleIdx="1" presStyleCnt="2">
        <dgm:presLayoutVars>
          <dgm:chPref val="3"/>
        </dgm:presLayoutVars>
      </dgm:prSet>
      <dgm:spPr/>
    </dgm:pt>
    <dgm:pt modelId="{579D9AE2-A318-43D7-8C9B-7E7CB41BFDF5}" type="pres">
      <dgm:prSet presAssocID="{4A0DE495-8723-4E60-8612-1DFDFDA4BDA9}" presName="level3hierChild" presStyleCnt="0"/>
      <dgm:spPr/>
    </dgm:pt>
  </dgm:ptLst>
  <dgm:cxnLst>
    <dgm:cxn modelId="{C845B1D4-C961-4556-BEE1-D384C31D89E1}" srcId="{9A341D98-9494-4785-891B-4C48B1FF21FB}" destId="{762368FC-8A21-42DF-862F-49913B4CA600}" srcOrd="0" destOrd="0" parTransId="{B57AD276-BF53-4E4E-BA10-2FE2EDF7FBF3}" sibTransId="{DA9AB284-C6AC-4CC0-9FE5-67193AF8CD57}"/>
    <dgm:cxn modelId="{4B9C79FE-CF10-450B-B6AD-37D98A8F9C4C}" srcId="{762368FC-8A21-42DF-862F-49913B4CA600}" destId="{CAAF34B5-F334-4D18-BD84-68E109DE370A}" srcOrd="0" destOrd="0" parTransId="{156C782C-9FFE-4F81-9506-769FCFB8F257}" sibTransId="{1967F592-1C3C-46B7-9983-EFDC4CB79F76}"/>
    <dgm:cxn modelId="{5C5B4782-7F40-469C-B9F4-08CE0A71AF99}" srcId="{762368FC-8A21-42DF-862F-49913B4CA600}" destId="{4A0DE495-8723-4E60-8612-1DFDFDA4BDA9}" srcOrd="1" destOrd="0" parTransId="{D07D4D30-6707-4EDB-9D1A-070940111A35}" sibTransId="{71605767-7F18-455F-BC11-8D15812EBC74}"/>
    <dgm:cxn modelId="{833AB3A0-BA7F-4BDC-AB60-3AA5880B237E}" type="presOf" srcId="{9A341D98-9494-4785-891B-4C48B1FF21FB}" destId="{380E0CCC-A032-451B-940B-273C8CB10DF9}" srcOrd="0" destOrd="0" presId="urn:microsoft.com/office/officeart/2005/8/layout/hierarchy2#1"/>
    <dgm:cxn modelId="{D2620096-C823-4674-B943-1035FF4EA5FF}" type="presParOf" srcId="{380E0CCC-A032-451B-940B-273C8CB10DF9}" destId="{FFCFEE9F-7BB2-48E9-94A9-4ED245F224A9}" srcOrd="0" destOrd="0" presId="urn:microsoft.com/office/officeart/2005/8/layout/hierarchy2#1"/>
    <dgm:cxn modelId="{B468B138-764D-42B4-81FB-A2F4F43EF9D6}" type="presParOf" srcId="{FFCFEE9F-7BB2-48E9-94A9-4ED245F224A9}" destId="{C68481FC-E4AC-4DC1-847B-0FB2B55517FB}" srcOrd="0" destOrd="0" presId="urn:microsoft.com/office/officeart/2005/8/layout/hierarchy2#1"/>
    <dgm:cxn modelId="{57B18906-F93C-4273-A32F-B7304CEE1008}" type="presOf" srcId="{762368FC-8A21-42DF-862F-49913B4CA600}" destId="{C68481FC-E4AC-4DC1-847B-0FB2B55517FB}" srcOrd="0" destOrd="0" presId="urn:microsoft.com/office/officeart/2005/8/layout/hierarchy2#1"/>
    <dgm:cxn modelId="{3E4D55D0-49DB-4815-BDE5-CE97603DAD98}" type="presParOf" srcId="{FFCFEE9F-7BB2-48E9-94A9-4ED245F224A9}" destId="{7252753E-90C7-4157-8C5C-BEAFAFC4B76C}" srcOrd="1" destOrd="0" presId="urn:microsoft.com/office/officeart/2005/8/layout/hierarchy2#1"/>
    <dgm:cxn modelId="{72A8C55B-4139-4249-AC68-344E9FFE6775}" type="presParOf" srcId="{7252753E-90C7-4157-8C5C-BEAFAFC4B76C}" destId="{9F3840BB-1876-4A23-8D56-C51342CCBDCD}" srcOrd="0" destOrd="1" presId="urn:microsoft.com/office/officeart/2005/8/layout/hierarchy2#1"/>
    <dgm:cxn modelId="{31736159-6777-4070-81F1-5D35B8D71F7B}" type="presOf" srcId="{156C782C-9FFE-4F81-9506-769FCFB8F257}" destId="{9F3840BB-1876-4A23-8D56-C51342CCBDCD}" srcOrd="0" destOrd="0" presId="urn:microsoft.com/office/officeart/2005/8/layout/hierarchy2#1"/>
    <dgm:cxn modelId="{812B0F7C-E6A3-4B9A-B021-06DCD9FF8FD3}" type="presParOf" srcId="{9F3840BB-1876-4A23-8D56-C51342CCBDCD}" destId="{AD1C5297-6470-4205-B48C-F06D98DE5EF1}" srcOrd="0" destOrd="0" presId="urn:microsoft.com/office/officeart/2005/8/layout/hierarchy2#1"/>
    <dgm:cxn modelId="{3F8FBE7C-5052-4E6D-976F-1F1721174CB0}" type="presOf" srcId="{156C782C-9FFE-4F81-9506-769FCFB8F257}" destId="{AD1C5297-6470-4205-B48C-F06D98DE5EF1}" srcOrd="1" destOrd="0" presId="urn:microsoft.com/office/officeart/2005/8/layout/hierarchy2#1"/>
    <dgm:cxn modelId="{DAABC770-5CB4-437B-BE22-9749426C02ED}" type="presParOf" srcId="{7252753E-90C7-4157-8C5C-BEAFAFC4B76C}" destId="{7BE2565D-E701-461B-87B9-A46BD19DF5AC}" srcOrd="1" destOrd="1" presId="urn:microsoft.com/office/officeart/2005/8/layout/hierarchy2#1"/>
    <dgm:cxn modelId="{C6D700AE-FF2A-4533-8DE3-45BE10AE37B2}" type="presParOf" srcId="{7BE2565D-E701-461B-87B9-A46BD19DF5AC}" destId="{6A880FA7-B117-4398-A659-602501FB7E10}" srcOrd="0" destOrd="1" presId="urn:microsoft.com/office/officeart/2005/8/layout/hierarchy2#1"/>
    <dgm:cxn modelId="{6B9BE47C-EC3D-4092-BA3A-EED3B6C69950}" type="presOf" srcId="{CAAF34B5-F334-4D18-BD84-68E109DE370A}" destId="{6A880FA7-B117-4398-A659-602501FB7E10}" srcOrd="0" destOrd="0" presId="urn:microsoft.com/office/officeart/2005/8/layout/hierarchy2#1"/>
    <dgm:cxn modelId="{F1BD5F58-85C4-406F-B9F7-C00F57E6C7AF}" type="presParOf" srcId="{7BE2565D-E701-461B-87B9-A46BD19DF5AC}" destId="{D91E9AD6-44CA-45DA-9D1B-056D1D3DC2E4}" srcOrd="1" destOrd="1" presId="urn:microsoft.com/office/officeart/2005/8/layout/hierarchy2#1"/>
    <dgm:cxn modelId="{E7C01883-46A7-4BDF-B07B-E65EDA28F47E}" type="presParOf" srcId="{7252753E-90C7-4157-8C5C-BEAFAFC4B76C}" destId="{6BD1F47B-B70E-4BD0-AD51-CA426A38BEBF}" srcOrd="2" destOrd="1" presId="urn:microsoft.com/office/officeart/2005/8/layout/hierarchy2#1"/>
    <dgm:cxn modelId="{55B337C8-245E-497B-895C-C6B407915915}" type="presOf" srcId="{D07D4D30-6707-4EDB-9D1A-070940111A35}" destId="{6BD1F47B-B70E-4BD0-AD51-CA426A38BEBF}" srcOrd="0" destOrd="0" presId="urn:microsoft.com/office/officeart/2005/8/layout/hierarchy2#1"/>
    <dgm:cxn modelId="{0072D9F6-6971-41CA-834A-A54455414FB4}" type="presParOf" srcId="{6BD1F47B-B70E-4BD0-AD51-CA426A38BEBF}" destId="{862DBE7B-1FFA-4857-A363-E8AE1E584881}" srcOrd="0" destOrd="2" presId="urn:microsoft.com/office/officeart/2005/8/layout/hierarchy2#1"/>
    <dgm:cxn modelId="{D182161B-6AE0-4E68-8474-E61CB4B14D72}" type="presOf" srcId="{D07D4D30-6707-4EDB-9D1A-070940111A35}" destId="{862DBE7B-1FFA-4857-A363-E8AE1E584881}" srcOrd="1" destOrd="0" presId="urn:microsoft.com/office/officeart/2005/8/layout/hierarchy2#1"/>
    <dgm:cxn modelId="{27079145-9E5F-475C-9209-C19C3C361898}" type="presParOf" srcId="{7252753E-90C7-4157-8C5C-BEAFAFC4B76C}" destId="{ECBD37BD-AD7A-4229-BB50-35688D4F8A97}" srcOrd="3" destOrd="1" presId="urn:microsoft.com/office/officeart/2005/8/layout/hierarchy2#1"/>
    <dgm:cxn modelId="{1779C8CD-617A-4A67-837F-41BD5D701B7A}" type="presParOf" srcId="{ECBD37BD-AD7A-4229-BB50-35688D4F8A97}" destId="{F08D0CF8-D76D-4E4E-BE09-F973D395634D}" srcOrd="0" destOrd="3" presId="urn:microsoft.com/office/officeart/2005/8/layout/hierarchy2#1"/>
    <dgm:cxn modelId="{6C2F7DDA-D3AC-49CC-B1E1-09D803B757F6}" type="presOf" srcId="{4A0DE495-8723-4E60-8612-1DFDFDA4BDA9}" destId="{F08D0CF8-D76D-4E4E-BE09-F973D395634D}" srcOrd="0" destOrd="0" presId="urn:microsoft.com/office/officeart/2005/8/layout/hierarchy2#1"/>
    <dgm:cxn modelId="{03F76A57-0C42-4AE7-93BA-E78F3BFFD27E}" type="presParOf" srcId="{ECBD37BD-AD7A-4229-BB50-35688D4F8A97}" destId="{579D9AE2-A318-43D7-8C9B-7E7CB41BFDF5}" srcOrd="1" destOrd="3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3" loCatId="process" qsTypeId="urn:microsoft.com/office/officeart/2005/8/quickstyle/simple1#3" qsCatId="simple" csTypeId="urn:microsoft.com/office/officeart/2005/8/colors/accent1_2#3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A341D98-9494-4785-891B-4C48B1FF21FB}" type="doc">
      <dgm:prSet loTypeId="hierarchy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2368FC-8A21-42DF-862F-49913B4CA600}">
      <dgm:prSet phldrT="[Text]" phldr="0" custT="1"/>
      <dgm:spPr>
        <a:solidFill>
          <a:srgbClr val="6679FC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</a:t>
          </a:r>
          <a:r>
            <a:rPr lang="en-US" sz="1400" b="1" dirty="0">
              <a:solidFill>
                <a:schemeClr val="bg1"/>
              </a:solidFill>
            </a:rPr>
            <a:t/>
          </a:r>
          <a:endParaRPr lang="en-US" sz="1400" b="1" dirty="0">
            <a:solidFill>
              <a:schemeClr val="bg1"/>
            </a:solidFill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dirty="0" smtClean="0">
              <a:solidFill>
                <a:schemeClr val="bg1"/>
              </a:solidFill>
            </a:rPr>
            <a:t>134 + 22 </a:t>
          </a:r>
          <a:r>
            <a:rPr lang="en-IN" sz="1400" b="1" dirty="0">
              <a:solidFill>
                <a:schemeClr val="bg1"/>
              </a:solidFill>
            </a:rPr>
            <a:t>= 156</a:t>
          </a:r>
          <a:r>
            <a:rPr lang="en-IN" altLang="en-US" sz="1400" b="1" dirty="0">
              <a:solidFill>
                <a:schemeClr val="bg1"/>
              </a:solidFill>
            </a:rPr>
            <a:t/>
          </a:r>
          <a:endParaRPr lang="en-IN" altLang="en-US" sz="1400" b="1" dirty="0">
            <a:solidFill>
              <a:schemeClr val="bg1"/>
            </a:solidFill>
          </a:endParaRPr>
        </a:p>
      </dgm:t>
    </dgm:pt>
    <dgm:pt modelId="{B57AD276-BF53-4E4E-BA10-2FE2EDF7FBF3}" cxnId="{373B68E2-E02A-4965-8953-076A98C29872}" type="parTrans">
      <dgm:prSet/>
      <dgm:spPr/>
      <dgm:t>
        <a:bodyPr/>
        <a:lstStyle/>
        <a:p>
          <a:endParaRPr lang="en-US" sz="1200" b="1"/>
        </a:p>
      </dgm:t>
    </dgm:pt>
    <dgm:pt modelId="{DA9AB284-C6AC-4CC0-9FE5-67193AF8CD57}" cxnId="{373B68E2-E02A-4965-8953-076A98C29872}" type="sibTrans">
      <dgm:prSet/>
      <dgm:spPr/>
      <dgm:t>
        <a:bodyPr/>
        <a:lstStyle/>
        <a:p>
          <a:endParaRPr lang="en-US" sz="1200" b="1"/>
        </a:p>
      </dgm:t>
    </dgm:pt>
    <dgm:pt modelId="{CAAF34B5-F334-4D18-BD84-68E109DE370A}">
      <dgm:prSet phldrT="[Text]" phldr="0" custT="1"/>
      <dgm:spPr>
        <a:solidFill>
          <a:schemeClr val="accent6">
            <a:lumMod val="75000"/>
          </a:schemeClr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Closed </a:t>
          </a:r>
          <a:r>
            <a:rPr lang="en-US" sz="1600" b="1" dirty="0">
              <a:sym typeface="+mn-ea"/>
            </a:rPr>
            <a:t>-</a:t>
          </a:r>
          <a:r>
            <a:rPr lang="en-US" sz="1600" b="1" dirty="0"/>
            <a:t> </a:t>
          </a:r>
          <a:r>
            <a:rPr lang="en-IN" altLang="en-US" sz="1600" b="1" dirty="0"/>
            <a:t>134</a:t>
          </a:r>
          <a:endParaRPr lang="en-IN" altLang="en-US" sz="1600" b="1" dirty="0"/>
        </a:p>
      </dgm:t>
    </dgm:pt>
    <dgm:pt modelId="{156C782C-9FFE-4F81-9506-769FCFB8F257}" cxnId="{9B69FBF4-6779-4B2B-A32C-E3BE31E4CCD5}" type="parTrans">
      <dgm:prSet custT="1"/>
      <dgm:spPr/>
      <dgm:t>
        <a:bodyPr/>
        <a:lstStyle/>
        <a:p>
          <a:endParaRPr lang="en-US" sz="200" b="1"/>
        </a:p>
      </dgm:t>
    </dgm:pt>
    <dgm:pt modelId="{1967F592-1C3C-46B7-9983-EFDC4CB79F76}" cxnId="{9B69FBF4-6779-4B2B-A32C-E3BE31E4CCD5}" type="sibTrans">
      <dgm:prSet/>
      <dgm:spPr/>
      <dgm:t>
        <a:bodyPr/>
        <a:lstStyle/>
        <a:p>
          <a:endParaRPr lang="en-US" sz="1200" b="1"/>
        </a:p>
      </dgm:t>
    </dgm:pt>
    <dgm:pt modelId="{4A0DE495-8723-4E60-8612-1DFDFDA4BDA9}">
      <dgm:prSet phldrT="[Text]" phldr="0" custT="1"/>
      <dgm:spPr>
        <a:solidFill>
          <a:srgbClr val="FF0000"/>
        </a:solidFill>
      </dgm:spPr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Reopened </a:t>
          </a:r>
          <a:r>
            <a:rPr lang="en-US" sz="1600" b="1" dirty="0">
              <a:sym typeface="+mn-ea"/>
            </a:rPr>
            <a:t>- </a:t>
          </a:r>
          <a:r>
            <a:rPr lang="en-IN" altLang="en-US" sz="1600" b="1" dirty="0">
              <a:sym typeface="+mn-ea"/>
            </a:rPr>
            <a:t>22</a:t>
          </a:r>
          <a:r>
            <a:rPr lang="en-IN" altLang="en-US" sz="1600" b="1" dirty="0">
              <a:sym typeface="+mn-ea"/>
            </a:rPr>
            <a:t/>
          </a:r>
          <a:endParaRPr lang="en-IN" altLang="en-US" sz="1600" b="1" dirty="0">
            <a:sym typeface="+mn-ea"/>
          </a:endParaRPr>
        </a:p>
      </dgm:t>
    </dgm:pt>
    <dgm:pt modelId="{D07D4D30-6707-4EDB-9D1A-070940111A35}" cxnId="{4EAE185C-F04E-4C0A-BFFE-D714DDD0C342}" type="parTrans">
      <dgm:prSet custT="1"/>
      <dgm:spPr/>
      <dgm:t>
        <a:bodyPr/>
        <a:lstStyle/>
        <a:p>
          <a:endParaRPr lang="en-US" sz="200" b="1"/>
        </a:p>
      </dgm:t>
    </dgm:pt>
    <dgm:pt modelId="{71605767-7F18-455F-BC11-8D15812EBC74}" cxnId="{4EAE185C-F04E-4C0A-BFFE-D714DDD0C342}" type="sibTrans">
      <dgm:prSet/>
      <dgm:spPr/>
      <dgm:t>
        <a:bodyPr/>
        <a:lstStyle/>
        <a:p>
          <a:endParaRPr lang="en-US" sz="1200" b="1"/>
        </a:p>
      </dgm:t>
    </dgm:pt>
    <dgm:pt modelId="{380E0CCC-A032-451B-940B-273C8CB10DF9}" type="pres">
      <dgm:prSet presAssocID="{9A341D98-9494-4785-891B-4C48B1FF21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FCFEE9F-7BB2-48E9-94A9-4ED245F224A9}" type="pres">
      <dgm:prSet presAssocID="{762368FC-8A21-42DF-862F-49913B4CA600}" presName="root1" presStyleCnt="0"/>
      <dgm:spPr/>
    </dgm:pt>
    <dgm:pt modelId="{C68481FC-E4AC-4DC1-847B-0FB2B55517FB}" type="pres">
      <dgm:prSet presAssocID="{762368FC-8A21-42DF-862F-49913B4CA600}" presName="LevelOneTextNode" presStyleLbl="node0" presStyleIdx="0" presStyleCnt="1" custScaleX="105246" custScaleY="91254" custLinFactNeighborX="835" custLinFactNeighborY="370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52753E-90C7-4157-8C5C-BEAFAFC4B76C}" type="pres">
      <dgm:prSet presAssocID="{762368FC-8A21-42DF-862F-49913B4CA600}" presName="level2hierChild" presStyleCnt="0"/>
      <dgm:spPr/>
    </dgm:pt>
    <dgm:pt modelId="{9F3840BB-1876-4A23-8D56-C51342CCBDCD}" type="pres">
      <dgm:prSet presAssocID="{156C782C-9FFE-4F81-9506-769FCFB8F257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AD1C5297-6470-4205-B48C-F06D98DE5EF1}" type="pres">
      <dgm:prSet presAssocID="{156C782C-9FFE-4F81-9506-769FCFB8F257}" presName="connTx" presStyleCnt="0"/>
      <dgm:spPr/>
      <dgm:t>
        <a:bodyPr/>
        <a:lstStyle/>
        <a:p>
          <a:endParaRPr lang="en-US"/>
        </a:p>
      </dgm:t>
    </dgm:pt>
    <dgm:pt modelId="{7BE2565D-E701-461B-87B9-A46BD19DF5AC}" type="pres">
      <dgm:prSet presAssocID="{CAAF34B5-F334-4D18-BD84-68E109DE370A}" presName="root2" presStyleCnt="0"/>
      <dgm:spPr/>
    </dgm:pt>
    <dgm:pt modelId="{6A880FA7-B117-4398-A659-602501FB7E10}" type="pres">
      <dgm:prSet presAssocID="{CAAF34B5-F334-4D18-BD84-68E109DE370A}" presName="LevelTwoTextNode" presStyleLbl="node2" presStyleIdx="0" presStyleCnt="2" custScaleY="71200" custLinFactNeighborX="470" custLinFactNeighborY="-1250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91E9AD6-44CA-45DA-9D1B-056D1D3DC2E4}" type="pres">
      <dgm:prSet presAssocID="{CAAF34B5-F334-4D18-BD84-68E109DE370A}" presName="level3hierChild" presStyleCnt="0"/>
      <dgm:spPr/>
    </dgm:pt>
    <dgm:pt modelId="{6BD1F47B-B70E-4BD0-AD51-CA426A38BEBF}" type="pres">
      <dgm:prSet presAssocID="{D07D4D30-6707-4EDB-9D1A-070940111A35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862DBE7B-1FFA-4857-A363-E8AE1E584881}" type="pres">
      <dgm:prSet presAssocID="{D07D4D30-6707-4EDB-9D1A-070940111A35}" presName="connTx" presStyleCnt="0"/>
      <dgm:spPr/>
      <dgm:t>
        <a:bodyPr/>
        <a:lstStyle/>
        <a:p>
          <a:endParaRPr lang="en-US"/>
        </a:p>
      </dgm:t>
    </dgm:pt>
    <dgm:pt modelId="{ECBD37BD-AD7A-4229-BB50-35688D4F8A97}" type="pres">
      <dgm:prSet presAssocID="{4A0DE495-8723-4E60-8612-1DFDFDA4BDA9}" presName="root2" presStyleCnt="0"/>
      <dgm:spPr/>
    </dgm:pt>
    <dgm:pt modelId="{F08D0CF8-D76D-4E4E-BE09-F973D395634D}" type="pres">
      <dgm:prSet presAssocID="{4A0DE495-8723-4E60-8612-1DFDFDA4BDA9}" presName="LevelTwoTextNode" presStyleLbl="node2" presStyleIdx="1" presStyleCnt="2" custScaleY="57882" custLinFactNeighborX="16" custLinFactNeighborY="87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79D9AE2-A318-43D7-8C9B-7E7CB41BFDF5}" type="pres">
      <dgm:prSet presAssocID="{4A0DE495-8723-4E60-8612-1DFDFDA4BDA9}" presName="level3hierChild" presStyleCnt="0"/>
      <dgm:spPr/>
    </dgm:pt>
  </dgm:ptLst>
  <dgm:cxnLst>
    <dgm:cxn modelId="{373B68E2-E02A-4965-8953-076A98C29872}" srcId="{9A341D98-9494-4785-891B-4C48B1FF21FB}" destId="{762368FC-8A21-42DF-862F-49913B4CA600}" srcOrd="0" destOrd="0" parTransId="{B57AD276-BF53-4E4E-BA10-2FE2EDF7FBF3}" sibTransId="{DA9AB284-C6AC-4CC0-9FE5-67193AF8CD57}"/>
    <dgm:cxn modelId="{9B69FBF4-6779-4B2B-A32C-E3BE31E4CCD5}" srcId="{762368FC-8A21-42DF-862F-49913B4CA600}" destId="{CAAF34B5-F334-4D18-BD84-68E109DE370A}" srcOrd="0" destOrd="0" parTransId="{156C782C-9FFE-4F81-9506-769FCFB8F257}" sibTransId="{1967F592-1C3C-46B7-9983-EFDC4CB79F76}"/>
    <dgm:cxn modelId="{4EAE185C-F04E-4C0A-BFFE-D714DDD0C342}" srcId="{762368FC-8A21-42DF-862F-49913B4CA600}" destId="{4A0DE495-8723-4E60-8612-1DFDFDA4BDA9}" srcOrd="1" destOrd="0" parTransId="{D07D4D30-6707-4EDB-9D1A-070940111A35}" sibTransId="{71605767-7F18-455F-BC11-8D15812EBC74}"/>
    <dgm:cxn modelId="{E3664A42-B248-4C82-8885-BC1CEEEA2256}" type="presOf" srcId="{9A341D98-9494-4785-891B-4C48B1FF21FB}" destId="{380E0CCC-A032-451B-940B-273C8CB10DF9}" srcOrd="0" destOrd="0" presId="urn:microsoft.com/office/officeart/2005/8/layout/hierarchy2"/>
    <dgm:cxn modelId="{4732AF28-DD24-49B0-9241-2792BC12A780}" type="presParOf" srcId="{380E0CCC-A032-451B-940B-273C8CB10DF9}" destId="{FFCFEE9F-7BB2-48E9-94A9-4ED245F224A9}" srcOrd="0" destOrd="0" presId="urn:microsoft.com/office/officeart/2005/8/layout/hierarchy2"/>
    <dgm:cxn modelId="{EEB7F454-D23C-4339-AA45-074A85DB9CC8}" type="presParOf" srcId="{FFCFEE9F-7BB2-48E9-94A9-4ED245F224A9}" destId="{C68481FC-E4AC-4DC1-847B-0FB2B55517FB}" srcOrd="0" destOrd="0" presId="urn:microsoft.com/office/officeart/2005/8/layout/hierarchy2"/>
    <dgm:cxn modelId="{23EEB97A-36AD-47F6-A411-9E978156306B}" type="presOf" srcId="{762368FC-8A21-42DF-862F-49913B4CA600}" destId="{C68481FC-E4AC-4DC1-847B-0FB2B55517FB}" srcOrd="0" destOrd="0" presId="urn:microsoft.com/office/officeart/2005/8/layout/hierarchy2"/>
    <dgm:cxn modelId="{4DDDF12A-5234-49BA-AF2B-3439FED5B3AA}" type="presParOf" srcId="{FFCFEE9F-7BB2-48E9-94A9-4ED245F224A9}" destId="{7252753E-90C7-4157-8C5C-BEAFAFC4B76C}" srcOrd="1" destOrd="0" presId="urn:microsoft.com/office/officeart/2005/8/layout/hierarchy2"/>
    <dgm:cxn modelId="{D1DEEA3D-A212-472D-B094-1CCD96E9CD40}" type="presParOf" srcId="{7252753E-90C7-4157-8C5C-BEAFAFC4B76C}" destId="{9F3840BB-1876-4A23-8D56-C51342CCBDCD}" srcOrd="0" destOrd="1" presId="urn:microsoft.com/office/officeart/2005/8/layout/hierarchy2"/>
    <dgm:cxn modelId="{4DF1C281-0DFA-459A-8959-DB2199F5943E}" type="presOf" srcId="{156C782C-9FFE-4F81-9506-769FCFB8F257}" destId="{9F3840BB-1876-4A23-8D56-C51342CCBDCD}" srcOrd="0" destOrd="0" presId="urn:microsoft.com/office/officeart/2005/8/layout/hierarchy2"/>
    <dgm:cxn modelId="{53A34892-9EDF-462A-91DF-9B08B46E2286}" type="presParOf" srcId="{9F3840BB-1876-4A23-8D56-C51342CCBDCD}" destId="{AD1C5297-6470-4205-B48C-F06D98DE5EF1}" srcOrd="0" destOrd="0" presId="urn:microsoft.com/office/officeart/2005/8/layout/hierarchy2"/>
    <dgm:cxn modelId="{404CCFBB-06BD-4FE8-BC8D-C400C88768FC}" type="presOf" srcId="{156C782C-9FFE-4F81-9506-769FCFB8F257}" destId="{AD1C5297-6470-4205-B48C-F06D98DE5EF1}" srcOrd="1" destOrd="0" presId="urn:microsoft.com/office/officeart/2005/8/layout/hierarchy2"/>
    <dgm:cxn modelId="{06863C30-A27D-456E-A5E1-D18906DA83B1}" type="presParOf" srcId="{7252753E-90C7-4157-8C5C-BEAFAFC4B76C}" destId="{7BE2565D-E701-461B-87B9-A46BD19DF5AC}" srcOrd="1" destOrd="1" presId="urn:microsoft.com/office/officeart/2005/8/layout/hierarchy2"/>
    <dgm:cxn modelId="{6AC9530F-51EF-4BB4-9956-E9A1A2332A9C}" type="presParOf" srcId="{7BE2565D-E701-461B-87B9-A46BD19DF5AC}" destId="{6A880FA7-B117-4398-A659-602501FB7E10}" srcOrd="0" destOrd="1" presId="urn:microsoft.com/office/officeart/2005/8/layout/hierarchy2"/>
    <dgm:cxn modelId="{73E52457-1D04-4A00-AA38-347324BEAAC5}" type="presOf" srcId="{CAAF34B5-F334-4D18-BD84-68E109DE370A}" destId="{6A880FA7-B117-4398-A659-602501FB7E10}" srcOrd="0" destOrd="0" presId="urn:microsoft.com/office/officeart/2005/8/layout/hierarchy2"/>
    <dgm:cxn modelId="{A3313DBD-B3A3-467E-80AE-E381C3C3215F}" type="presParOf" srcId="{7BE2565D-E701-461B-87B9-A46BD19DF5AC}" destId="{D91E9AD6-44CA-45DA-9D1B-056D1D3DC2E4}" srcOrd="1" destOrd="1" presId="urn:microsoft.com/office/officeart/2005/8/layout/hierarchy2"/>
    <dgm:cxn modelId="{9C7FAAAC-07D6-40B2-B1B3-84D29B2FFDCE}" type="presParOf" srcId="{7252753E-90C7-4157-8C5C-BEAFAFC4B76C}" destId="{6BD1F47B-B70E-4BD0-AD51-CA426A38BEBF}" srcOrd="2" destOrd="1" presId="urn:microsoft.com/office/officeart/2005/8/layout/hierarchy2"/>
    <dgm:cxn modelId="{CAB55F56-BD22-469A-971E-CA629EC0D7AB}" type="presOf" srcId="{D07D4D30-6707-4EDB-9D1A-070940111A35}" destId="{6BD1F47B-B70E-4BD0-AD51-CA426A38BEBF}" srcOrd="0" destOrd="0" presId="urn:microsoft.com/office/officeart/2005/8/layout/hierarchy2"/>
    <dgm:cxn modelId="{EE704FB8-6ED9-4AF2-BA39-5514238B193D}" type="presParOf" srcId="{6BD1F47B-B70E-4BD0-AD51-CA426A38BEBF}" destId="{862DBE7B-1FFA-4857-A363-E8AE1E584881}" srcOrd="0" destOrd="2" presId="urn:microsoft.com/office/officeart/2005/8/layout/hierarchy2"/>
    <dgm:cxn modelId="{3378DA57-ECBE-4075-BC75-AC1C74C0AA8A}" type="presOf" srcId="{D07D4D30-6707-4EDB-9D1A-070940111A35}" destId="{862DBE7B-1FFA-4857-A363-E8AE1E584881}" srcOrd="1" destOrd="0" presId="urn:microsoft.com/office/officeart/2005/8/layout/hierarchy2"/>
    <dgm:cxn modelId="{63BFA213-8F8B-4264-AA20-1A6767F0520B}" type="presParOf" srcId="{7252753E-90C7-4157-8C5C-BEAFAFC4B76C}" destId="{ECBD37BD-AD7A-4229-BB50-35688D4F8A97}" srcOrd="3" destOrd="1" presId="urn:microsoft.com/office/officeart/2005/8/layout/hierarchy2"/>
    <dgm:cxn modelId="{BFDCBB1A-F1E3-43BB-B5E5-85AF8F0A7806}" type="presParOf" srcId="{ECBD37BD-AD7A-4229-BB50-35688D4F8A97}" destId="{F08D0CF8-D76D-4E4E-BE09-F973D395634D}" srcOrd="0" destOrd="3" presId="urn:microsoft.com/office/officeart/2005/8/layout/hierarchy2"/>
    <dgm:cxn modelId="{5F1E2466-F97B-496B-9122-E08EC3ED020A}" type="presOf" srcId="{4A0DE495-8723-4E60-8612-1DFDFDA4BDA9}" destId="{F08D0CF8-D76D-4E4E-BE09-F973D395634D}" srcOrd="0" destOrd="0" presId="urn:microsoft.com/office/officeart/2005/8/layout/hierarchy2"/>
    <dgm:cxn modelId="{975996F7-29EA-4B37-A427-CD00BBFDBE61}" type="presParOf" srcId="{ECBD37BD-AD7A-4229-BB50-35688D4F8A97}" destId="{579D9AE2-A318-43D7-8C9B-7E7CB41BFDF5}" srcOrd="1" destOrd="3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" loCatId="process" qsTypeId="urn:microsoft.com/office/officeart/2005/8/quickstyle/simple1" qsCatId="simple" csTypeId="urn:microsoft.com/office/officeart/2005/8/colors/accent1_2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1" loCatId="process" qsTypeId="urn:microsoft.com/office/officeart/2005/8/quickstyle/simple1#1" qsCatId="simple" csTypeId="urn:microsoft.com/office/officeart/2005/8/colors/accent1_2#1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A341D98-9494-4785-891B-4C48B1FF21FB}" type="doc">
      <dgm:prSet loTypeId="urn:microsoft.com/office/officeart/2005/8/layout/hierarchy2#1" loCatId="hierarchy" qsTypeId="urn:microsoft.com/office/officeart/2005/8/quickstyle/3d3#1" qsCatId="3D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4A0DE495-8723-4E60-8612-1DFDFDA4BDA9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600" b="1" dirty="0"/>
            <a:t>Reopened - 4</a:t>
          </a:r>
        </a:p>
      </dgm:t>
    </dgm:pt>
    <dgm:pt modelId="{D07D4D30-6707-4EDB-9D1A-070940111A35}" cxnId="{862E675B-C7EB-43D9-81ED-EC61677FE107}" type="parTrans">
      <dgm:prSet custT="1"/>
      <dgm:spPr/>
      <dgm:t>
        <a:bodyPr/>
        <a:lstStyle/>
        <a:p>
          <a:endParaRPr lang="en-US" sz="200" b="1"/>
        </a:p>
      </dgm:t>
    </dgm:pt>
    <dgm:pt modelId="{71605767-7F18-455F-BC11-8D15812EBC74}" cxnId="{862E675B-C7EB-43D9-81ED-EC61677FE107}" type="sibTrans">
      <dgm:prSet/>
      <dgm:spPr/>
      <dgm:t>
        <a:bodyPr/>
        <a:lstStyle/>
        <a:p>
          <a:endParaRPr lang="en-US" sz="1200" b="1"/>
        </a:p>
      </dgm:t>
    </dgm:pt>
    <dgm:pt modelId="{CAAF34B5-F334-4D18-BD84-68E109DE370A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b="1" dirty="0"/>
            <a:t>Closed – 80</a:t>
          </a:r>
        </a:p>
      </dgm:t>
    </dgm:pt>
    <dgm:pt modelId="{1967F592-1C3C-46B7-9983-EFDC4CB79F76}" cxnId="{E83625AA-6BBF-44EE-AFBB-4049CA3071CD}" type="sibTrans">
      <dgm:prSet/>
      <dgm:spPr/>
      <dgm:t>
        <a:bodyPr/>
        <a:lstStyle/>
        <a:p>
          <a:endParaRPr lang="en-US" sz="1200" b="1"/>
        </a:p>
      </dgm:t>
    </dgm:pt>
    <dgm:pt modelId="{156C782C-9FFE-4F81-9506-769FCFB8F257}" cxnId="{E83625AA-6BBF-44EE-AFBB-4049CA3071CD}" type="parTrans">
      <dgm:prSet custT="1"/>
      <dgm:spPr/>
      <dgm:t>
        <a:bodyPr/>
        <a:lstStyle/>
        <a:p>
          <a:endParaRPr lang="en-US" sz="200" b="1"/>
        </a:p>
      </dgm:t>
    </dgm:pt>
    <dgm:pt modelId="{762368FC-8A21-42DF-862F-49913B4CA600}">
      <dgm:prSet phldrT="[Text]" custT="1"/>
      <dgm:spPr>
        <a:solidFill>
          <a:srgbClr val="6679FC"/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</a:rPr>
            <a:t>Story/Defect Validated  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22</a:t>
          </a:r>
          <a:r>
            <a:rPr lang="en-US" sz="1400" b="1" dirty="0">
              <a:solidFill>
                <a:schemeClr val="bg1"/>
              </a:solidFill>
            </a:rPr>
            <a:t> +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 62</a:t>
          </a:r>
          <a:r>
            <a:rPr lang="en-US" sz="1400" b="1" dirty="0">
              <a:solidFill>
                <a:schemeClr val="bg1"/>
              </a:solidFill>
            </a:rPr>
            <a:t>  </a:t>
          </a:r>
          <a:r>
            <a:rPr lang="en-IN" sz="1400" b="1" dirty="0">
              <a:solidFill>
                <a:schemeClr val="bg1"/>
              </a:solidFill>
            </a:rPr>
            <a:t>= 8</a:t>
          </a:r>
          <a:r>
            <a:rPr lang="en-IN" sz="1400" b="1" dirty="0">
              <a:solidFill>
                <a:schemeClr val="bg1"/>
              </a:solidFill>
              <a:latin typeface="Calibri Light" panose="020F0302020204030204"/>
            </a:rPr>
            <a:t>4</a:t>
          </a:r>
          <a:endParaRPr lang="en-IN" sz="1400" b="1" dirty="0">
            <a:solidFill>
              <a:schemeClr val="bg1"/>
            </a:solidFill>
          </a:endParaRPr>
        </a:p>
      </dgm:t>
    </dgm:pt>
    <dgm:pt modelId="{DA9AB284-C6AC-4CC0-9FE5-67193AF8CD57}" cxnId="{60E0E1E9-9173-4AC4-993C-4404271D3C53}" type="sibTrans">
      <dgm:prSet/>
      <dgm:spPr/>
      <dgm:t>
        <a:bodyPr/>
        <a:lstStyle/>
        <a:p>
          <a:endParaRPr lang="en-US" sz="1200" b="1"/>
        </a:p>
      </dgm:t>
    </dgm:pt>
    <dgm:pt modelId="{B57AD276-BF53-4E4E-BA10-2FE2EDF7FBF3}" cxnId="{60E0E1E9-9173-4AC4-993C-4404271D3C53}" type="parTrans">
      <dgm:prSet/>
      <dgm:spPr/>
      <dgm:t>
        <a:bodyPr/>
        <a:lstStyle/>
        <a:p>
          <a:endParaRPr lang="en-US" sz="1200" b="1"/>
        </a:p>
      </dgm:t>
    </dgm:pt>
    <dgm:pt modelId="{380E0CCC-A032-451B-940B-273C8CB10DF9}" type="pres">
      <dgm:prSet presAssocID="{9A341D98-9494-4785-891B-4C48B1FF21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FCFEE9F-7BB2-48E9-94A9-4ED245F224A9}" type="pres">
      <dgm:prSet presAssocID="{762368FC-8A21-42DF-862F-49913B4CA600}" presName="root1" presStyleCnt="0"/>
      <dgm:spPr/>
    </dgm:pt>
    <dgm:pt modelId="{C68481FC-E4AC-4DC1-847B-0FB2B55517FB}" type="pres">
      <dgm:prSet presAssocID="{762368FC-8A21-42DF-862F-49913B4CA600}" presName="LevelOneTextNode" presStyleLbl="node0" presStyleIdx="0" presStyleCnt="1" custScaleX="106070" custScaleY="84438">
        <dgm:presLayoutVars>
          <dgm:chPref val="3"/>
        </dgm:presLayoutVars>
      </dgm:prSet>
      <dgm:spPr/>
    </dgm:pt>
    <dgm:pt modelId="{7252753E-90C7-4157-8C5C-BEAFAFC4B76C}" type="pres">
      <dgm:prSet presAssocID="{762368FC-8A21-42DF-862F-49913B4CA600}" presName="level2hierChild" presStyleCnt="0"/>
      <dgm:spPr/>
    </dgm:pt>
    <dgm:pt modelId="{9F3840BB-1876-4A23-8D56-C51342CCBDCD}" type="pres">
      <dgm:prSet presAssocID="{156C782C-9FFE-4F81-9506-769FCFB8F257}" presName="conn2-1" presStyleLbl="parChTrans1D2" presStyleIdx="0" presStyleCnt="2"/>
      <dgm:spPr/>
    </dgm:pt>
    <dgm:pt modelId="{AD1C5297-6470-4205-B48C-F06D98DE5EF1}" type="pres">
      <dgm:prSet presAssocID="{156C782C-9FFE-4F81-9506-769FCFB8F257}" presName="connTx" presStyleLbl="parChTrans1D2" presStyleIdx="0" presStyleCnt="2"/>
      <dgm:spPr/>
    </dgm:pt>
    <dgm:pt modelId="{7BE2565D-E701-461B-87B9-A46BD19DF5AC}" type="pres">
      <dgm:prSet presAssocID="{CAAF34B5-F334-4D18-BD84-68E109DE370A}" presName="root2" presStyleCnt="0"/>
      <dgm:spPr/>
    </dgm:pt>
    <dgm:pt modelId="{6A880FA7-B117-4398-A659-602501FB7E10}" type="pres">
      <dgm:prSet presAssocID="{CAAF34B5-F334-4D18-BD84-68E109DE370A}" presName="LevelTwoTextNode" presStyleLbl="node2" presStyleIdx="0" presStyleCnt="2" custScaleY="69438" custLinFactNeighborX="-799" custLinFactNeighborY="-15176">
        <dgm:presLayoutVars>
          <dgm:chPref val="3"/>
        </dgm:presLayoutVars>
      </dgm:prSet>
      <dgm:spPr/>
    </dgm:pt>
    <dgm:pt modelId="{D91E9AD6-44CA-45DA-9D1B-056D1D3DC2E4}" type="pres">
      <dgm:prSet presAssocID="{CAAF34B5-F334-4D18-BD84-68E109DE370A}" presName="level3hierChild" presStyleCnt="0"/>
      <dgm:spPr/>
    </dgm:pt>
    <dgm:pt modelId="{6BD1F47B-B70E-4BD0-AD51-CA426A38BEBF}" type="pres">
      <dgm:prSet presAssocID="{D07D4D30-6707-4EDB-9D1A-070940111A35}" presName="conn2-1" presStyleLbl="parChTrans1D2" presStyleIdx="1" presStyleCnt="2"/>
      <dgm:spPr/>
    </dgm:pt>
    <dgm:pt modelId="{862DBE7B-1FFA-4857-A363-E8AE1E584881}" type="pres">
      <dgm:prSet presAssocID="{D07D4D30-6707-4EDB-9D1A-070940111A35}" presName="connTx" presStyleLbl="parChTrans1D2" presStyleIdx="1" presStyleCnt="2"/>
      <dgm:spPr/>
    </dgm:pt>
    <dgm:pt modelId="{ECBD37BD-AD7A-4229-BB50-35688D4F8A97}" type="pres">
      <dgm:prSet presAssocID="{4A0DE495-8723-4E60-8612-1DFDFDA4BDA9}" presName="root2" presStyleCnt="0"/>
      <dgm:spPr/>
    </dgm:pt>
    <dgm:pt modelId="{F08D0CF8-D76D-4E4E-BE09-F973D395634D}" type="pres">
      <dgm:prSet presAssocID="{4A0DE495-8723-4E60-8612-1DFDFDA4BDA9}" presName="LevelTwoTextNode" presStyleLbl="node2" presStyleIdx="1" presStyleCnt="2" custScaleX="98734" custScaleY="62433" custLinFactNeighborX="751" custLinFactNeighborY="19212">
        <dgm:presLayoutVars>
          <dgm:chPref val="3"/>
        </dgm:presLayoutVars>
      </dgm:prSet>
      <dgm:spPr/>
    </dgm:pt>
    <dgm:pt modelId="{579D9AE2-A318-43D7-8C9B-7E7CB41BFDF5}" type="pres">
      <dgm:prSet presAssocID="{4A0DE495-8723-4E60-8612-1DFDFDA4BDA9}" presName="level3hierChild" presStyleCnt="0"/>
      <dgm:spPr/>
    </dgm:pt>
  </dgm:ptLst>
  <dgm:cxnLst>
    <dgm:cxn modelId="{86164C40-9302-4A71-8511-AB71E325D25E}" type="presOf" srcId="{9A341D98-9494-4785-891B-4C48B1FF21FB}" destId="{380E0CCC-A032-451B-940B-273C8CB10DF9}" srcOrd="0" destOrd="0" presId="urn:microsoft.com/office/officeart/2005/8/layout/hierarchy2#1"/>
    <dgm:cxn modelId="{862E675B-C7EB-43D9-81ED-EC61677FE107}" srcId="{762368FC-8A21-42DF-862F-49913B4CA600}" destId="{4A0DE495-8723-4E60-8612-1DFDFDA4BDA9}" srcOrd="1" destOrd="0" parTransId="{D07D4D30-6707-4EDB-9D1A-070940111A35}" sibTransId="{71605767-7F18-455F-BC11-8D15812EBC74}"/>
    <dgm:cxn modelId="{C52A5C55-4A0C-4C9D-BFAD-5A95B66ADA3C}" type="presOf" srcId="{762368FC-8A21-42DF-862F-49913B4CA600}" destId="{C68481FC-E4AC-4DC1-847B-0FB2B55517FB}" srcOrd="0" destOrd="0" presId="urn:microsoft.com/office/officeart/2005/8/layout/hierarchy2#1"/>
    <dgm:cxn modelId="{3A891157-7C62-422B-BAD1-AF415321426E}" type="presOf" srcId="{D07D4D30-6707-4EDB-9D1A-070940111A35}" destId="{862DBE7B-1FFA-4857-A363-E8AE1E584881}" srcOrd="1" destOrd="0" presId="urn:microsoft.com/office/officeart/2005/8/layout/hierarchy2#1"/>
    <dgm:cxn modelId="{E584A799-5A9F-415B-BF26-671F99EC9426}" type="presOf" srcId="{D07D4D30-6707-4EDB-9D1A-070940111A35}" destId="{6BD1F47B-B70E-4BD0-AD51-CA426A38BEBF}" srcOrd="0" destOrd="0" presId="urn:microsoft.com/office/officeart/2005/8/layout/hierarchy2#1"/>
    <dgm:cxn modelId="{E83625AA-6BBF-44EE-AFBB-4049CA3071CD}" srcId="{762368FC-8A21-42DF-862F-49913B4CA600}" destId="{CAAF34B5-F334-4D18-BD84-68E109DE370A}" srcOrd="0" destOrd="0" parTransId="{156C782C-9FFE-4F81-9506-769FCFB8F257}" sibTransId="{1967F592-1C3C-46B7-9983-EFDC4CB79F76}"/>
    <dgm:cxn modelId="{1597E1B3-5D03-49C9-9EC7-807524F03E19}" type="presOf" srcId="{156C782C-9FFE-4F81-9506-769FCFB8F257}" destId="{9F3840BB-1876-4A23-8D56-C51342CCBDCD}" srcOrd="0" destOrd="0" presId="urn:microsoft.com/office/officeart/2005/8/layout/hierarchy2#1"/>
    <dgm:cxn modelId="{79EA38BC-A0F9-499B-B77E-092EAF1A5F87}" type="presOf" srcId="{4A0DE495-8723-4E60-8612-1DFDFDA4BDA9}" destId="{F08D0CF8-D76D-4E4E-BE09-F973D395634D}" srcOrd="0" destOrd="0" presId="urn:microsoft.com/office/officeart/2005/8/layout/hierarchy2#1"/>
    <dgm:cxn modelId="{E0816EC9-DFA7-44CE-BE7B-AC59A4924A6B}" type="presOf" srcId="{CAAF34B5-F334-4D18-BD84-68E109DE370A}" destId="{6A880FA7-B117-4398-A659-602501FB7E10}" srcOrd="0" destOrd="0" presId="urn:microsoft.com/office/officeart/2005/8/layout/hierarchy2#1"/>
    <dgm:cxn modelId="{60E0E1E9-9173-4AC4-993C-4404271D3C53}" srcId="{9A341D98-9494-4785-891B-4C48B1FF21FB}" destId="{762368FC-8A21-42DF-862F-49913B4CA600}" srcOrd="0" destOrd="0" parTransId="{B57AD276-BF53-4E4E-BA10-2FE2EDF7FBF3}" sibTransId="{DA9AB284-C6AC-4CC0-9FE5-67193AF8CD57}"/>
    <dgm:cxn modelId="{64CF0CEE-9167-452F-8450-5E30B14345CE}" type="presOf" srcId="{156C782C-9FFE-4F81-9506-769FCFB8F257}" destId="{AD1C5297-6470-4205-B48C-F06D98DE5EF1}" srcOrd="1" destOrd="0" presId="urn:microsoft.com/office/officeart/2005/8/layout/hierarchy2#1"/>
    <dgm:cxn modelId="{3183FE98-A8A6-4A25-B77F-3EB64087F71E}" type="presParOf" srcId="{380E0CCC-A032-451B-940B-273C8CB10DF9}" destId="{FFCFEE9F-7BB2-48E9-94A9-4ED245F224A9}" srcOrd="0" destOrd="0" presId="urn:microsoft.com/office/officeart/2005/8/layout/hierarchy2#1"/>
    <dgm:cxn modelId="{42CDA5C6-D5FF-4920-B084-F119E5196FDC}" type="presParOf" srcId="{FFCFEE9F-7BB2-48E9-94A9-4ED245F224A9}" destId="{C68481FC-E4AC-4DC1-847B-0FB2B55517FB}" srcOrd="0" destOrd="0" presId="urn:microsoft.com/office/officeart/2005/8/layout/hierarchy2#1"/>
    <dgm:cxn modelId="{D4E36D7D-C0DF-4DFE-B461-FEC61BB67598}" type="presParOf" srcId="{FFCFEE9F-7BB2-48E9-94A9-4ED245F224A9}" destId="{7252753E-90C7-4157-8C5C-BEAFAFC4B76C}" srcOrd="1" destOrd="0" presId="urn:microsoft.com/office/officeart/2005/8/layout/hierarchy2#1"/>
    <dgm:cxn modelId="{F6EFD87F-345F-4B79-B573-FF9103DED1A9}" type="presParOf" srcId="{7252753E-90C7-4157-8C5C-BEAFAFC4B76C}" destId="{9F3840BB-1876-4A23-8D56-C51342CCBDCD}" srcOrd="0" destOrd="0" presId="urn:microsoft.com/office/officeart/2005/8/layout/hierarchy2#1"/>
    <dgm:cxn modelId="{107F2D58-0693-438A-A2E7-B850FFC49367}" type="presParOf" srcId="{9F3840BB-1876-4A23-8D56-C51342CCBDCD}" destId="{AD1C5297-6470-4205-B48C-F06D98DE5EF1}" srcOrd="0" destOrd="0" presId="urn:microsoft.com/office/officeart/2005/8/layout/hierarchy2#1"/>
    <dgm:cxn modelId="{F666290D-1F11-4EC6-8F31-A102FCF02EEE}" type="presParOf" srcId="{7252753E-90C7-4157-8C5C-BEAFAFC4B76C}" destId="{7BE2565D-E701-461B-87B9-A46BD19DF5AC}" srcOrd="1" destOrd="0" presId="urn:microsoft.com/office/officeart/2005/8/layout/hierarchy2#1"/>
    <dgm:cxn modelId="{1E636BB9-2D2A-4147-B2F9-06540AA4BB07}" type="presParOf" srcId="{7BE2565D-E701-461B-87B9-A46BD19DF5AC}" destId="{6A880FA7-B117-4398-A659-602501FB7E10}" srcOrd="0" destOrd="0" presId="urn:microsoft.com/office/officeart/2005/8/layout/hierarchy2#1"/>
    <dgm:cxn modelId="{43064C1F-B308-4C9D-8332-A47EE1BA3741}" type="presParOf" srcId="{7BE2565D-E701-461B-87B9-A46BD19DF5AC}" destId="{D91E9AD6-44CA-45DA-9D1B-056D1D3DC2E4}" srcOrd="1" destOrd="0" presId="urn:microsoft.com/office/officeart/2005/8/layout/hierarchy2#1"/>
    <dgm:cxn modelId="{D6A42585-1708-408B-AE2C-C7DBC0D70052}" type="presParOf" srcId="{7252753E-90C7-4157-8C5C-BEAFAFC4B76C}" destId="{6BD1F47B-B70E-4BD0-AD51-CA426A38BEBF}" srcOrd="2" destOrd="0" presId="urn:microsoft.com/office/officeart/2005/8/layout/hierarchy2#1"/>
    <dgm:cxn modelId="{6F768081-C04C-4C6B-B11B-DFC230C5837D}" type="presParOf" srcId="{6BD1F47B-B70E-4BD0-AD51-CA426A38BEBF}" destId="{862DBE7B-1FFA-4857-A363-E8AE1E584881}" srcOrd="0" destOrd="0" presId="urn:microsoft.com/office/officeart/2005/8/layout/hierarchy2#1"/>
    <dgm:cxn modelId="{C2DA6FAF-8FEC-4526-B6B7-DE1165957038}" type="presParOf" srcId="{7252753E-90C7-4157-8C5C-BEAFAFC4B76C}" destId="{ECBD37BD-AD7A-4229-BB50-35688D4F8A97}" srcOrd="3" destOrd="0" presId="urn:microsoft.com/office/officeart/2005/8/layout/hierarchy2#1"/>
    <dgm:cxn modelId="{3F16BF03-582F-4207-A403-2E40D6BC4F33}" type="presParOf" srcId="{ECBD37BD-AD7A-4229-BB50-35688D4F8A97}" destId="{F08D0CF8-D76D-4E4E-BE09-F973D395634D}" srcOrd="0" destOrd="0" presId="urn:microsoft.com/office/officeart/2005/8/layout/hierarchy2#1"/>
    <dgm:cxn modelId="{CD02B237-CA6E-4EB0-A4EC-63131FCC397C}" type="presParOf" srcId="{ECBD37BD-AD7A-4229-BB50-35688D4F8A97}" destId="{579D9AE2-A318-43D7-8C9B-7E7CB41BFDF5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8" loCatId="process" qsTypeId="urn:microsoft.com/office/officeart/2005/8/quickstyle/simple1#8" qsCatId="simple" csTypeId="urn:microsoft.com/office/officeart/2005/8/colors/accent1_2#8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8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1" loCatId="process" qsTypeId="urn:microsoft.com/office/officeart/2005/8/quickstyle/simple1#1" qsCatId="simple" csTypeId="urn:microsoft.com/office/officeart/2005/8/colors/accent1_2#1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A341D98-9494-4785-891B-4C48B1FF21FB}" type="doc">
      <dgm:prSet loTypeId="urn:microsoft.com/office/officeart/2005/8/layout/hierarchy2#1" loCatId="hierarchy" qsTypeId="urn:microsoft.com/office/officeart/2005/8/quickstyle/3d3#1" qsCatId="3D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4A0DE495-8723-4E60-8612-1DFDFDA4BDA9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600" b="1" dirty="0"/>
            <a:t>Reopened – 1</a:t>
          </a:r>
        </a:p>
      </dgm:t>
    </dgm:pt>
    <dgm:pt modelId="{D07D4D30-6707-4EDB-9D1A-070940111A35}" cxnId="{862E675B-C7EB-43D9-81ED-EC61677FE107}" type="parTrans">
      <dgm:prSet custT="1"/>
      <dgm:spPr/>
      <dgm:t>
        <a:bodyPr/>
        <a:lstStyle/>
        <a:p>
          <a:endParaRPr lang="en-US" sz="200" b="1"/>
        </a:p>
      </dgm:t>
    </dgm:pt>
    <dgm:pt modelId="{71605767-7F18-455F-BC11-8D15812EBC74}" cxnId="{862E675B-C7EB-43D9-81ED-EC61677FE107}" type="sibTrans">
      <dgm:prSet/>
      <dgm:spPr/>
      <dgm:t>
        <a:bodyPr/>
        <a:lstStyle/>
        <a:p>
          <a:endParaRPr lang="en-US" sz="1200" b="1"/>
        </a:p>
      </dgm:t>
    </dgm:pt>
    <dgm:pt modelId="{762368FC-8A21-42DF-862F-49913B4CA600}">
      <dgm:prSet phldrT="[Text]" custT="1"/>
      <dgm:spPr>
        <a:solidFill>
          <a:srgbClr val="6679FC"/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</a:rPr>
            <a:t>Story/Defect Validated 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 12</a:t>
          </a:r>
          <a:r>
            <a:rPr lang="en-US" sz="1400" b="1" dirty="0">
              <a:solidFill>
                <a:schemeClr val="bg1"/>
              </a:solidFill>
            </a:rPr>
            <a:t> +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 10</a:t>
          </a:r>
          <a:r>
            <a:rPr lang="en-US" sz="1400" b="1" dirty="0">
              <a:solidFill>
                <a:schemeClr val="bg1"/>
              </a:solidFill>
            </a:rPr>
            <a:t> </a:t>
          </a:r>
          <a:r>
            <a:rPr lang="en-IN" sz="1400" b="1" dirty="0">
              <a:solidFill>
                <a:schemeClr val="bg1"/>
              </a:solidFill>
            </a:rPr>
            <a:t>= 22</a:t>
          </a:r>
          <a:endParaRPr lang="en-US" sz="1400" b="1" dirty="0"/>
        </a:p>
      </dgm:t>
    </dgm:pt>
    <dgm:pt modelId="{DA9AB284-C6AC-4CC0-9FE5-67193AF8CD57}" cxnId="{60E0E1E9-9173-4AC4-993C-4404271D3C53}" type="sibTrans">
      <dgm:prSet/>
      <dgm:spPr/>
      <dgm:t>
        <a:bodyPr/>
        <a:lstStyle/>
        <a:p>
          <a:endParaRPr lang="en-US" sz="1200" b="1"/>
        </a:p>
      </dgm:t>
    </dgm:pt>
    <dgm:pt modelId="{B57AD276-BF53-4E4E-BA10-2FE2EDF7FBF3}" cxnId="{60E0E1E9-9173-4AC4-993C-4404271D3C53}" type="parTrans">
      <dgm:prSet/>
      <dgm:spPr/>
      <dgm:t>
        <a:bodyPr/>
        <a:lstStyle/>
        <a:p>
          <a:endParaRPr lang="en-US" sz="1200" b="1"/>
        </a:p>
      </dgm:t>
    </dgm:pt>
    <dgm:pt modelId="{CAAF34B5-F334-4D18-BD84-68E109DE370A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b="1" dirty="0"/>
            <a:t>Closed - 21</a:t>
          </a:r>
        </a:p>
      </dgm:t>
    </dgm:pt>
    <dgm:pt modelId="{1967F592-1C3C-46B7-9983-EFDC4CB79F76}" cxnId="{E83625AA-6BBF-44EE-AFBB-4049CA3071CD}" type="sibTrans">
      <dgm:prSet/>
      <dgm:spPr/>
      <dgm:t>
        <a:bodyPr/>
        <a:lstStyle/>
        <a:p>
          <a:endParaRPr lang="en-US" sz="1200" b="1"/>
        </a:p>
      </dgm:t>
    </dgm:pt>
    <dgm:pt modelId="{156C782C-9FFE-4F81-9506-769FCFB8F257}" cxnId="{E83625AA-6BBF-44EE-AFBB-4049CA3071CD}" type="parTrans">
      <dgm:prSet custT="1"/>
      <dgm:spPr/>
      <dgm:t>
        <a:bodyPr/>
        <a:lstStyle/>
        <a:p>
          <a:endParaRPr lang="en-US" sz="200" b="1"/>
        </a:p>
      </dgm:t>
    </dgm:pt>
    <dgm:pt modelId="{380E0CCC-A032-451B-940B-273C8CB10DF9}" type="pres">
      <dgm:prSet presAssocID="{9A341D98-9494-4785-891B-4C48B1FF21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FCFEE9F-7BB2-48E9-94A9-4ED245F224A9}" type="pres">
      <dgm:prSet presAssocID="{762368FC-8A21-42DF-862F-49913B4CA600}" presName="root1" presStyleCnt="0"/>
      <dgm:spPr/>
    </dgm:pt>
    <dgm:pt modelId="{C68481FC-E4AC-4DC1-847B-0FB2B55517FB}" type="pres">
      <dgm:prSet presAssocID="{762368FC-8A21-42DF-862F-49913B4CA600}" presName="LevelOneTextNode" presStyleLbl="node0" presStyleIdx="0" presStyleCnt="1" custScaleY="93684">
        <dgm:presLayoutVars>
          <dgm:chPref val="3"/>
        </dgm:presLayoutVars>
      </dgm:prSet>
      <dgm:spPr/>
    </dgm:pt>
    <dgm:pt modelId="{7252753E-90C7-4157-8C5C-BEAFAFC4B76C}" type="pres">
      <dgm:prSet presAssocID="{762368FC-8A21-42DF-862F-49913B4CA600}" presName="level2hierChild" presStyleCnt="0"/>
      <dgm:spPr/>
    </dgm:pt>
    <dgm:pt modelId="{9F3840BB-1876-4A23-8D56-C51342CCBDCD}" type="pres">
      <dgm:prSet presAssocID="{156C782C-9FFE-4F81-9506-769FCFB8F257}" presName="conn2-1" presStyleLbl="parChTrans1D2" presStyleIdx="0" presStyleCnt="2"/>
      <dgm:spPr/>
    </dgm:pt>
    <dgm:pt modelId="{AD1C5297-6470-4205-B48C-F06D98DE5EF1}" type="pres">
      <dgm:prSet presAssocID="{156C782C-9FFE-4F81-9506-769FCFB8F257}" presName="connTx" presStyleLbl="parChTrans1D2" presStyleIdx="0" presStyleCnt="2"/>
      <dgm:spPr/>
    </dgm:pt>
    <dgm:pt modelId="{7BE2565D-E701-461B-87B9-A46BD19DF5AC}" type="pres">
      <dgm:prSet presAssocID="{CAAF34B5-F334-4D18-BD84-68E109DE370A}" presName="root2" presStyleCnt="0"/>
      <dgm:spPr/>
    </dgm:pt>
    <dgm:pt modelId="{6A880FA7-B117-4398-A659-602501FB7E10}" type="pres">
      <dgm:prSet presAssocID="{CAAF34B5-F334-4D18-BD84-68E109DE370A}" presName="LevelTwoTextNode" presStyleLbl="node2" presStyleIdx="0" presStyleCnt="2" custScaleY="69438" custLinFactNeighborX="-799" custLinFactNeighborY="-15176">
        <dgm:presLayoutVars>
          <dgm:chPref val="3"/>
        </dgm:presLayoutVars>
      </dgm:prSet>
      <dgm:spPr/>
    </dgm:pt>
    <dgm:pt modelId="{D91E9AD6-44CA-45DA-9D1B-056D1D3DC2E4}" type="pres">
      <dgm:prSet presAssocID="{CAAF34B5-F334-4D18-BD84-68E109DE370A}" presName="level3hierChild" presStyleCnt="0"/>
      <dgm:spPr/>
    </dgm:pt>
    <dgm:pt modelId="{6BD1F47B-B70E-4BD0-AD51-CA426A38BEBF}" type="pres">
      <dgm:prSet presAssocID="{D07D4D30-6707-4EDB-9D1A-070940111A35}" presName="conn2-1" presStyleLbl="parChTrans1D2" presStyleIdx="1" presStyleCnt="2"/>
      <dgm:spPr/>
    </dgm:pt>
    <dgm:pt modelId="{862DBE7B-1FFA-4857-A363-E8AE1E584881}" type="pres">
      <dgm:prSet presAssocID="{D07D4D30-6707-4EDB-9D1A-070940111A35}" presName="connTx" presStyleLbl="parChTrans1D2" presStyleIdx="1" presStyleCnt="2"/>
      <dgm:spPr/>
    </dgm:pt>
    <dgm:pt modelId="{ECBD37BD-AD7A-4229-BB50-35688D4F8A97}" type="pres">
      <dgm:prSet presAssocID="{4A0DE495-8723-4E60-8612-1DFDFDA4BDA9}" presName="root2" presStyleCnt="0"/>
      <dgm:spPr/>
    </dgm:pt>
    <dgm:pt modelId="{F08D0CF8-D76D-4E4E-BE09-F973D395634D}" type="pres">
      <dgm:prSet presAssocID="{4A0DE495-8723-4E60-8612-1DFDFDA4BDA9}" presName="LevelTwoTextNode" presStyleLbl="node2" presStyleIdx="1" presStyleCnt="2" custScaleX="98734" custScaleY="62433" custLinFactNeighborX="751" custLinFactNeighborY="19212">
        <dgm:presLayoutVars>
          <dgm:chPref val="3"/>
        </dgm:presLayoutVars>
      </dgm:prSet>
      <dgm:spPr/>
    </dgm:pt>
    <dgm:pt modelId="{579D9AE2-A318-43D7-8C9B-7E7CB41BFDF5}" type="pres">
      <dgm:prSet presAssocID="{4A0DE495-8723-4E60-8612-1DFDFDA4BDA9}" presName="level3hierChild" presStyleCnt="0"/>
      <dgm:spPr/>
    </dgm:pt>
  </dgm:ptLst>
  <dgm:cxnLst>
    <dgm:cxn modelId="{86164C40-9302-4A71-8511-AB71E325D25E}" type="presOf" srcId="{9A341D98-9494-4785-891B-4C48B1FF21FB}" destId="{380E0CCC-A032-451B-940B-273C8CB10DF9}" srcOrd="0" destOrd="0" presId="urn:microsoft.com/office/officeart/2005/8/layout/hierarchy2#1"/>
    <dgm:cxn modelId="{862E675B-C7EB-43D9-81ED-EC61677FE107}" srcId="{762368FC-8A21-42DF-862F-49913B4CA600}" destId="{4A0DE495-8723-4E60-8612-1DFDFDA4BDA9}" srcOrd="1" destOrd="0" parTransId="{D07D4D30-6707-4EDB-9D1A-070940111A35}" sibTransId="{71605767-7F18-455F-BC11-8D15812EBC74}"/>
    <dgm:cxn modelId="{C52A5C55-4A0C-4C9D-BFAD-5A95B66ADA3C}" type="presOf" srcId="{762368FC-8A21-42DF-862F-49913B4CA600}" destId="{C68481FC-E4AC-4DC1-847B-0FB2B55517FB}" srcOrd="0" destOrd="0" presId="urn:microsoft.com/office/officeart/2005/8/layout/hierarchy2#1"/>
    <dgm:cxn modelId="{3A891157-7C62-422B-BAD1-AF415321426E}" type="presOf" srcId="{D07D4D30-6707-4EDB-9D1A-070940111A35}" destId="{862DBE7B-1FFA-4857-A363-E8AE1E584881}" srcOrd="1" destOrd="0" presId="urn:microsoft.com/office/officeart/2005/8/layout/hierarchy2#1"/>
    <dgm:cxn modelId="{E584A799-5A9F-415B-BF26-671F99EC9426}" type="presOf" srcId="{D07D4D30-6707-4EDB-9D1A-070940111A35}" destId="{6BD1F47B-B70E-4BD0-AD51-CA426A38BEBF}" srcOrd="0" destOrd="0" presId="urn:microsoft.com/office/officeart/2005/8/layout/hierarchy2#1"/>
    <dgm:cxn modelId="{E83625AA-6BBF-44EE-AFBB-4049CA3071CD}" srcId="{762368FC-8A21-42DF-862F-49913B4CA600}" destId="{CAAF34B5-F334-4D18-BD84-68E109DE370A}" srcOrd="0" destOrd="0" parTransId="{156C782C-9FFE-4F81-9506-769FCFB8F257}" sibTransId="{1967F592-1C3C-46B7-9983-EFDC4CB79F76}"/>
    <dgm:cxn modelId="{1597E1B3-5D03-49C9-9EC7-807524F03E19}" type="presOf" srcId="{156C782C-9FFE-4F81-9506-769FCFB8F257}" destId="{9F3840BB-1876-4A23-8D56-C51342CCBDCD}" srcOrd="0" destOrd="0" presId="urn:microsoft.com/office/officeart/2005/8/layout/hierarchy2#1"/>
    <dgm:cxn modelId="{79EA38BC-A0F9-499B-B77E-092EAF1A5F87}" type="presOf" srcId="{4A0DE495-8723-4E60-8612-1DFDFDA4BDA9}" destId="{F08D0CF8-D76D-4E4E-BE09-F973D395634D}" srcOrd="0" destOrd="0" presId="urn:microsoft.com/office/officeart/2005/8/layout/hierarchy2#1"/>
    <dgm:cxn modelId="{E0816EC9-DFA7-44CE-BE7B-AC59A4924A6B}" type="presOf" srcId="{CAAF34B5-F334-4D18-BD84-68E109DE370A}" destId="{6A880FA7-B117-4398-A659-602501FB7E10}" srcOrd="0" destOrd="0" presId="urn:microsoft.com/office/officeart/2005/8/layout/hierarchy2#1"/>
    <dgm:cxn modelId="{60E0E1E9-9173-4AC4-993C-4404271D3C53}" srcId="{9A341D98-9494-4785-891B-4C48B1FF21FB}" destId="{762368FC-8A21-42DF-862F-49913B4CA600}" srcOrd="0" destOrd="0" parTransId="{B57AD276-BF53-4E4E-BA10-2FE2EDF7FBF3}" sibTransId="{DA9AB284-C6AC-4CC0-9FE5-67193AF8CD57}"/>
    <dgm:cxn modelId="{64CF0CEE-9167-452F-8450-5E30B14345CE}" type="presOf" srcId="{156C782C-9FFE-4F81-9506-769FCFB8F257}" destId="{AD1C5297-6470-4205-B48C-F06D98DE5EF1}" srcOrd="1" destOrd="0" presId="urn:microsoft.com/office/officeart/2005/8/layout/hierarchy2#1"/>
    <dgm:cxn modelId="{3183FE98-A8A6-4A25-B77F-3EB64087F71E}" type="presParOf" srcId="{380E0CCC-A032-451B-940B-273C8CB10DF9}" destId="{FFCFEE9F-7BB2-48E9-94A9-4ED245F224A9}" srcOrd="0" destOrd="0" presId="urn:microsoft.com/office/officeart/2005/8/layout/hierarchy2#1"/>
    <dgm:cxn modelId="{42CDA5C6-D5FF-4920-B084-F119E5196FDC}" type="presParOf" srcId="{FFCFEE9F-7BB2-48E9-94A9-4ED245F224A9}" destId="{C68481FC-E4AC-4DC1-847B-0FB2B55517FB}" srcOrd="0" destOrd="0" presId="urn:microsoft.com/office/officeart/2005/8/layout/hierarchy2#1"/>
    <dgm:cxn modelId="{D4E36D7D-C0DF-4DFE-B461-FEC61BB67598}" type="presParOf" srcId="{FFCFEE9F-7BB2-48E9-94A9-4ED245F224A9}" destId="{7252753E-90C7-4157-8C5C-BEAFAFC4B76C}" srcOrd="1" destOrd="0" presId="urn:microsoft.com/office/officeart/2005/8/layout/hierarchy2#1"/>
    <dgm:cxn modelId="{F6EFD87F-345F-4B79-B573-FF9103DED1A9}" type="presParOf" srcId="{7252753E-90C7-4157-8C5C-BEAFAFC4B76C}" destId="{9F3840BB-1876-4A23-8D56-C51342CCBDCD}" srcOrd="0" destOrd="0" presId="urn:microsoft.com/office/officeart/2005/8/layout/hierarchy2#1"/>
    <dgm:cxn modelId="{107F2D58-0693-438A-A2E7-B850FFC49367}" type="presParOf" srcId="{9F3840BB-1876-4A23-8D56-C51342CCBDCD}" destId="{AD1C5297-6470-4205-B48C-F06D98DE5EF1}" srcOrd="0" destOrd="0" presId="urn:microsoft.com/office/officeart/2005/8/layout/hierarchy2#1"/>
    <dgm:cxn modelId="{F666290D-1F11-4EC6-8F31-A102FCF02EEE}" type="presParOf" srcId="{7252753E-90C7-4157-8C5C-BEAFAFC4B76C}" destId="{7BE2565D-E701-461B-87B9-A46BD19DF5AC}" srcOrd="1" destOrd="0" presId="urn:microsoft.com/office/officeart/2005/8/layout/hierarchy2#1"/>
    <dgm:cxn modelId="{1E636BB9-2D2A-4147-B2F9-06540AA4BB07}" type="presParOf" srcId="{7BE2565D-E701-461B-87B9-A46BD19DF5AC}" destId="{6A880FA7-B117-4398-A659-602501FB7E10}" srcOrd="0" destOrd="0" presId="urn:microsoft.com/office/officeart/2005/8/layout/hierarchy2#1"/>
    <dgm:cxn modelId="{43064C1F-B308-4C9D-8332-A47EE1BA3741}" type="presParOf" srcId="{7BE2565D-E701-461B-87B9-A46BD19DF5AC}" destId="{D91E9AD6-44CA-45DA-9D1B-056D1D3DC2E4}" srcOrd="1" destOrd="0" presId="urn:microsoft.com/office/officeart/2005/8/layout/hierarchy2#1"/>
    <dgm:cxn modelId="{D6A42585-1708-408B-AE2C-C7DBC0D70052}" type="presParOf" srcId="{7252753E-90C7-4157-8C5C-BEAFAFC4B76C}" destId="{6BD1F47B-B70E-4BD0-AD51-CA426A38BEBF}" srcOrd="2" destOrd="0" presId="urn:microsoft.com/office/officeart/2005/8/layout/hierarchy2#1"/>
    <dgm:cxn modelId="{6F768081-C04C-4C6B-B11B-DFC230C5837D}" type="presParOf" srcId="{6BD1F47B-B70E-4BD0-AD51-CA426A38BEBF}" destId="{862DBE7B-1FFA-4857-A363-E8AE1E584881}" srcOrd="0" destOrd="0" presId="urn:microsoft.com/office/officeart/2005/8/layout/hierarchy2#1"/>
    <dgm:cxn modelId="{C2DA6FAF-8FEC-4526-B6B7-DE1165957038}" type="presParOf" srcId="{7252753E-90C7-4157-8C5C-BEAFAFC4B76C}" destId="{ECBD37BD-AD7A-4229-BB50-35688D4F8A97}" srcOrd="3" destOrd="0" presId="urn:microsoft.com/office/officeart/2005/8/layout/hierarchy2#1"/>
    <dgm:cxn modelId="{3F16BF03-582F-4207-A403-2E40D6BC4F33}" type="presParOf" srcId="{ECBD37BD-AD7A-4229-BB50-35688D4F8A97}" destId="{F08D0CF8-D76D-4E4E-BE09-F973D395634D}" srcOrd="0" destOrd="0" presId="urn:microsoft.com/office/officeart/2005/8/layout/hierarchy2#1"/>
    <dgm:cxn modelId="{CD02B237-CA6E-4EB0-A4EC-63131FCC397C}" type="presParOf" srcId="{ECBD37BD-AD7A-4229-BB50-35688D4F8A97}" destId="{579D9AE2-A318-43D7-8C9B-7E7CB41BFDF5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8" loCatId="process" qsTypeId="urn:microsoft.com/office/officeart/2005/8/quickstyle/simple1#8" qsCatId="simple" csTypeId="urn:microsoft.com/office/officeart/2005/8/colors/accent1_2#8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8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1" loCatId="process" qsTypeId="urn:microsoft.com/office/officeart/2005/8/quickstyle/simple1#1" qsCatId="simple" csTypeId="urn:microsoft.com/office/officeart/2005/8/colors/accent1_2#1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A341D98-9494-4785-891B-4C48B1FF21FB}" type="doc">
      <dgm:prSet loTypeId="urn:microsoft.com/office/officeart/2005/8/layout/hierarchy2#1" loCatId="hierarchy" qsTypeId="urn:microsoft.com/office/officeart/2005/8/quickstyle/3d3#1" qsCatId="3D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4A0DE495-8723-4E60-8612-1DFDFDA4BDA9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600" b="1" dirty="0"/>
            <a:t>Reopened - 1</a:t>
          </a:r>
        </a:p>
      </dgm:t>
    </dgm:pt>
    <dgm:pt modelId="{D07D4D30-6707-4EDB-9D1A-070940111A35}" cxnId="{862E675B-C7EB-43D9-81ED-EC61677FE107}" type="parTrans">
      <dgm:prSet custT="1"/>
      <dgm:spPr/>
      <dgm:t>
        <a:bodyPr/>
        <a:lstStyle/>
        <a:p>
          <a:endParaRPr lang="en-US" sz="200" b="1"/>
        </a:p>
      </dgm:t>
    </dgm:pt>
    <dgm:pt modelId="{71605767-7F18-455F-BC11-8D15812EBC74}" cxnId="{862E675B-C7EB-43D9-81ED-EC61677FE107}" type="sibTrans">
      <dgm:prSet/>
      <dgm:spPr/>
      <dgm:t>
        <a:bodyPr/>
        <a:lstStyle/>
        <a:p>
          <a:endParaRPr lang="en-US" sz="1200" b="1"/>
        </a:p>
      </dgm:t>
    </dgm:pt>
    <dgm:pt modelId="{CAAF34B5-F334-4D18-BD84-68E109DE370A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b="1" dirty="0"/>
            <a:t>Closed – 19</a:t>
          </a:r>
        </a:p>
      </dgm:t>
    </dgm:pt>
    <dgm:pt modelId="{1967F592-1C3C-46B7-9983-EFDC4CB79F76}" cxnId="{E83625AA-6BBF-44EE-AFBB-4049CA3071CD}" type="sibTrans">
      <dgm:prSet/>
      <dgm:spPr/>
      <dgm:t>
        <a:bodyPr/>
        <a:lstStyle/>
        <a:p>
          <a:endParaRPr lang="en-US" sz="1200" b="1"/>
        </a:p>
      </dgm:t>
    </dgm:pt>
    <dgm:pt modelId="{156C782C-9FFE-4F81-9506-769FCFB8F257}" cxnId="{E83625AA-6BBF-44EE-AFBB-4049CA3071CD}" type="parTrans">
      <dgm:prSet custT="1"/>
      <dgm:spPr/>
      <dgm:t>
        <a:bodyPr/>
        <a:lstStyle/>
        <a:p>
          <a:endParaRPr lang="en-US" sz="200" b="1"/>
        </a:p>
      </dgm:t>
    </dgm:pt>
    <dgm:pt modelId="{762368FC-8A21-42DF-862F-49913B4CA600}">
      <dgm:prSet phldrT="[Text]" custT="1"/>
      <dgm:spPr>
        <a:solidFill>
          <a:srgbClr val="6679FC"/>
        </a:solidFill>
      </dgm:spPr>
      <dgm:t>
        <a:bodyPr/>
        <a:lstStyle/>
        <a:p>
          <a:pPr rtl="0"/>
          <a:r>
            <a:rPr lang="en-US" sz="1400" b="1" dirty="0">
              <a:solidFill>
                <a:schemeClr val="bg1"/>
              </a:solidFill>
            </a:rPr>
            <a:t>Story/Defect Validated  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6 + 31 </a:t>
          </a:r>
          <a:r>
            <a:rPr lang="en-IN" sz="1400" b="1" dirty="0">
              <a:solidFill>
                <a:schemeClr val="bg1"/>
              </a:solidFill>
            </a:rPr>
            <a:t>= 37</a:t>
          </a:r>
        </a:p>
      </dgm:t>
    </dgm:pt>
    <dgm:pt modelId="{DA9AB284-C6AC-4CC0-9FE5-67193AF8CD57}" cxnId="{60E0E1E9-9173-4AC4-993C-4404271D3C53}" type="sibTrans">
      <dgm:prSet/>
      <dgm:spPr/>
      <dgm:t>
        <a:bodyPr/>
        <a:lstStyle/>
        <a:p>
          <a:endParaRPr lang="en-US" sz="1200" b="1"/>
        </a:p>
      </dgm:t>
    </dgm:pt>
    <dgm:pt modelId="{B57AD276-BF53-4E4E-BA10-2FE2EDF7FBF3}" cxnId="{60E0E1E9-9173-4AC4-993C-4404271D3C53}" type="parTrans">
      <dgm:prSet/>
      <dgm:spPr/>
      <dgm:t>
        <a:bodyPr/>
        <a:lstStyle/>
        <a:p>
          <a:endParaRPr lang="en-US" sz="1200" b="1"/>
        </a:p>
      </dgm:t>
    </dgm:pt>
    <dgm:pt modelId="{380E0CCC-A032-451B-940B-273C8CB10DF9}" type="pres">
      <dgm:prSet presAssocID="{9A341D98-9494-4785-891B-4C48B1FF21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FCFEE9F-7BB2-48E9-94A9-4ED245F224A9}" type="pres">
      <dgm:prSet presAssocID="{762368FC-8A21-42DF-862F-49913B4CA600}" presName="root1" presStyleCnt="0"/>
      <dgm:spPr/>
    </dgm:pt>
    <dgm:pt modelId="{C68481FC-E4AC-4DC1-847B-0FB2B55517FB}" type="pres">
      <dgm:prSet presAssocID="{762368FC-8A21-42DF-862F-49913B4CA600}" presName="LevelOneTextNode" presStyleLbl="node0" presStyleIdx="0" presStyleCnt="1" custScaleX="106070" custScaleY="84438">
        <dgm:presLayoutVars>
          <dgm:chPref val="3"/>
        </dgm:presLayoutVars>
      </dgm:prSet>
      <dgm:spPr/>
    </dgm:pt>
    <dgm:pt modelId="{7252753E-90C7-4157-8C5C-BEAFAFC4B76C}" type="pres">
      <dgm:prSet presAssocID="{762368FC-8A21-42DF-862F-49913B4CA600}" presName="level2hierChild" presStyleCnt="0"/>
      <dgm:spPr/>
    </dgm:pt>
    <dgm:pt modelId="{9F3840BB-1876-4A23-8D56-C51342CCBDCD}" type="pres">
      <dgm:prSet presAssocID="{156C782C-9FFE-4F81-9506-769FCFB8F257}" presName="conn2-1" presStyleLbl="parChTrans1D2" presStyleIdx="0" presStyleCnt="2"/>
      <dgm:spPr/>
    </dgm:pt>
    <dgm:pt modelId="{AD1C5297-6470-4205-B48C-F06D98DE5EF1}" type="pres">
      <dgm:prSet presAssocID="{156C782C-9FFE-4F81-9506-769FCFB8F257}" presName="connTx" presStyleLbl="parChTrans1D2" presStyleIdx="0" presStyleCnt="2"/>
      <dgm:spPr/>
    </dgm:pt>
    <dgm:pt modelId="{7BE2565D-E701-461B-87B9-A46BD19DF5AC}" type="pres">
      <dgm:prSet presAssocID="{CAAF34B5-F334-4D18-BD84-68E109DE370A}" presName="root2" presStyleCnt="0"/>
      <dgm:spPr/>
    </dgm:pt>
    <dgm:pt modelId="{6A880FA7-B117-4398-A659-602501FB7E10}" type="pres">
      <dgm:prSet presAssocID="{CAAF34B5-F334-4D18-BD84-68E109DE370A}" presName="LevelTwoTextNode" presStyleLbl="node2" presStyleIdx="0" presStyleCnt="2" custScaleY="69438" custLinFactNeighborX="-799" custLinFactNeighborY="-15176">
        <dgm:presLayoutVars>
          <dgm:chPref val="3"/>
        </dgm:presLayoutVars>
      </dgm:prSet>
      <dgm:spPr/>
    </dgm:pt>
    <dgm:pt modelId="{D91E9AD6-44CA-45DA-9D1B-056D1D3DC2E4}" type="pres">
      <dgm:prSet presAssocID="{CAAF34B5-F334-4D18-BD84-68E109DE370A}" presName="level3hierChild" presStyleCnt="0"/>
      <dgm:spPr/>
    </dgm:pt>
    <dgm:pt modelId="{6BD1F47B-B70E-4BD0-AD51-CA426A38BEBF}" type="pres">
      <dgm:prSet presAssocID="{D07D4D30-6707-4EDB-9D1A-070940111A35}" presName="conn2-1" presStyleLbl="parChTrans1D2" presStyleIdx="1" presStyleCnt="2"/>
      <dgm:spPr/>
    </dgm:pt>
    <dgm:pt modelId="{862DBE7B-1FFA-4857-A363-E8AE1E584881}" type="pres">
      <dgm:prSet presAssocID="{D07D4D30-6707-4EDB-9D1A-070940111A35}" presName="connTx" presStyleLbl="parChTrans1D2" presStyleIdx="1" presStyleCnt="2"/>
      <dgm:spPr/>
    </dgm:pt>
    <dgm:pt modelId="{ECBD37BD-AD7A-4229-BB50-35688D4F8A97}" type="pres">
      <dgm:prSet presAssocID="{4A0DE495-8723-4E60-8612-1DFDFDA4BDA9}" presName="root2" presStyleCnt="0"/>
      <dgm:spPr/>
    </dgm:pt>
    <dgm:pt modelId="{F08D0CF8-D76D-4E4E-BE09-F973D395634D}" type="pres">
      <dgm:prSet presAssocID="{4A0DE495-8723-4E60-8612-1DFDFDA4BDA9}" presName="LevelTwoTextNode" presStyleLbl="node2" presStyleIdx="1" presStyleCnt="2" custScaleX="98734" custScaleY="62433" custLinFactNeighborX="751" custLinFactNeighborY="19212">
        <dgm:presLayoutVars>
          <dgm:chPref val="3"/>
        </dgm:presLayoutVars>
      </dgm:prSet>
      <dgm:spPr/>
    </dgm:pt>
    <dgm:pt modelId="{579D9AE2-A318-43D7-8C9B-7E7CB41BFDF5}" type="pres">
      <dgm:prSet presAssocID="{4A0DE495-8723-4E60-8612-1DFDFDA4BDA9}" presName="level3hierChild" presStyleCnt="0"/>
      <dgm:spPr/>
    </dgm:pt>
  </dgm:ptLst>
  <dgm:cxnLst>
    <dgm:cxn modelId="{86164C40-9302-4A71-8511-AB71E325D25E}" type="presOf" srcId="{9A341D98-9494-4785-891B-4C48B1FF21FB}" destId="{380E0CCC-A032-451B-940B-273C8CB10DF9}" srcOrd="0" destOrd="0" presId="urn:microsoft.com/office/officeart/2005/8/layout/hierarchy2#1"/>
    <dgm:cxn modelId="{862E675B-C7EB-43D9-81ED-EC61677FE107}" srcId="{762368FC-8A21-42DF-862F-49913B4CA600}" destId="{4A0DE495-8723-4E60-8612-1DFDFDA4BDA9}" srcOrd="1" destOrd="0" parTransId="{D07D4D30-6707-4EDB-9D1A-070940111A35}" sibTransId="{71605767-7F18-455F-BC11-8D15812EBC74}"/>
    <dgm:cxn modelId="{C52A5C55-4A0C-4C9D-BFAD-5A95B66ADA3C}" type="presOf" srcId="{762368FC-8A21-42DF-862F-49913B4CA600}" destId="{C68481FC-E4AC-4DC1-847B-0FB2B55517FB}" srcOrd="0" destOrd="0" presId="urn:microsoft.com/office/officeart/2005/8/layout/hierarchy2#1"/>
    <dgm:cxn modelId="{3A891157-7C62-422B-BAD1-AF415321426E}" type="presOf" srcId="{D07D4D30-6707-4EDB-9D1A-070940111A35}" destId="{862DBE7B-1FFA-4857-A363-E8AE1E584881}" srcOrd="1" destOrd="0" presId="urn:microsoft.com/office/officeart/2005/8/layout/hierarchy2#1"/>
    <dgm:cxn modelId="{E584A799-5A9F-415B-BF26-671F99EC9426}" type="presOf" srcId="{D07D4D30-6707-4EDB-9D1A-070940111A35}" destId="{6BD1F47B-B70E-4BD0-AD51-CA426A38BEBF}" srcOrd="0" destOrd="0" presId="urn:microsoft.com/office/officeart/2005/8/layout/hierarchy2#1"/>
    <dgm:cxn modelId="{E83625AA-6BBF-44EE-AFBB-4049CA3071CD}" srcId="{762368FC-8A21-42DF-862F-49913B4CA600}" destId="{CAAF34B5-F334-4D18-BD84-68E109DE370A}" srcOrd="0" destOrd="0" parTransId="{156C782C-9FFE-4F81-9506-769FCFB8F257}" sibTransId="{1967F592-1C3C-46B7-9983-EFDC4CB79F76}"/>
    <dgm:cxn modelId="{1597E1B3-5D03-49C9-9EC7-807524F03E19}" type="presOf" srcId="{156C782C-9FFE-4F81-9506-769FCFB8F257}" destId="{9F3840BB-1876-4A23-8D56-C51342CCBDCD}" srcOrd="0" destOrd="0" presId="urn:microsoft.com/office/officeart/2005/8/layout/hierarchy2#1"/>
    <dgm:cxn modelId="{79EA38BC-A0F9-499B-B77E-092EAF1A5F87}" type="presOf" srcId="{4A0DE495-8723-4E60-8612-1DFDFDA4BDA9}" destId="{F08D0CF8-D76D-4E4E-BE09-F973D395634D}" srcOrd="0" destOrd="0" presId="urn:microsoft.com/office/officeart/2005/8/layout/hierarchy2#1"/>
    <dgm:cxn modelId="{E0816EC9-DFA7-44CE-BE7B-AC59A4924A6B}" type="presOf" srcId="{CAAF34B5-F334-4D18-BD84-68E109DE370A}" destId="{6A880FA7-B117-4398-A659-602501FB7E10}" srcOrd="0" destOrd="0" presId="urn:microsoft.com/office/officeart/2005/8/layout/hierarchy2#1"/>
    <dgm:cxn modelId="{60E0E1E9-9173-4AC4-993C-4404271D3C53}" srcId="{9A341D98-9494-4785-891B-4C48B1FF21FB}" destId="{762368FC-8A21-42DF-862F-49913B4CA600}" srcOrd="0" destOrd="0" parTransId="{B57AD276-BF53-4E4E-BA10-2FE2EDF7FBF3}" sibTransId="{DA9AB284-C6AC-4CC0-9FE5-67193AF8CD57}"/>
    <dgm:cxn modelId="{64CF0CEE-9167-452F-8450-5E30B14345CE}" type="presOf" srcId="{156C782C-9FFE-4F81-9506-769FCFB8F257}" destId="{AD1C5297-6470-4205-B48C-F06D98DE5EF1}" srcOrd="1" destOrd="0" presId="urn:microsoft.com/office/officeart/2005/8/layout/hierarchy2#1"/>
    <dgm:cxn modelId="{3183FE98-A8A6-4A25-B77F-3EB64087F71E}" type="presParOf" srcId="{380E0CCC-A032-451B-940B-273C8CB10DF9}" destId="{FFCFEE9F-7BB2-48E9-94A9-4ED245F224A9}" srcOrd="0" destOrd="0" presId="urn:microsoft.com/office/officeart/2005/8/layout/hierarchy2#1"/>
    <dgm:cxn modelId="{42CDA5C6-D5FF-4920-B084-F119E5196FDC}" type="presParOf" srcId="{FFCFEE9F-7BB2-48E9-94A9-4ED245F224A9}" destId="{C68481FC-E4AC-4DC1-847B-0FB2B55517FB}" srcOrd="0" destOrd="0" presId="urn:microsoft.com/office/officeart/2005/8/layout/hierarchy2#1"/>
    <dgm:cxn modelId="{D4E36D7D-C0DF-4DFE-B461-FEC61BB67598}" type="presParOf" srcId="{FFCFEE9F-7BB2-48E9-94A9-4ED245F224A9}" destId="{7252753E-90C7-4157-8C5C-BEAFAFC4B76C}" srcOrd="1" destOrd="0" presId="urn:microsoft.com/office/officeart/2005/8/layout/hierarchy2#1"/>
    <dgm:cxn modelId="{F6EFD87F-345F-4B79-B573-FF9103DED1A9}" type="presParOf" srcId="{7252753E-90C7-4157-8C5C-BEAFAFC4B76C}" destId="{9F3840BB-1876-4A23-8D56-C51342CCBDCD}" srcOrd="0" destOrd="0" presId="urn:microsoft.com/office/officeart/2005/8/layout/hierarchy2#1"/>
    <dgm:cxn modelId="{107F2D58-0693-438A-A2E7-B850FFC49367}" type="presParOf" srcId="{9F3840BB-1876-4A23-8D56-C51342CCBDCD}" destId="{AD1C5297-6470-4205-B48C-F06D98DE5EF1}" srcOrd="0" destOrd="0" presId="urn:microsoft.com/office/officeart/2005/8/layout/hierarchy2#1"/>
    <dgm:cxn modelId="{F666290D-1F11-4EC6-8F31-A102FCF02EEE}" type="presParOf" srcId="{7252753E-90C7-4157-8C5C-BEAFAFC4B76C}" destId="{7BE2565D-E701-461B-87B9-A46BD19DF5AC}" srcOrd="1" destOrd="0" presId="urn:microsoft.com/office/officeart/2005/8/layout/hierarchy2#1"/>
    <dgm:cxn modelId="{1E636BB9-2D2A-4147-B2F9-06540AA4BB07}" type="presParOf" srcId="{7BE2565D-E701-461B-87B9-A46BD19DF5AC}" destId="{6A880FA7-B117-4398-A659-602501FB7E10}" srcOrd="0" destOrd="0" presId="urn:microsoft.com/office/officeart/2005/8/layout/hierarchy2#1"/>
    <dgm:cxn modelId="{43064C1F-B308-4C9D-8332-A47EE1BA3741}" type="presParOf" srcId="{7BE2565D-E701-461B-87B9-A46BD19DF5AC}" destId="{D91E9AD6-44CA-45DA-9D1B-056D1D3DC2E4}" srcOrd="1" destOrd="0" presId="urn:microsoft.com/office/officeart/2005/8/layout/hierarchy2#1"/>
    <dgm:cxn modelId="{D6A42585-1708-408B-AE2C-C7DBC0D70052}" type="presParOf" srcId="{7252753E-90C7-4157-8C5C-BEAFAFC4B76C}" destId="{6BD1F47B-B70E-4BD0-AD51-CA426A38BEBF}" srcOrd="2" destOrd="0" presId="urn:microsoft.com/office/officeart/2005/8/layout/hierarchy2#1"/>
    <dgm:cxn modelId="{6F768081-C04C-4C6B-B11B-DFC230C5837D}" type="presParOf" srcId="{6BD1F47B-B70E-4BD0-AD51-CA426A38BEBF}" destId="{862DBE7B-1FFA-4857-A363-E8AE1E584881}" srcOrd="0" destOrd="0" presId="urn:microsoft.com/office/officeart/2005/8/layout/hierarchy2#1"/>
    <dgm:cxn modelId="{C2DA6FAF-8FEC-4526-B6B7-DE1165957038}" type="presParOf" srcId="{7252753E-90C7-4157-8C5C-BEAFAFC4B76C}" destId="{ECBD37BD-AD7A-4229-BB50-35688D4F8A97}" srcOrd="3" destOrd="0" presId="urn:microsoft.com/office/officeart/2005/8/layout/hierarchy2#1"/>
    <dgm:cxn modelId="{3F16BF03-582F-4207-A403-2E40D6BC4F33}" type="presParOf" srcId="{ECBD37BD-AD7A-4229-BB50-35688D4F8A97}" destId="{F08D0CF8-D76D-4E4E-BE09-F973D395634D}" srcOrd="0" destOrd="0" presId="urn:microsoft.com/office/officeart/2005/8/layout/hierarchy2#1"/>
    <dgm:cxn modelId="{CD02B237-CA6E-4EB0-A4EC-63131FCC397C}" type="presParOf" srcId="{ECBD37BD-AD7A-4229-BB50-35688D4F8A97}" destId="{579D9AE2-A318-43D7-8C9B-7E7CB41BFDF5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FA53AE1-9491-487C-9285-E976FCCC59DA}" type="doc">
      <dgm:prSet loTypeId="urn:microsoft.com/office/officeart/2005/8/layout/equation2#1" loCatId="process" qsTypeId="urn:microsoft.com/office/officeart/2005/8/quickstyle/simple1#1" qsCatId="simple" csTypeId="urn:microsoft.com/office/officeart/2005/8/colors/accent1_2#1" csCatId="accent1" phldr="1"/>
      <dgm:spPr/>
    </dgm:pt>
    <dgm:pt modelId="{5130AB32-210D-4D3D-AEAF-BBC3CEECFFC7}" type="pres">
      <dgm:prSet presAssocID="{9FA53AE1-9491-487C-9285-E976FCCC59DA}" presName="Name0" presStyleCnt="0">
        <dgm:presLayoutVars>
          <dgm:dir/>
          <dgm:resizeHandles val="exact"/>
        </dgm:presLayoutVars>
      </dgm:prSet>
      <dgm:spPr/>
    </dgm:pt>
  </dgm:ptLst>
  <dgm:cxnLst>
    <dgm:cxn modelId="{08646D34-9F31-4D7B-AF22-B95CBC75E037}" type="presOf" srcId="{9FA53AE1-9491-487C-9285-E976FCCC59DA}" destId="{5130AB32-210D-4D3D-AEAF-BBC3CEECFFC7}" srcOrd="0" destOrd="0" presId="urn:microsoft.com/office/officeart/2005/8/layout/equation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A341D98-9494-4785-891B-4C48B1FF21FB}" type="doc">
      <dgm:prSet loTypeId="urn:microsoft.com/office/officeart/2005/8/layout/hierarchy2#1" loCatId="hierarchy" qsTypeId="urn:microsoft.com/office/officeart/2005/8/quickstyle/3d3#1" qsCatId="3D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4A0DE495-8723-4E60-8612-1DFDFDA4BDA9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600" b="1"/>
            <a:t>Reopened - </a:t>
          </a:r>
          <a:r>
            <a:rPr lang="en-US" sz="1600" b="1">
              <a:latin typeface="Calibri Light" panose="020F0302020204030204"/>
            </a:rPr>
            <a:t>8</a:t>
          </a:r>
          <a:endParaRPr lang="en-US" sz="1600" b="1"/>
        </a:p>
      </dgm:t>
    </dgm:pt>
    <dgm:pt modelId="{D07D4D30-6707-4EDB-9D1A-070940111A35}" cxnId="{862E675B-C7EB-43D9-81ED-EC61677FE107}" type="parTrans">
      <dgm:prSet custT="1"/>
      <dgm:spPr/>
      <dgm:t>
        <a:bodyPr/>
        <a:lstStyle/>
        <a:p>
          <a:endParaRPr lang="en-US" sz="200" b="1"/>
        </a:p>
      </dgm:t>
    </dgm:pt>
    <dgm:pt modelId="{71605767-7F18-455F-BC11-8D15812EBC74}" cxnId="{862E675B-C7EB-43D9-81ED-EC61677FE107}" type="sibTrans">
      <dgm:prSet/>
      <dgm:spPr/>
      <dgm:t>
        <a:bodyPr/>
        <a:lstStyle/>
        <a:p>
          <a:endParaRPr lang="en-US" sz="1200" b="1"/>
        </a:p>
      </dgm:t>
    </dgm:pt>
    <dgm:pt modelId="{CAAF34B5-F334-4D18-BD84-68E109DE370A}">
      <dgm:prSet phldrT="[Text]" custT="1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sz="1600" b="1"/>
            <a:t>Closed – </a:t>
          </a:r>
          <a:r>
            <a:rPr lang="en-US" sz="1600" b="1">
              <a:latin typeface="Calibri Light" panose="020F0302020204030204"/>
            </a:rPr>
            <a:t>12</a:t>
          </a:r>
          <a:endParaRPr lang="en-US" sz="1600" b="1"/>
        </a:p>
      </dgm:t>
    </dgm:pt>
    <dgm:pt modelId="{1967F592-1C3C-46B7-9983-EFDC4CB79F76}" cxnId="{E83625AA-6BBF-44EE-AFBB-4049CA3071CD}" type="sibTrans">
      <dgm:prSet/>
      <dgm:spPr/>
      <dgm:t>
        <a:bodyPr/>
        <a:lstStyle/>
        <a:p>
          <a:endParaRPr lang="en-US" sz="1200" b="1"/>
        </a:p>
      </dgm:t>
    </dgm:pt>
    <dgm:pt modelId="{156C782C-9FFE-4F81-9506-769FCFB8F257}" cxnId="{E83625AA-6BBF-44EE-AFBB-4049CA3071CD}" type="parTrans">
      <dgm:prSet custT="1"/>
      <dgm:spPr/>
      <dgm:t>
        <a:bodyPr/>
        <a:lstStyle/>
        <a:p>
          <a:endParaRPr lang="en-US" sz="200" b="1"/>
        </a:p>
      </dgm:t>
    </dgm:pt>
    <dgm:pt modelId="{762368FC-8A21-42DF-862F-49913B4CA600}">
      <dgm:prSet phldrT="[Text]" custT="1"/>
      <dgm:spPr>
        <a:solidFill>
          <a:srgbClr val="6679FC"/>
        </a:solidFill>
      </dgm:spPr>
      <dgm:t>
        <a:bodyPr/>
        <a:lstStyle/>
        <a:p>
          <a:pPr rtl="0"/>
          <a:r>
            <a:rPr lang="en-US" sz="1400" b="1">
              <a:solidFill>
                <a:schemeClr val="bg1"/>
              </a:solidFill>
            </a:rPr>
            <a:t>Story/Defect Validated </a:t>
          </a:r>
          <a:r>
            <a:rPr lang="en-US" sz="1400" b="1">
              <a:solidFill>
                <a:schemeClr val="bg1"/>
              </a:solidFill>
              <a:latin typeface="Calibri Light" panose="020F0302020204030204"/>
            </a:rPr>
            <a:t> 5</a:t>
          </a:r>
          <a:r>
            <a:rPr lang="en-US" sz="1400" b="1">
              <a:solidFill>
                <a:schemeClr val="bg1"/>
              </a:solidFill>
            </a:rPr>
            <a:t> + </a:t>
          </a:r>
          <a:r>
            <a:rPr lang="en-US" sz="1400" b="1">
              <a:solidFill>
                <a:schemeClr val="bg1"/>
              </a:solidFill>
              <a:latin typeface="Calibri Light" panose="020F0302020204030204"/>
            </a:rPr>
            <a:t>20  </a:t>
          </a:r>
          <a:r>
            <a:rPr lang="en-IN" sz="1400" b="1">
              <a:solidFill>
                <a:schemeClr val="bg1"/>
              </a:solidFill>
            </a:rPr>
            <a:t>= </a:t>
          </a:r>
          <a:r>
            <a:rPr lang="en-IN" sz="1400" b="1">
              <a:solidFill>
                <a:schemeClr val="bg1"/>
              </a:solidFill>
              <a:latin typeface="Calibri Light" panose="020F0302020204030204"/>
            </a:rPr>
            <a:t>25</a:t>
          </a:r>
          <a:endParaRPr lang="en-IN" sz="1400" b="1">
            <a:solidFill>
              <a:schemeClr val="bg1"/>
            </a:solidFill>
          </a:endParaRPr>
        </a:p>
      </dgm:t>
    </dgm:pt>
    <dgm:pt modelId="{DA9AB284-C6AC-4CC0-9FE5-67193AF8CD57}" cxnId="{60E0E1E9-9173-4AC4-993C-4404271D3C53}" type="sibTrans">
      <dgm:prSet/>
      <dgm:spPr/>
      <dgm:t>
        <a:bodyPr/>
        <a:lstStyle/>
        <a:p>
          <a:endParaRPr lang="en-US" sz="1200" b="1"/>
        </a:p>
      </dgm:t>
    </dgm:pt>
    <dgm:pt modelId="{B57AD276-BF53-4E4E-BA10-2FE2EDF7FBF3}" cxnId="{60E0E1E9-9173-4AC4-993C-4404271D3C53}" type="parTrans">
      <dgm:prSet/>
      <dgm:spPr/>
      <dgm:t>
        <a:bodyPr/>
        <a:lstStyle/>
        <a:p>
          <a:endParaRPr lang="en-US" sz="1200" b="1"/>
        </a:p>
      </dgm:t>
    </dgm:pt>
    <dgm:pt modelId="{380E0CCC-A032-451B-940B-273C8CB10DF9}" type="pres">
      <dgm:prSet presAssocID="{9A341D98-9494-4785-891B-4C48B1FF21F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FCFEE9F-7BB2-48E9-94A9-4ED245F224A9}" type="pres">
      <dgm:prSet presAssocID="{762368FC-8A21-42DF-862F-49913B4CA600}" presName="root1" presStyleCnt="0"/>
      <dgm:spPr/>
    </dgm:pt>
    <dgm:pt modelId="{C68481FC-E4AC-4DC1-847B-0FB2B55517FB}" type="pres">
      <dgm:prSet presAssocID="{762368FC-8A21-42DF-862F-49913B4CA600}" presName="LevelOneTextNode" presStyleLbl="node0" presStyleIdx="0" presStyleCnt="1" custScaleX="106070" custScaleY="84438">
        <dgm:presLayoutVars>
          <dgm:chPref val="3"/>
        </dgm:presLayoutVars>
      </dgm:prSet>
      <dgm:spPr/>
    </dgm:pt>
    <dgm:pt modelId="{7252753E-90C7-4157-8C5C-BEAFAFC4B76C}" type="pres">
      <dgm:prSet presAssocID="{762368FC-8A21-42DF-862F-49913B4CA600}" presName="level2hierChild" presStyleCnt="0"/>
      <dgm:spPr/>
    </dgm:pt>
    <dgm:pt modelId="{9F3840BB-1876-4A23-8D56-C51342CCBDCD}" type="pres">
      <dgm:prSet presAssocID="{156C782C-9FFE-4F81-9506-769FCFB8F257}" presName="conn2-1" presStyleLbl="parChTrans1D2" presStyleIdx="0" presStyleCnt="2"/>
      <dgm:spPr/>
    </dgm:pt>
    <dgm:pt modelId="{AD1C5297-6470-4205-B48C-F06D98DE5EF1}" type="pres">
      <dgm:prSet presAssocID="{156C782C-9FFE-4F81-9506-769FCFB8F257}" presName="connTx" presStyleLbl="parChTrans1D2" presStyleIdx="0" presStyleCnt="2"/>
      <dgm:spPr/>
    </dgm:pt>
    <dgm:pt modelId="{7BE2565D-E701-461B-87B9-A46BD19DF5AC}" type="pres">
      <dgm:prSet presAssocID="{CAAF34B5-F334-4D18-BD84-68E109DE370A}" presName="root2" presStyleCnt="0"/>
      <dgm:spPr/>
    </dgm:pt>
    <dgm:pt modelId="{6A880FA7-B117-4398-A659-602501FB7E10}" type="pres">
      <dgm:prSet presAssocID="{CAAF34B5-F334-4D18-BD84-68E109DE370A}" presName="LevelTwoTextNode" presStyleLbl="node2" presStyleIdx="0" presStyleCnt="2" custScaleY="69438" custLinFactNeighborX="-799" custLinFactNeighborY="-15176">
        <dgm:presLayoutVars>
          <dgm:chPref val="3"/>
        </dgm:presLayoutVars>
      </dgm:prSet>
      <dgm:spPr/>
    </dgm:pt>
    <dgm:pt modelId="{D91E9AD6-44CA-45DA-9D1B-056D1D3DC2E4}" type="pres">
      <dgm:prSet presAssocID="{CAAF34B5-F334-4D18-BD84-68E109DE370A}" presName="level3hierChild" presStyleCnt="0"/>
      <dgm:spPr/>
    </dgm:pt>
    <dgm:pt modelId="{6BD1F47B-B70E-4BD0-AD51-CA426A38BEBF}" type="pres">
      <dgm:prSet presAssocID="{D07D4D30-6707-4EDB-9D1A-070940111A35}" presName="conn2-1" presStyleLbl="parChTrans1D2" presStyleIdx="1" presStyleCnt="2"/>
      <dgm:spPr/>
    </dgm:pt>
    <dgm:pt modelId="{862DBE7B-1FFA-4857-A363-E8AE1E584881}" type="pres">
      <dgm:prSet presAssocID="{D07D4D30-6707-4EDB-9D1A-070940111A35}" presName="connTx" presStyleLbl="parChTrans1D2" presStyleIdx="1" presStyleCnt="2"/>
      <dgm:spPr/>
    </dgm:pt>
    <dgm:pt modelId="{ECBD37BD-AD7A-4229-BB50-35688D4F8A97}" type="pres">
      <dgm:prSet presAssocID="{4A0DE495-8723-4E60-8612-1DFDFDA4BDA9}" presName="root2" presStyleCnt="0"/>
      <dgm:spPr/>
    </dgm:pt>
    <dgm:pt modelId="{F08D0CF8-D76D-4E4E-BE09-F973D395634D}" type="pres">
      <dgm:prSet presAssocID="{4A0DE495-8723-4E60-8612-1DFDFDA4BDA9}" presName="LevelTwoTextNode" presStyleLbl="node2" presStyleIdx="1" presStyleCnt="2" custScaleX="98734" custScaleY="62433" custLinFactNeighborX="751" custLinFactNeighborY="19212">
        <dgm:presLayoutVars>
          <dgm:chPref val="3"/>
        </dgm:presLayoutVars>
      </dgm:prSet>
      <dgm:spPr/>
    </dgm:pt>
    <dgm:pt modelId="{579D9AE2-A318-43D7-8C9B-7E7CB41BFDF5}" type="pres">
      <dgm:prSet presAssocID="{4A0DE495-8723-4E60-8612-1DFDFDA4BDA9}" presName="level3hierChild" presStyleCnt="0"/>
      <dgm:spPr/>
    </dgm:pt>
  </dgm:ptLst>
  <dgm:cxnLst>
    <dgm:cxn modelId="{86164C40-9302-4A71-8511-AB71E325D25E}" type="presOf" srcId="{9A341D98-9494-4785-891B-4C48B1FF21FB}" destId="{380E0CCC-A032-451B-940B-273C8CB10DF9}" srcOrd="0" destOrd="0" presId="urn:microsoft.com/office/officeart/2005/8/layout/hierarchy2#1"/>
    <dgm:cxn modelId="{862E675B-C7EB-43D9-81ED-EC61677FE107}" srcId="{762368FC-8A21-42DF-862F-49913B4CA600}" destId="{4A0DE495-8723-4E60-8612-1DFDFDA4BDA9}" srcOrd="1" destOrd="0" parTransId="{D07D4D30-6707-4EDB-9D1A-070940111A35}" sibTransId="{71605767-7F18-455F-BC11-8D15812EBC74}"/>
    <dgm:cxn modelId="{C52A5C55-4A0C-4C9D-BFAD-5A95B66ADA3C}" type="presOf" srcId="{762368FC-8A21-42DF-862F-49913B4CA600}" destId="{C68481FC-E4AC-4DC1-847B-0FB2B55517FB}" srcOrd="0" destOrd="0" presId="urn:microsoft.com/office/officeart/2005/8/layout/hierarchy2#1"/>
    <dgm:cxn modelId="{3A891157-7C62-422B-BAD1-AF415321426E}" type="presOf" srcId="{D07D4D30-6707-4EDB-9D1A-070940111A35}" destId="{862DBE7B-1FFA-4857-A363-E8AE1E584881}" srcOrd="1" destOrd="0" presId="urn:microsoft.com/office/officeart/2005/8/layout/hierarchy2#1"/>
    <dgm:cxn modelId="{E584A799-5A9F-415B-BF26-671F99EC9426}" type="presOf" srcId="{D07D4D30-6707-4EDB-9D1A-070940111A35}" destId="{6BD1F47B-B70E-4BD0-AD51-CA426A38BEBF}" srcOrd="0" destOrd="0" presId="urn:microsoft.com/office/officeart/2005/8/layout/hierarchy2#1"/>
    <dgm:cxn modelId="{E83625AA-6BBF-44EE-AFBB-4049CA3071CD}" srcId="{762368FC-8A21-42DF-862F-49913B4CA600}" destId="{CAAF34B5-F334-4D18-BD84-68E109DE370A}" srcOrd="0" destOrd="0" parTransId="{156C782C-9FFE-4F81-9506-769FCFB8F257}" sibTransId="{1967F592-1C3C-46B7-9983-EFDC4CB79F76}"/>
    <dgm:cxn modelId="{1597E1B3-5D03-49C9-9EC7-807524F03E19}" type="presOf" srcId="{156C782C-9FFE-4F81-9506-769FCFB8F257}" destId="{9F3840BB-1876-4A23-8D56-C51342CCBDCD}" srcOrd="0" destOrd="0" presId="urn:microsoft.com/office/officeart/2005/8/layout/hierarchy2#1"/>
    <dgm:cxn modelId="{79EA38BC-A0F9-499B-B77E-092EAF1A5F87}" type="presOf" srcId="{4A0DE495-8723-4E60-8612-1DFDFDA4BDA9}" destId="{F08D0CF8-D76D-4E4E-BE09-F973D395634D}" srcOrd="0" destOrd="0" presId="urn:microsoft.com/office/officeart/2005/8/layout/hierarchy2#1"/>
    <dgm:cxn modelId="{E0816EC9-DFA7-44CE-BE7B-AC59A4924A6B}" type="presOf" srcId="{CAAF34B5-F334-4D18-BD84-68E109DE370A}" destId="{6A880FA7-B117-4398-A659-602501FB7E10}" srcOrd="0" destOrd="0" presId="urn:microsoft.com/office/officeart/2005/8/layout/hierarchy2#1"/>
    <dgm:cxn modelId="{60E0E1E9-9173-4AC4-993C-4404271D3C53}" srcId="{9A341D98-9494-4785-891B-4C48B1FF21FB}" destId="{762368FC-8A21-42DF-862F-49913B4CA600}" srcOrd="0" destOrd="0" parTransId="{B57AD276-BF53-4E4E-BA10-2FE2EDF7FBF3}" sibTransId="{DA9AB284-C6AC-4CC0-9FE5-67193AF8CD57}"/>
    <dgm:cxn modelId="{64CF0CEE-9167-452F-8450-5E30B14345CE}" type="presOf" srcId="{156C782C-9FFE-4F81-9506-769FCFB8F257}" destId="{AD1C5297-6470-4205-B48C-F06D98DE5EF1}" srcOrd="1" destOrd="0" presId="urn:microsoft.com/office/officeart/2005/8/layout/hierarchy2#1"/>
    <dgm:cxn modelId="{3183FE98-A8A6-4A25-B77F-3EB64087F71E}" type="presParOf" srcId="{380E0CCC-A032-451B-940B-273C8CB10DF9}" destId="{FFCFEE9F-7BB2-48E9-94A9-4ED245F224A9}" srcOrd="0" destOrd="0" presId="urn:microsoft.com/office/officeart/2005/8/layout/hierarchy2#1"/>
    <dgm:cxn modelId="{42CDA5C6-D5FF-4920-B084-F119E5196FDC}" type="presParOf" srcId="{FFCFEE9F-7BB2-48E9-94A9-4ED245F224A9}" destId="{C68481FC-E4AC-4DC1-847B-0FB2B55517FB}" srcOrd="0" destOrd="0" presId="urn:microsoft.com/office/officeart/2005/8/layout/hierarchy2#1"/>
    <dgm:cxn modelId="{D4E36D7D-C0DF-4DFE-B461-FEC61BB67598}" type="presParOf" srcId="{FFCFEE9F-7BB2-48E9-94A9-4ED245F224A9}" destId="{7252753E-90C7-4157-8C5C-BEAFAFC4B76C}" srcOrd="1" destOrd="0" presId="urn:microsoft.com/office/officeart/2005/8/layout/hierarchy2#1"/>
    <dgm:cxn modelId="{F6EFD87F-345F-4B79-B573-FF9103DED1A9}" type="presParOf" srcId="{7252753E-90C7-4157-8C5C-BEAFAFC4B76C}" destId="{9F3840BB-1876-4A23-8D56-C51342CCBDCD}" srcOrd="0" destOrd="0" presId="urn:microsoft.com/office/officeart/2005/8/layout/hierarchy2#1"/>
    <dgm:cxn modelId="{107F2D58-0693-438A-A2E7-B850FFC49367}" type="presParOf" srcId="{9F3840BB-1876-4A23-8D56-C51342CCBDCD}" destId="{AD1C5297-6470-4205-B48C-F06D98DE5EF1}" srcOrd="0" destOrd="0" presId="urn:microsoft.com/office/officeart/2005/8/layout/hierarchy2#1"/>
    <dgm:cxn modelId="{F666290D-1F11-4EC6-8F31-A102FCF02EEE}" type="presParOf" srcId="{7252753E-90C7-4157-8C5C-BEAFAFC4B76C}" destId="{7BE2565D-E701-461B-87B9-A46BD19DF5AC}" srcOrd="1" destOrd="0" presId="urn:microsoft.com/office/officeart/2005/8/layout/hierarchy2#1"/>
    <dgm:cxn modelId="{1E636BB9-2D2A-4147-B2F9-06540AA4BB07}" type="presParOf" srcId="{7BE2565D-E701-461B-87B9-A46BD19DF5AC}" destId="{6A880FA7-B117-4398-A659-602501FB7E10}" srcOrd="0" destOrd="0" presId="urn:microsoft.com/office/officeart/2005/8/layout/hierarchy2#1"/>
    <dgm:cxn modelId="{43064C1F-B308-4C9D-8332-A47EE1BA3741}" type="presParOf" srcId="{7BE2565D-E701-461B-87B9-A46BD19DF5AC}" destId="{D91E9AD6-44CA-45DA-9D1B-056D1D3DC2E4}" srcOrd="1" destOrd="0" presId="urn:microsoft.com/office/officeart/2005/8/layout/hierarchy2#1"/>
    <dgm:cxn modelId="{D6A42585-1708-408B-AE2C-C7DBC0D70052}" type="presParOf" srcId="{7252753E-90C7-4157-8C5C-BEAFAFC4B76C}" destId="{6BD1F47B-B70E-4BD0-AD51-CA426A38BEBF}" srcOrd="2" destOrd="0" presId="urn:microsoft.com/office/officeart/2005/8/layout/hierarchy2#1"/>
    <dgm:cxn modelId="{6F768081-C04C-4C6B-B11B-DFC230C5837D}" type="presParOf" srcId="{6BD1F47B-B70E-4BD0-AD51-CA426A38BEBF}" destId="{862DBE7B-1FFA-4857-A363-E8AE1E584881}" srcOrd="0" destOrd="0" presId="urn:microsoft.com/office/officeart/2005/8/layout/hierarchy2#1"/>
    <dgm:cxn modelId="{C2DA6FAF-8FEC-4526-B6B7-DE1165957038}" type="presParOf" srcId="{7252753E-90C7-4157-8C5C-BEAFAFC4B76C}" destId="{ECBD37BD-AD7A-4229-BB50-35688D4F8A97}" srcOrd="3" destOrd="0" presId="urn:microsoft.com/office/officeart/2005/8/layout/hierarchy2#1"/>
    <dgm:cxn modelId="{3F16BF03-582F-4207-A403-2E40D6BC4F33}" type="presParOf" srcId="{ECBD37BD-AD7A-4229-BB50-35688D4F8A97}" destId="{F08D0CF8-D76D-4E4E-BE09-F973D395634D}" srcOrd="0" destOrd="0" presId="urn:microsoft.com/office/officeart/2005/8/layout/hierarchy2#1"/>
    <dgm:cxn modelId="{CD02B237-CA6E-4EB0-A4EC-63131FCC397C}" type="presParOf" srcId="{ECBD37BD-AD7A-4229-BB50-35688D4F8A97}" destId="{579D9AE2-A318-43D7-8C9B-7E7CB41BFDF5}" srcOrd="1" destOrd="0" presId="urn:microsoft.com/office/officeart/2005/8/layout/hierarchy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688706" cy="2832637"/>
        <a:chOff x="0" y="0"/>
        <a:chExt cx="4688706" cy="2832637"/>
      </a:xfrm>
    </dsp:grpSpPr>
    <dsp:sp modelId="{C68481FC-E4AC-4DC1-847B-0FB2B55517FB}">
      <dsp:nvSpPr>
        <dsp:cNvPr id="3" name="Rounded Rectangle 2"/>
        <dsp:cNvSpPr/>
      </dsp:nvSpPr>
      <dsp:spPr bwMode="white">
        <a:xfrm>
          <a:off x="67654" y="812911"/>
          <a:ext cx="1953628" cy="1051208"/>
        </a:xfrm>
        <a:prstGeom prst="roundRect">
          <a:avLst>
            <a:gd name="adj" fmla="val 10000"/>
          </a:avLst>
        </a:prstGeom>
        <a:solidFill>
          <a:srgbClr val="6679FC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 </a:t>
          </a:r>
          <a:endParaRPr lang="en-US" sz="1400" b="1" dirty="0">
            <a:solidFill>
              <a:schemeClr val="bg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en-IN" sz="1400" b="1" dirty="0">
              <a:solidFill>
                <a:schemeClr val="bg1"/>
              </a:solidFill>
            </a:rPr>
            <a:t>57+</a:t>
          </a:r>
          <a:r>
            <a:rPr lang="en-US" altLang="en-IN" sz="1400" b="1" dirty="0">
              <a:solidFill>
                <a:schemeClr val="bg1"/>
              </a:solidFill>
            </a:rPr>
            <a:t>589 = 646</a:t>
          </a:r>
          <a:endParaRPr sz="1400" dirty="0"/>
        </a:p>
      </dsp:txBody>
      <dsp:txXfrm>
        <a:off x="67654" y="812911"/>
        <a:ext cx="1953628" cy="1051208"/>
      </dsp:txXfrm>
    </dsp:sp>
    <dsp:sp modelId="{9F3840BB-1876-4A23-8D56-C51342CCBDCD}">
      <dsp:nvSpPr>
        <dsp:cNvPr id="4" name="Freeform 3"/>
        <dsp:cNvSpPr/>
      </dsp:nvSpPr>
      <dsp:spPr bwMode="white">
        <a:xfrm>
          <a:off x="1947010" y="1065547"/>
          <a:ext cx="862340" cy="62072"/>
        </a:xfrm>
        <a:custGeom>
          <a:avLst/>
          <a:gdLst/>
          <a:ahLst/>
          <a:cxnLst/>
          <a:pathLst>
            <a:path w="1358" h="98">
              <a:moveTo>
                <a:pt x="117" y="430"/>
              </a:moveTo>
              <a:lnTo>
                <a:pt x="1241" y="-332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00" b="1"/>
        </a:p>
      </dsp:txBody>
      <dsp:txXfrm>
        <a:off x="1947010" y="1065547"/>
        <a:ext cx="862340" cy="62072"/>
      </dsp:txXfrm>
    </dsp:sp>
    <dsp:sp modelId="{6A880FA7-B117-4398-A659-602501FB7E10}">
      <dsp:nvSpPr>
        <dsp:cNvPr id="5" name="Rounded Rectangle 4"/>
        <dsp:cNvSpPr/>
      </dsp:nvSpPr>
      <dsp:spPr bwMode="white">
        <a:xfrm>
          <a:off x="2735079" y="366244"/>
          <a:ext cx="1953628" cy="97681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/>
            <a:t>Closed - 646 </a:t>
          </a:r>
          <a:endParaRPr lang="en-US" sz="1400" b="1" dirty="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i="1" dirty="0"/>
            <a:t>[57+589]</a:t>
          </a:r>
          <a:endParaRPr sz="6500" i="1" dirty="0"/>
        </a:p>
      </dsp:txBody>
      <dsp:txXfrm>
        <a:off x="2735079" y="366244"/>
        <a:ext cx="1953628" cy="976814"/>
      </dsp:txXfrm>
    </dsp:sp>
    <dsp:sp modelId="{6BD1F47B-B70E-4BD0-AD51-CA426A38BEBF}">
      <dsp:nvSpPr>
        <dsp:cNvPr id="6" name="Freeform 5"/>
        <dsp:cNvSpPr/>
      </dsp:nvSpPr>
      <dsp:spPr bwMode="white">
        <a:xfrm>
          <a:off x="1899006" y="1627215"/>
          <a:ext cx="958347" cy="62072"/>
        </a:xfrm>
        <a:custGeom>
          <a:avLst/>
          <a:gdLst/>
          <a:ahLst/>
          <a:cxnLst/>
          <a:pathLst>
            <a:path w="1509" h="98">
              <a:moveTo>
                <a:pt x="193" y="-455"/>
              </a:moveTo>
              <a:lnTo>
                <a:pt x="1317" y="552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100" b="1"/>
        </a:p>
      </dsp:txBody>
      <dsp:txXfrm>
        <a:off x="1899006" y="1627215"/>
        <a:ext cx="958347" cy="62072"/>
      </dsp:txXfrm>
    </dsp:sp>
    <dsp:sp modelId="{F08D0CF8-D76D-4E4E-BE09-F973D395634D}">
      <dsp:nvSpPr>
        <dsp:cNvPr id="7" name="Rounded Rectangle 6"/>
        <dsp:cNvSpPr/>
      </dsp:nvSpPr>
      <dsp:spPr bwMode="white">
        <a:xfrm>
          <a:off x="2735079" y="1489580"/>
          <a:ext cx="1953628" cy="976814"/>
        </a:xfrm>
        <a:prstGeom prst="roundRect">
          <a:avLst>
            <a:gd name="adj" fmla="val 10000"/>
          </a:avLst>
        </a:prstGeom>
        <a:solidFill>
          <a:srgbClr val="FF0000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/>
            <a:t>Reopened - 138</a:t>
          </a:r>
          <a:endParaRPr sz="6500" dirty="0"/>
        </a:p>
      </dsp:txBody>
      <dsp:txXfrm>
        <a:off x="2735079" y="1489580"/>
        <a:ext cx="1953628" cy="976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617719" cy="1927789"/>
        <a:chOff x="0" y="0"/>
        <a:chExt cx="4617719" cy="1927789"/>
      </a:xfrm>
    </dsp:grpSpPr>
    <dsp:sp modelId="{C68481FC-E4AC-4DC1-847B-0FB2B55517FB}">
      <dsp:nvSpPr>
        <dsp:cNvPr id="3" name="Rounded Rectangle 2"/>
        <dsp:cNvSpPr/>
      </dsp:nvSpPr>
      <dsp:spPr bwMode="white">
        <a:xfrm>
          <a:off x="15722" y="569259"/>
          <a:ext cx="1981669" cy="859107"/>
        </a:xfrm>
        <a:prstGeom prst="roundRect">
          <a:avLst>
            <a:gd name="adj" fmla="val 10000"/>
          </a:avLst>
        </a:prstGeom>
        <a:solidFill>
          <a:srgbClr val="6679FC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</a:t>
          </a:r>
          <a:endParaRPr lang="en-US" sz="1400" b="1" dirty="0">
            <a:solidFill>
              <a:schemeClr val="bg1"/>
            </a:solidFill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400" b="1" dirty="0" smtClean="0">
              <a:solidFill>
                <a:schemeClr val="bg1"/>
              </a:solidFill>
            </a:rPr>
            <a:t>134 + 22 </a:t>
          </a:r>
          <a:r>
            <a:rPr lang="en-IN" sz="1400" b="1" dirty="0">
              <a:solidFill>
                <a:schemeClr val="bg1"/>
              </a:solidFill>
            </a:rPr>
            <a:t>= 156</a:t>
          </a:r>
          <a:endParaRPr lang="en-IN" altLang="en-US" sz="1400" b="1" dirty="0">
            <a:solidFill>
              <a:schemeClr val="bg1"/>
            </a:solidFill>
          </a:endParaRPr>
        </a:p>
      </dsp:txBody>
      <dsp:txXfrm>
        <a:off x="15722" y="569259"/>
        <a:ext cx="1981669" cy="859107"/>
      </dsp:txXfrm>
    </dsp:sp>
    <dsp:sp modelId="{9F3840BB-1876-4A23-8D56-C51342CCBDCD}">
      <dsp:nvSpPr>
        <dsp:cNvPr id="4" name="Freeform 3"/>
        <dsp:cNvSpPr/>
      </dsp:nvSpPr>
      <dsp:spPr bwMode="white">
        <a:xfrm>
          <a:off x="1921837" y="707020"/>
          <a:ext cx="888544" cy="87904"/>
        </a:xfrm>
        <a:custGeom>
          <a:avLst/>
          <a:gdLst/>
          <a:ahLst/>
          <a:cxnLst/>
          <a:pathLst>
            <a:path w="1399" h="138">
              <a:moveTo>
                <a:pt x="119" y="460"/>
              </a:moveTo>
              <a:lnTo>
                <a:pt x="1280" y="-321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/>
        </a:p>
      </dsp:txBody>
      <dsp:txXfrm>
        <a:off x="1921837" y="707020"/>
        <a:ext cx="888544" cy="87904"/>
      </dsp:txXfrm>
    </dsp:sp>
    <dsp:sp modelId="{6A880FA7-B117-4398-A659-602501FB7E10}">
      <dsp:nvSpPr>
        <dsp:cNvPr id="5" name="Rounded Rectangle 4"/>
        <dsp:cNvSpPr/>
      </dsp:nvSpPr>
      <dsp:spPr bwMode="white">
        <a:xfrm>
          <a:off x="2734826" y="167977"/>
          <a:ext cx="1882893" cy="670310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Closed </a:t>
          </a:r>
          <a:r>
            <a:rPr lang="en-US" sz="1600" b="1" dirty="0">
              <a:sym typeface="+mn-ea"/>
            </a:rPr>
            <a:t>-</a:t>
          </a:r>
          <a:r>
            <a:rPr lang="en-US" sz="1600" b="1" dirty="0"/>
            <a:t> </a:t>
          </a:r>
          <a:r>
            <a:rPr lang="en-IN" altLang="en-US" sz="1600" b="1" dirty="0"/>
            <a:t>134</a:t>
          </a:r>
          <a:endParaRPr lang="en-IN" altLang="en-US" sz="1600" b="1" dirty="0"/>
        </a:p>
      </dsp:txBody>
      <dsp:txXfrm>
        <a:off x="2734826" y="167977"/>
        <a:ext cx="1882893" cy="670310"/>
      </dsp:txXfrm>
    </dsp:sp>
    <dsp:sp modelId="{6BD1F47B-B70E-4BD0-AD51-CA426A38BEBF}">
      <dsp:nvSpPr>
        <dsp:cNvPr id="6" name="Freeform 5"/>
        <dsp:cNvSpPr/>
      </dsp:nvSpPr>
      <dsp:spPr bwMode="white">
        <a:xfrm>
          <a:off x="1933353" y="1181410"/>
          <a:ext cx="865511" cy="87904"/>
        </a:xfrm>
        <a:custGeom>
          <a:avLst/>
          <a:gdLst/>
          <a:ahLst/>
          <a:cxnLst/>
          <a:pathLst>
            <a:path w="1363" h="138">
              <a:moveTo>
                <a:pt x="101" y="-288"/>
              </a:moveTo>
              <a:lnTo>
                <a:pt x="1262" y="426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/>
        </a:p>
      </dsp:txBody>
      <dsp:txXfrm>
        <a:off x="1933353" y="1181410"/>
        <a:ext cx="865511" cy="87904"/>
      </dsp:txXfrm>
    </dsp:sp>
    <dsp:sp modelId="{F08D0CF8-D76D-4E4E-BE09-F973D395634D}">
      <dsp:nvSpPr>
        <dsp:cNvPr id="7" name="Rounded Rectangle 6"/>
        <dsp:cNvSpPr/>
      </dsp:nvSpPr>
      <dsp:spPr bwMode="white">
        <a:xfrm>
          <a:off x="2734826" y="1179448"/>
          <a:ext cx="1882893" cy="544928"/>
        </a:xfrm>
        <a:prstGeom prst="roundRect">
          <a:avLst>
            <a:gd name="adj" fmla="val 10000"/>
          </a:avLst>
        </a:prstGeom>
        <a:solidFill>
          <a:srgbClr val="FF0000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Reopened </a:t>
          </a:r>
          <a:r>
            <a:rPr lang="en-US" sz="1600" b="1" dirty="0">
              <a:sym typeface="+mn-ea"/>
            </a:rPr>
            <a:t>- </a:t>
          </a:r>
          <a:r>
            <a:rPr lang="en-IN" altLang="en-US" sz="1600" b="1" dirty="0">
              <a:sym typeface="+mn-ea"/>
            </a:rPr>
            <a:t>22</a:t>
          </a:r>
          <a:endParaRPr lang="en-IN" altLang="en-US" sz="1600" b="1" dirty="0">
            <a:sym typeface="+mn-ea"/>
          </a:endParaRPr>
        </a:p>
      </dsp:txBody>
      <dsp:txXfrm>
        <a:off x="2734826" y="1179448"/>
        <a:ext cx="1882893" cy="54492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243015" cy="2391022"/>
        <a:chOff x="0" y="0"/>
        <a:chExt cx="4243015" cy="2391022"/>
      </a:xfrm>
    </dsp:grpSpPr>
    <dsp:sp modelId="{C68481FC-E4AC-4DC1-847B-0FB2B55517FB}">
      <dsp:nvSpPr>
        <dsp:cNvPr id="3" name="Rounded Rectangle 2"/>
        <dsp:cNvSpPr/>
      </dsp:nvSpPr>
      <dsp:spPr bwMode="white">
        <a:xfrm>
          <a:off x="0" y="831517"/>
          <a:ext cx="1828978" cy="727987"/>
        </a:xfrm>
        <a:prstGeom prst="roundRect">
          <a:avLst>
            <a:gd name="adj" fmla="val 10000"/>
          </a:avLst>
        </a:prstGeom>
        <a:solidFill>
          <a:srgbClr val="6679FC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  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22</a:t>
          </a:r>
          <a:r>
            <a:rPr lang="en-US" sz="1400" b="1" dirty="0">
              <a:solidFill>
                <a:schemeClr val="bg1"/>
              </a:solidFill>
            </a:rPr>
            <a:t> +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 62</a:t>
          </a:r>
          <a:r>
            <a:rPr lang="en-US" sz="1400" b="1" dirty="0">
              <a:solidFill>
                <a:schemeClr val="bg1"/>
              </a:solidFill>
            </a:rPr>
            <a:t>  </a:t>
          </a:r>
          <a:r>
            <a:rPr lang="en-IN" sz="1400" b="1" dirty="0">
              <a:solidFill>
                <a:schemeClr val="bg1"/>
              </a:solidFill>
            </a:rPr>
            <a:t>= 8</a:t>
          </a:r>
          <a:r>
            <a:rPr lang="en-IN" sz="1400" b="1" dirty="0">
              <a:solidFill>
                <a:schemeClr val="bg1"/>
              </a:solidFill>
              <a:latin typeface="Calibri Light" panose="020F0302020204030204"/>
            </a:rPr>
            <a:t>4</a:t>
          </a:r>
          <a:endParaRPr lang="en-IN" sz="1400" b="1" dirty="0">
            <a:solidFill>
              <a:schemeClr val="bg1"/>
            </a:solidFill>
          </a:endParaRPr>
        </a:p>
      </dsp:txBody>
      <dsp:txXfrm>
        <a:off x="0" y="831517"/>
        <a:ext cx="1828978" cy="727987"/>
      </dsp:txXfrm>
    </dsp:sp>
    <dsp:sp modelId="{9F3840BB-1876-4A23-8D56-C51342CCBDCD}">
      <dsp:nvSpPr>
        <dsp:cNvPr id="4" name="Freeform 3"/>
        <dsp:cNvSpPr/>
      </dsp:nvSpPr>
      <dsp:spPr bwMode="white">
        <a:xfrm>
          <a:off x="1756832" y="930740"/>
          <a:ext cx="820240" cy="64905"/>
        </a:xfrm>
        <a:custGeom>
          <a:avLst/>
          <a:gdLst/>
          <a:ahLst/>
          <a:cxnLst/>
          <a:pathLst>
            <a:path w="1292" h="102">
              <a:moveTo>
                <a:pt x="114" y="417"/>
              </a:moveTo>
              <a:lnTo>
                <a:pt x="1178" y="-315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756832" y="930740"/>
        <a:ext cx="820240" cy="64905"/>
      </dsp:txXfrm>
    </dsp:sp>
    <dsp:sp modelId="{6A880FA7-B117-4398-A659-602501FB7E10}">
      <dsp:nvSpPr>
        <dsp:cNvPr id="5" name="Rounded Rectangle 4"/>
        <dsp:cNvSpPr/>
      </dsp:nvSpPr>
      <dsp:spPr bwMode="white">
        <a:xfrm>
          <a:off x="2504926" y="431542"/>
          <a:ext cx="1724312" cy="5986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Closed – 80</a:t>
          </a:r>
        </a:p>
      </dsp:txBody>
      <dsp:txXfrm>
        <a:off x="2504926" y="431542"/>
        <a:ext cx="1724312" cy="598664"/>
      </dsp:txXfrm>
    </dsp:sp>
    <dsp:sp modelId="{6BD1F47B-B70E-4BD0-AD51-CA426A38BEBF}">
      <dsp:nvSpPr>
        <dsp:cNvPr id="6" name="Freeform 5"/>
        <dsp:cNvSpPr/>
      </dsp:nvSpPr>
      <dsp:spPr bwMode="white">
        <a:xfrm>
          <a:off x="1740355" y="1427874"/>
          <a:ext cx="879921" cy="64905"/>
        </a:xfrm>
        <a:custGeom>
          <a:avLst/>
          <a:gdLst/>
          <a:ahLst/>
          <a:cxnLst/>
          <a:pathLst>
            <a:path w="1386" h="102">
              <a:moveTo>
                <a:pt x="140" y="-366"/>
              </a:moveTo>
              <a:lnTo>
                <a:pt x="1246" y="468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740355" y="1427874"/>
        <a:ext cx="879921" cy="64905"/>
      </dsp:txXfrm>
    </dsp:sp>
    <dsp:sp modelId="{F08D0CF8-D76D-4E4E-BE09-F973D395634D}">
      <dsp:nvSpPr>
        <dsp:cNvPr id="7" name="Rounded Rectangle 6"/>
        <dsp:cNvSpPr/>
      </dsp:nvSpPr>
      <dsp:spPr bwMode="white">
        <a:xfrm>
          <a:off x="2531652" y="1456007"/>
          <a:ext cx="1702482" cy="538270"/>
        </a:xfrm>
        <a:prstGeom prst="roundRect">
          <a:avLst>
            <a:gd name="adj" fmla="val 10000"/>
          </a:avLst>
        </a:prstGeom>
        <a:solidFill>
          <a:srgbClr val="FF0000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Reopened - 4</a:t>
          </a:r>
        </a:p>
      </dsp:txBody>
      <dsp:txXfrm>
        <a:off x="2531652" y="1456007"/>
        <a:ext cx="1702482" cy="53827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243015" cy="2391022"/>
        <a:chOff x="0" y="0"/>
        <a:chExt cx="4243015" cy="2391022"/>
      </a:xfrm>
    </dsp:grpSpPr>
    <dsp:sp modelId="{C68481FC-E4AC-4DC1-847B-0FB2B55517FB}">
      <dsp:nvSpPr>
        <dsp:cNvPr id="3" name="Rounded Rectangle 2"/>
        <dsp:cNvSpPr/>
      </dsp:nvSpPr>
      <dsp:spPr bwMode="white">
        <a:xfrm>
          <a:off x="0" y="781446"/>
          <a:ext cx="1767923" cy="828130"/>
        </a:xfrm>
        <a:prstGeom prst="roundRect">
          <a:avLst>
            <a:gd name="adj" fmla="val 10000"/>
          </a:avLst>
        </a:prstGeom>
        <a:solidFill>
          <a:srgbClr val="6679FC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 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 12</a:t>
          </a:r>
          <a:r>
            <a:rPr lang="en-US" sz="1400" b="1" dirty="0">
              <a:solidFill>
                <a:schemeClr val="bg1"/>
              </a:solidFill>
            </a:rPr>
            <a:t> +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 10</a:t>
          </a:r>
          <a:r>
            <a:rPr lang="en-US" sz="1400" b="1" dirty="0">
              <a:solidFill>
                <a:schemeClr val="bg1"/>
              </a:solidFill>
            </a:rPr>
            <a:t> </a:t>
          </a:r>
          <a:r>
            <a:rPr lang="en-IN" sz="1400" b="1" dirty="0">
              <a:solidFill>
                <a:schemeClr val="bg1"/>
              </a:solidFill>
            </a:rPr>
            <a:t>= 22</a:t>
          </a:r>
          <a:endParaRPr lang="en-US" sz="1400" b="1" dirty="0"/>
        </a:p>
      </dsp:txBody>
      <dsp:txXfrm>
        <a:off x="0" y="781446"/>
        <a:ext cx="1767923" cy="828130"/>
      </dsp:txXfrm>
    </dsp:sp>
    <dsp:sp modelId="{9F3840BB-1876-4A23-8D56-C51342CCBDCD}">
      <dsp:nvSpPr>
        <dsp:cNvPr id="4" name="Freeform 3"/>
        <dsp:cNvSpPr/>
      </dsp:nvSpPr>
      <dsp:spPr bwMode="white">
        <a:xfrm>
          <a:off x="1693952" y="924044"/>
          <a:ext cx="840985" cy="66546"/>
        </a:xfrm>
        <a:custGeom>
          <a:avLst/>
          <a:gdLst/>
          <a:ahLst/>
          <a:cxnLst/>
          <a:pathLst>
            <a:path w="1324" h="105">
              <a:moveTo>
                <a:pt x="116" y="428"/>
              </a:moveTo>
              <a:lnTo>
                <a:pt x="1208" y="-323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693952" y="924044"/>
        <a:ext cx="840985" cy="66546"/>
      </dsp:txXfrm>
    </dsp:sp>
    <dsp:sp modelId="{6A880FA7-B117-4398-A659-602501FB7E10}">
      <dsp:nvSpPr>
        <dsp:cNvPr id="5" name="Rounded Rectangle 4"/>
        <dsp:cNvSpPr/>
      </dsp:nvSpPr>
      <dsp:spPr bwMode="white">
        <a:xfrm>
          <a:off x="2460966" y="412219"/>
          <a:ext cx="1767923" cy="613805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Closed - 21</a:t>
          </a:r>
        </a:p>
      </dsp:txBody>
      <dsp:txXfrm>
        <a:off x="2460966" y="412219"/>
        <a:ext cx="1767923" cy="613805"/>
      </dsp:txXfrm>
    </dsp:sp>
    <dsp:sp modelId="{6BD1F47B-B70E-4BD0-AD51-CA426A38BEBF}">
      <dsp:nvSpPr>
        <dsp:cNvPr id="6" name="Freeform 5"/>
        <dsp:cNvSpPr/>
      </dsp:nvSpPr>
      <dsp:spPr bwMode="white">
        <a:xfrm>
          <a:off x="1677058" y="1433751"/>
          <a:ext cx="902175" cy="66546"/>
        </a:xfrm>
        <a:custGeom>
          <a:avLst/>
          <a:gdLst/>
          <a:ahLst/>
          <a:cxnLst/>
          <a:pathLst>
            <a:path w="1421" h="105">
              <a:moveTo>
                <a:pt x="143" y="-375"/>
              </a:moveTo>
              <a:lnTo>
                <a:pt x="1278" y="480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677058" y="1433751"/>
        <a:ext cx="902175" cy="66546"/>
      </dsp:txXfrm>
    </dsp:sp>
    <dsp:sp modelId="{F08D0CF8-D76D-4E4E-BE09-F973D395634D}">
      <dsp:nvSpPr>
        <dsp:cNvPr id="7" name="Rounded Rectangle 6"/>
        <dsp:cNvSpPr/>
      </dsp:nvSpPr>
      <dsp:spPr bwMode="white">
        <a:xfrm>
          <a:off x="2488369" y="1462596"/>
          <a:ext cx="1745541" cy="551884"/>
        </a:xfrm>
        <a:prstGeom prst="roundRect">
          <a:avLst>
            <a:gd name="adj" fmla="val 10000"/>
          </a:avLst>
        </a:prstGeom>
        <a:solidFill>
          <a:srgbClr val="FF0000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Reopened – 1</a:t>
          </a:r>
        </a:p>
      </dsp:txBody>
      <dsp:txXfrm>
        <a:off x="2488369" y="1462596"/>
        <a:ext cx="1745541" cy="55188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243015" cy="2391022"/>
        <a:chOff x="0" y="0"/>
        <a:chExt cx="4243015" cy="2391022"/>
      </a:xfrm>
    </dsp:grpSpPr>
    <dsp:sp modelId="{C68481FC-E4AC-4DC1-847B-0FB2B55517FB}">
      <dsp:nvSpPr>
        <dsp:cNvPr id="3" name="Rounded Rectangle 2"/>
        <dsp:cNvSpPr/>
      </dsp:nvSpPr>
      <dsp:spPr bwMode="white">
        <a:xfrm>
          <a:off x="0" y="831517"/>
          <a:ext cx="1828978" cy="727987"/>
        </a:xfrm>
        <a:prstGeom prst="roundRect">
          <a:avLst>
            <a:gd name="adj" fmla="val 10000"/>
          </a:avLst>
        </a:prstGeom>
        <a:solidFill>
          <a:srgbClr val="6679FC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dirty="0">
              <a:solidFill>
                <a:schemeClr val="bg1"/>
              </a:solidFill>
            </a:rPr>
            <a:t>Story/Defect Validated  </a:t>
          </a:r>
          <a:r>
            <a:rPr lang="en-US" sz="1400" b="1" dirty="0">
              <a:solidFill>
                <a:schemeClr val="bg1"/>
              </a:solidFill>
              <a:latin typeface="Calibri Light" panose="020F0302020204030204"/>
            </a:rPr>
            <a:t>6 + 31 </a:t>
          </a:r>
          <a:r>
            <a:rPr lang="en-IN" sz="1400" b="1" dirty="0">
              <a:solidFill>
                <a:schemeClr val="bg1"/>
              </a:solidFill>
            </a:rPr>
            <a:t>= 37</a:t>
          </a:r>
        </a:p>
      </dsp:txBody>
      <dsp:txXfrm>
        <a:off x="0" y="831517"/>
        <a:ext cx="1828978" cy="727987"/>
      </dsp:txXfrm>
    </dsp:sp>
    <dsp:sp modelId="{9F3840BB-1876-4A23-8D56-C51342CCBDCD}">
      <dsp:nvSpPr>
        <dsp:cNvPr id="4" name="Freeform 3"/>
        <dsp:cNvSpPr/>
      </dsp:nvSpPr>
      <dsp:spPr bwMode="white">
        <a:xfrm>
          <a:off x="1756832" y="930740"/>
          <a:ext cx="820240" cy="64905"/>
        </a:xfrm>
        <a:custGeom>
          <a:avLst/>
          <a:gdLst/>
          <a:ahLst/>
          <a:cxnLst/>
          <a:pathLst>
            <a:path w="1292" h="102">
              <a:moveTo>
                <a:pt x="114" y="417"/>
              </a:moveTo>
              <a:lnTo>
                <a:pt x="1178" y="-315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756832" y="930740"/>
        <a:ext cx="820240" cy="64905"/>
      </dsp:txXfrm>
    </dsp:sp>
    <dsp:sp modelId="{6A880FA7-B117-4398-A659-602501FB7E10}">
      <dsp:nvSpPr>
        <dsp:cNvPr id="5" name="Rounded Rectangle 4"/>
        <dsp:cNvSpPr/>
      </dsp:nvSpPr>
      <dsp:spPr bwMode="white">
        <a:xfrm>
          <a:off x="2504926" y="431542"/>
          <a:ext cx="1724312" cy="5986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Closed – 19</a:t>
          </a:r>
        </a:p>
      </dsp:txBody>
      <dsp:txXfrm>
        <a:off x="2504926" y="431542"/>
        <a:ext cx="1724312" cy="598664"/>
      </dsp:txXfrm>
    </dsp:sp>
    <dsp:sp modelId="{6BD1F47B-B70E-4BD0-AD51-CA426A38BEBF}">
      <dsp:nvSpPr>
        <dsp:cNvPr id="6" name="Freeform 5"/>
        <dsp:cNvSpPr/>
      </dsp:nvSpPr>
      <dsp:spPr bwMode="white">
        <a:xfrm>
          <a:off x="1740355" y="1427874"/>
          <a:ext cx="879921" cy="64905"/>
        </a:xfrm>
        <a:custGeom>
          <a:avLst/>
          <a:gdLst/>
          <a:ahLst/>
          <a:cxnLst/>
          <a:pathLst>
            <a:path w="1386" h="102">
              <a:moveTo>
                <a:pt x="140" y="-366"/>
              </a:moveTo>
              <a:lnTo>
                <a:pt x="1246" y="468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740355" y="1427874"/>
        <a:ext cx="879921" cy="64905"/>
      </dsp:txXfrm>
    </dsp:sp>
    <dsp:sp modelId="{F08D0CF8-D76D-4E4E-BE09-F973D395634D}">
      <dsp:nvSpPr>
        <dsp:cNvPr id="7" name="Rounded Rectangle 6"/>
        <dsp:cNvSpPr/>
      </dsp:nvSpPr>
      <dsp:spPr bwMode="white">
        <a:xfrm>
          <a:off x="2531652" y="1456007"/>
          <a:ext cx="1702482" cy="538270"/>
        </a:xfrm>
        <a:prstGeom prst="roundRect">
          <a:avLst>
            <a:gd name="adj" fmla="val 10000"/>
          </a:avLst>
        </a:prstGeom>
        <a:solidFill>
          <a:srgbClr val="FF0000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/>
            <a:t>Reopened - 1</a:t>
          </a:r>
        </a:p>
      </dsp:txBody>
      <dsp:txXfrm>
        <a:off x="2531652" y="1456007"/>
        <a:ext cx="1702482" cy="53827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243015" cy="2391022"/>
        <a:chOff x="0" y="0"/>
        <a:chExt cx="4243015" cy="2391022"/>
      </a:xfrm>
    </dsp:grpSpPr>
    <dsp:sp modelId="{C68481FC-E4AC-4DC1-847B-0FB2B55517FB}">
      <dsp:nvSpPr>
        <dsp:cNvPr id="3" name="Rounded Rectangle 2"/>
        <dsp:cNvSpPr/>
      </dsp:nvSpPr>
      <dsp:spPr bwMode="white">
        <a:xfrm>
          <a:off x="0" y="831517"/>
          <a:ext cx="1828978" cy="727987"/>
        </a:xfrm>
        <a:prstGeom prst="roundRect">
          <a:avLst>
            <a:gd name="adj" fmla="val 10000"/>
          </a:avLst>
        </a:prstGeom>
        <a:solidFill>
          <a:srgbClr val="6679FC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8890" tIns="8890" rIns="8890" bIns="889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400" b="1">
              <a:solidFill>
                <a:schemeClr val="bg1"/>
              </a:solidFill>
            </a:rPr>
            <a:t>Story/Defect Validated </a:t>
          </a:r>
          <a:r>
            <a:rPr lang="en-US" sz="1400" b="1">
              <a:solidFill>
                <a:schemeClr val="bg1"/>
              </a:solidFill>
              <a:latin typeface="Calibri Light" panose="020F0302020204030204"/>
            </a:rPr>
            <a:t> 5</a:t>
          </a:r>
          <a:r>
            <a:rPr lang="en-US" sz="1400" b="1">
              <a:solidFill>
                <a:schemeClr val="bg1"/>
              </a:solidFill>
            </a:rPr>
            <a:t> + </a:t>
          </a:r>
          <a:r>
            <a:rPr lang="en-US" sz="1400" b="1">
              <a:solidFill>
                <a:schemeClr val="bg1"/>
              </a:solidFill>
              <a:latin typeface="Calibri Light" panose="020F0302020204030204"/>
            </a:rPr>
            <a:t>20  </a:t>
          </a:r>
          <a:r>
            <a:rPr lang="en-IN" sz="1400" b="1">
              <a:solidFill>
                <a:schemeClr val="bg1"/>
              </a:solidFill>
            </a:rPr>
            <a:t>= </a:t>
          </a:r>
          <a:r>
            <a:rPr lang="en-IN" sz="1400" b="1">
              <a:solidFill>
                <a:schemeClr val="bg1"/>
              </a:solidFill>
              <a:latin typeface="Calibri Light" panose="020F0302020204030204"/>
            </a:rPr>
            <a:t>25</a:t>
          </a:r>
          <a:endParaRPr lang="en-IN" sz="1400" b="1">
            <a:solidFill>
              <a:schemeClr val="bg1"/>
            </a:solidFill>
          </a:endParaRPr>
        </a:p>
      </dsp:txBody>
      <dsp:txXfrm>
        <a:off x="0" y="831517"/>
        <a:ext cx="1828978" cy="727987"/>
      </dsp:txXfrm>
    </dsp:sp>
    <dsp:sp modelId="{9F3840BB-1876-4A23-8D56-C51342CCBDCD}">
      <dsp:nvSpPr>
        <dsp:cNvPr id="4" name="Freeform 3"/>
        <dsp:cNvSpPr/>
      </dsp:nvSpPr>
      <dsp:spPr bwMode="white">
        <a:xfrm>
          <a:off x="1756832" y="930740"/>
          <a:ext cx="820240" cy="64905"/>
        </a:xfrm>
        <a:custGeom>
          <a:avLst/>
          <a:gdLst/>
          <a:ahLst/>
          <a:cxnLst/>
          <a:pathLst>
            <a:path w="1292" h="102">
              <a:moveTo>
                <a:pt x="114" y="417"/>
              </a:moveTo>
              <a:lnTo>
                <a:pt x="1178" y="-315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756832" y="930740"/>
        <a:ext cx="820240" cy="64905"/>
      </dsp:txXfrm>
    </dsp:sp>
    <dsp:sp modelId="{6A880FA7-B117-4398-A659-602501FB7E10}">
      <dsp:nvSpPr>
        <dsp:cNvPr id="5" name="Rounded Rectangle 4"/>
        <dsp:cNvSpPr/>
      </dsp:nvSpPr>
      <dsp:spPr bwMode="white">
        <a:xfrm>
          <a:off x="2504926" y="431542"/>
          <a:ext cx="1724312" cy="598664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/>
            <a:t>Closed – </a:t>
          </a:r>
          <a:r>
            <a:rPr lang="en-US" sz="1600" b="1">
              <a:latin typeface="Calibri Light" panose="020F0302020204030204"/>
            </a:rPr>
            <a:t>12</a:t>
          </a:r>
          <a:endParaRPr lang="en-US" sz="1600" b="1"/>
        </a:p>
      </dsp:txBody>
      <dsp:txXfrm>
        <a:off x="2504926" y="431542"/>
        <a:ext cx="1724312" cy="598664"/>
      </dsp:txXfrm>
    </dsp:sp>
    <dsp:sp modelId="{6BD1F47B-B70E-4BD0-AD51-CA426A38BEBF}">
      <dsp:nvSpPr>
        <dsp:cNvPr id="6" name="Freeform 5"/>
        <dsp:cNvSpPr/>
      </dsp:nvSpPr>
      <dsp:spPr bwMode="white">
        <a:xfrm>
          <a:off x="1740355" y="1427874"/>
          <a:ext cx="879921" cy="64905"/>
        </a:xfrm>
        <a:custGeom>
          <a:avLst/>
          <a:gdLst/>
          <a:ahLst/>
          <a:cxnLst/>
          <a:pathLst>
            <a:path w="1386" h="102">
              <a:moveTo>
                <a:pt x="140" y="-366"/>
              </a:moveTo>
              <a:lnTo>
                <a:pt x="1246" y="468"/>
              </a:lnTo>
            </a:path>
          </a:pathLst>
        </a:custGeom>
        <a:sp3d z="-110000"/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200" b="1">
            <a:solidFill>
              <a:schemeClr val="tx1"/>
            </a:solidFill>
          </a:endParaRPr>
        </a:p>
      </dsp:txBody>
      <dsp:txXfrm>
        <a:off x="1740355" y="1427874"/>
        <a:ext cx="879921" cy="64905"/>
      </dsp:txXfrm>
    </dsp:sp>
    <dsp:sp modelId="{F08D0CF8-D76D-4E4E-BE09-F973D395634D}">
      <dsp:nvSpPr>
        <dsp:cNvPr id="7" name="Rounded Rectangle 6"/>
        <dsp:cNvSpPr/>
      </dsp:nvSpPr>
      <dsp:spPr bwMode="white">
        <a:xfrm>
          <a:off x="2531652" y="1456007"/>
          <a:ext cx="1702482" cy="538270"/>
        </a:xfrm>
        <a:prstGeom prst="roundRect">
          <a:avLst>
            <a:gd name="adj" fmla="val 10000"/>
          </a:avLst>
        </a:prstGeom>
        <a:solidFill>
          <a:srgbClr val="FF0000"/>
        </a:solidFill>
        <a:sp3d contourW="19050" prstMaterial="metal">
          <a:bevelT w="88900" h="203200"/>
          <a:bevelB w="165100" h="254000"/>
        </a:sp3d>
      </dsp:spPr>
      <dsp:style>
        <a:lnRef idx="0">
          <a:schemeClr val="lt1"/>
        </a:lnRef>
        <a:fillRef idx="1">
          <a:schemeClr val="accent1"/>
        </a:fillRef>
        <a:effectRef idx="1">
          <a:scrgbClr r="0" g="0" b="0"/>
        </a:effectRef>
        <a:fontRef idx="minor">
          <a:schemeClr val="lt1"/>
        </a:fontRef>
      </dsp:style>
      <dsp:txBody>
        <a:bodyPr lIns="10160" tIns="10160" rIns="10160" bIns="101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/>
            <a:t>Reopened - </a:t>
          </a:r>
          <a:r>
            <a:rPr lang="en-US" sz="1600" b="1">
              <a:latin typeface="Calibri Light" panose="020F0302020204030204"/>
            </a:rPr>
            <a:t>8</a:t>
          </a:r>
          <a:endParaRPr lang="en-US" sz="1600" b="1"/>
        </a:p>
      </dsp:txBody>
      <dsp:txXfrm>
        <a:off x="2531652" y="1456007"/>
        <a:ext cx="1702482" cy="53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#1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equation2#3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equation2#1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equation2#8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equation2#1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equation2#8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equation2#1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equation2#1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srcNode" val="vNodes"/>
                <dgm:param type="dstNode" val="lastNode"/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#1">
  <dgm:title val=""/>
  <dgm:desc val=""/>
  <dgm:catLst>
    <dgm:cat type="3D" pri="11300"/>
  </dgm:catLst>
  <dgm:scene3d>
    <a:camera prst="orthographicFront"/>
    <a:lightRig rig="threePt" dir="t"/>
  </dgm:scene3d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6DED-5856-4A4A-991F-10EA3E702529}" type="datetimeFigureOut">
              <a:rPr lang="pl-PL" smtClean="0"/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0658B-A65D-4F84-9183-BEDF1BDB7867}" type="slidenum">
              <a:rPr lang="pl-PL" smtClean="0"/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0658B-A65D-4F84-9183-BEDF1BDB7867}" type="slidenum">
              <a:rPr lang="pl-PL" smtClean="0"/>
            </a:fld>
            <a:endParaRPr lang="pl-P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658B-A65D-4F84-9183-BEDF1BDB7867}" type="slidenum">
              <a:rPr lang="pl-PL" smtClean="0"/>
            </a:fld>
            <a:endParaRPr lang="pl-P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658B-A65D-4F84-9183-BEDF1BDB7867}" type="slidenum">
              <a:rPr lang="pl-PL" smtClean="0"/>
            </a:fld>
            <a:endParaRPr lang="pl-P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0658B-A65D-4F84-9183-BEDF1BDB7867}" type="slidenum">
              <a:rPr lang="pl-PL" smtClean="0"/>
            </a:fld>
            <a:endParaRPr lang="pl-P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  <a:endParaRPr lang="pl-PL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7" name="Elipsa 6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/>
          <p:cNvSpPr/>
          <p:nvPr userDrawn="1"/>
        </p:nvSpPr>
        <p:spPr>
          <a:xfrm>
            <a:off x="7791710" y="-3"/>
            <a:ext cx="4400289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 8"/>
          <p:cNvSpPr/>
          <p:nvPr userDrawn="1"/>
        </p:nvSpPr>
        <p:spPr>
          <a:xfrm>
            <a:off x="-1" y="0"/>
            <a:ext cx="7696462" cy="6857999"/>
          </a:xfrm>
          <a:prstGeom prst="rect">
            <a:avLst/>
          </a:prstGeom>
          <a:solidFill>
            <a:srgbClr val="7C4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7" name="Elipsa 6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9" name="Prostokąt 8"/>
          <p:cNvSpPr/>
          <p:nvPr userDrawn="1"/>
        </p:nvSpPr>
        <p:spPr>
          <a:xfrm>
            <a:off x="-1" y="0"/>
            <a:ext cx="3800606" cy="6857999"/>
          </a:xfrm>
          <a:prstGeom prst="rect">
            <a:avLst/>
          </a:prstGeom>
          <a:solidFill>
            <a:srgbClr val="009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70" y="96476"/>
            <a:ext cx="295275" cy="1954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7" name="Elipsa 6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9" name="Prostokąt 8"/>
          <p:cNvSpPr/>
          <p:nvPr userDrawn="1"/>
        </p:nvSpPr>
        <p:spPr>
          <a:xfrm>
            <a:off x="-1" y="0"/>
            <a:ext cx="3800606" cy="6857999"/>
          </a:xfrm>
          <a:prstGeom prst="rect">
            <a:avLst/>
          </a:prstGeom>
          <a:solidFill>
            <a:srgbClr val="6679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70" y="96476"/>
            <a:ext cx="295275" cy="1954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4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7" name="Elipsa 6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Obraz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9" name="Prostokąt 8"/>
          <p:cNvSpPr/>
          <p:nvPr userDrawn="1"/>
        </p:nvSpPr>
        <p:spPr>
          <a:xfrm>
            <a:off x="-1" y="0"/>
            <a:ext cx="3800606" cy="6857999"/>
          </a:xfrm>
          <a:prstGeom prst="rect">
            <a:avLst/>
          </a:prstGeom>
          <a:solidFill>
            <a:srgbClr val="2C2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670" y="96476"/>
            <a:ext cx="295275" cy="1954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ostokąt 5"/>
          <p:cNvSpPr/>
          <p:nvPr userDrawn="1"/>
        </p:nvSpPr>
        <p:spPr>
          <a:xfrm>
            <a:off x="7791711" y="-3"/>
            <a:ext cx="3800606" cy="6857999"/>
          </a:xfrm>
          <a:prstGeom prst="rect">
            <a:avLst/>
          </a:prstGeom>
          <a:solidFill>
            <a:srgbClr val="7C4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9" name="Elipsa 8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9" name="Elipsa 8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11" name="Prostokąt 10"/>
          <p:cNvSpPr/>
          <p:nvPr userDrawn="1"/>
        </p:nvSpPr>
        <p:spPr>
          <a:xfrm>
            <a:off x="-1" y="0"/>
            <a:ext cx="3800606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Prostokąt 11"/>
          <p:cNvSpPr/>
          <p:nvPr userDrawn="1"/>
        </p:nvSpPr>
        <p:spPr>
          <a:xfrm>
            <a:off x="3895855" y="-1"/>
            <a:ext cx="3800606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7791711" y="-3"/>
            <a:ext cx="3800606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9" name="Elipsa 8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13" name="Prostokąt 12"/>
          <p:cNvSpPr/>
          <p:nvPr userDrawn="1"/>
        </p:nvSpPr>
        <p:spPr>
          <a:xfrm>
            <a:off x="0" y="6112564"/>
            <a:ext cx="11592317" cy="745431"/>
          </a:xfrm>
          <a:prstGeom prst="rect">
            <a:avLst/>
          </a:prstGeom>
          <a:solidFill>
            <a:srgbClr val="009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063" y="96476"/>
            <a:ext cx="295275" cy="1954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9" name="Elipsa 8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13" name="Prostokąt 12"/>
          <p:cNvSpPr/>
          <p:nvPr userDrawn="1"/>
        </p:nvSpPr>
        <p:spPr>
          <a:xfrm>
            <a:off x="0" y="6112564"/>
            <a:ext cx="11592317" cy="745431"/>
          </a:xfrm>
          <a:prstGeom prst="rect">
            <a:avLst/>
          </a:prstGeom>
          <a:solidFill>
            <a:srgbClr val="6679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063" y="96476"/>
            <a:ext cx="295275" cy="1954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9" name="Elipsa 8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13" name="Prostokąt 12"/>
          <p:cNvSpPr/>
          <p:nvPr userDrawn="1"/>
        </p:nvSpPr>
        <p:spPr>
          <a:xfrm>
            <a:off x="0" y="6112564"/>
            <a:ext cx="11592317" cy="745431"/>
          </a:xfrm>
          <a:prstGeom prst="rect">
            <a:avLst/>
          </a:prstGeom>
          <a:solidFill>
            <a:srgbClr val="2C2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063" y="96476"/>
            <a:ext cx="295275" cy="1954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 userDrawn="1"/>
        </p:nvSpPr>
        <p:spPr>
          <a:xfrm>
            <a:off x="11687568" y="-2"/>
            <a:ext cx="504432" cy="6857999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/>
          <p:cNvSpPr txBox="1"/>
          <p:nvPr userDrawn="1"/>
        </p:nvSpPr>
        <p:spPr>
          <a:xfrm>
            <a:off x="11754413" y="6468897"/>
            <a:ext cx="3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5B4EB64-54DE-40F8-9354-51A55C032A93}" type="slidenum">
              <a:rPr lang="pl-PL" sz="1200" b="1" smtClean="0">
                <a:solidFill>
                  <a:schemeClr val="bg1"/>
                </a:solidFill>
              </a:rPr>
            </a:fld>
            <a:endParaRPr lang="pl-PL" sz="1200" b="1">
              <a:solidFill>
                <a:schemeClr val="bg1"/>
              </a:solidFill>
            </a:endParaRPr>
          </a:p>
        </p:txBody>
      </p:sp>
      <p:sp>
        <p:nvSpPr>
          <p:cNvPr id="9" name="Elipsa 8"/>
          <p:cNvSpPr/>
          <p:nvPr userDrawn="1"/>
        </p:nvSpPr>
        <p:spPr>
          <a:xfrm>
            <a:off x="11779456" y="6457492"/>
            <a:ext cx="314093" cy="314093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753674" y="119063"/>
            <a:ext cx="364919" cy="402030"/>
          </a:xfrm>
          <a:prstGeom prst="rect">
            <a:avLst/>
          </a:prstGeom>
        </p:spPr>
      </p:pic>
      <p:sp>
        <p:nvSpPr>
          <p:cNvPr id="13" name="Prostokąt 12"/>
          <p:cNvSpPr/>
          <p:nvPr userDrawn="1"/>
        </p:nvSpPr>
        <p:spPr>
          <a:xfrm>
            <a:off x="0" y="6112564"/>
            <a:ext cx="11592317" cy="745431"/>
          </a:xfrm>
          <a:prstGeom prst="rect">
            <a:avLst/>
          </a:prstGeom>
          <a:solidFill>
            <a:srgbClr val="7C4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1" b="5642"/>
          <a:stretch>
            <a:fillRect/>
          </a:stretch>
        </p:blipFill>
        <p:spPr bwMode="auto">
          <a:xfrm>
            <a:off x="33867" y="-22907"/>
            <a:ext cx="10177040" cy="688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 7"/>
          <p:cNvSpPr/>
          <p:nvPr userDrawn="1"/>
        </p:nvSpPr>
        <p:spPr>
          <a:xfrm>
            <a:off x="7426037" y="2090058"/>
            <a:ext cx="4813464" cy="4797631"/>
          </a:xfrm>
          <a:custGeom>
            <a:avLst/>
            <a:gdLst>
              <a:gd name="connsiteX0" fmla="*/ 3598223 w 3610098"/>
              <a:gd name="connsiteY0" fmla="*/ 0 h 3598223"/>
              <a:gd name="connsiteX1" fmla="*/ 0 w 3610098"/>
              <a:gd name="connsiteY1" fmla="*/ 3598223 h 3598223"/>
              <a:gd name="connsiteX2" fmla="*/ 3610098 w 3610098"/>
              <a:gd name="connsiteY2" fmla="*/ 3598223 h 3598223"/>
              <a:gd name="connsiteX3" fmla="*/ 3598223 w 3610098"/>
              <a:gd name="connsiteY3" fmla="*/ 0 h 3598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10098" h="3598223">
                <a:moveTo>
                  <a:pt x="3598223" y="0"/>
                </a:moveTo>
                <a:lnTo>
                  <a:pt x="0" y="3598223"/>
                </a:lnTo>
                <a:lnTo>
                  <a:pt x="3610098" y="3598223"/>
                </a:lnTo>
                <a:cubicBezTo>
                  <a:pt x="3606140" y="2398815"/>
                  <a:pt x="3602181" y="1199408"/>
                  <a:pt x="3598223" y="0"/>
                </a:cubicBezTo>
                <a:close/>
              </a:path>
            </a:pathLst>
          </a:custGeom>
          <a:solidFill>
            <a:srgbClr val="2D4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 rot="2726259">
            <a:off x="9250075" y="3673121"/>
            <a:ext cx="678875" cy="678875"/>
          </a:xfrm>
          <a:prstGeom prst="rect">
            <a:avLst/>
          </a:prstGeom>
          <a:solidFill>
            <a:srgbClr val="F02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Freeform 9"/>
          <p:cNvSpPr/>
          <p:nvPr userDrawn="1"/>
        </p:nvSpPr>
        <p:spPr>
          <a:xfrm>
            <a:off x="6243320" y="-26247"/>
            <a:ext cx="3808307" cy="1923627"/>
          </a:xfrm>
          <a:custGeom>
            <a:avLst/>
            <a:gdLst>
              <a:gd name="connsiteX0" fmla="*/ 0 w 2849880"/>
              <a:gd name="connsiteY0" fmla="*/ 0 h 1432560"/>
              <a:gd name="connsiteX1" fmla="*/ 1432560 w 2849880"/>
              <a:gd name="connsiteY1" fmla="*/ 1432560 h 1432560"/>
              <a:gd name="connsiteX2" fmla="*/ 2849880 w 2849880"/>
              <a:gd name="connsiteY2" fmla="*/ 15240 h 1432560"/>
              <a:gd name="connsiteX3" fmla="*/ 0 w 2849880"/>
              <a:gd name="connsiteY3" fmla="*/ 0 h 1432560"/>
              <a:gd name="connsiteX0-1" fmla="*/ 0 w 2856230"/>
              <a:gd name="connsiteY0-2" fmla="*/ 10160 h 1442720"/>
              <a:gd name="connsiteX1-3" fmla="*/ 1432560 w 2856230"/>
              <a:gd name="connsiteY1-4" fmla="*/ 1442720 h 1442720"/>
              <a:gd name="connsiteX2-5" fmla="*/ 2856230 w 2856230"/>
              <a:gd name="connsiteY2-6" fmla="*/ 0 h 1442720"/>
              <a:gd name="connsiteX3-7" fmla="*/ 0 w 2856230"/>
              <a:gd name="connsiteY3-8" fmla="*/ 10160 h 144272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856230" h="1442720">
                <a:moveTo>
                  <a:pt x="0" y="10160"/>
                </a:moveTo>
                <a:lnTo>
                  <a:pt x="1432560" y="1442720"/>
                </a:lnTo>
                <a:lnTo>
                  <a:pt x="285623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F02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351197" y="0"/>
            <a:ext cx="1894840" cy="1899920"/>
            <a:chOff x="7753350" y="0"/>
            <a:chExt cx="1421130" cy="1424940"/>
          </a:xfrm>
        </p:grpSpPr>
        <p:sp>
          <p:nvSpPr>
            <p:cNvPr id="12" name="Freeform 11"/>
            <p:cNvSpPr/>
            <p:nvPr userDrawn="1"/>
          </p:nvSpPr>
          <p:spPr>
            <a:xfrm>
              <a:off x="8702040" y="487680"/>
              <a:ext cx="472440" cy="937260"/>
            </a:xfrm>
            <a:custGeom>
              <a:avLst/>
              <a:gdLst>
                <a:gd name="connsiteX0" fmla="*/ 472440 w 472440"/>
                <a:gd name="connsiteY0" fmla="*/ 0 h 937260"/>
                <a:gd name="connsiteX1" fmla="*/ 0 w 472440"/>
                <a:gd name="connsiteY1" fmla="*/ 472440 h 937260"/>
                <a:gd name="connsiteX2" fmla="*/ 464820 w 472440"/>
                <a:gd name="connsiteY2" fmla="*/ 937260 h 937260"/>
                <a:gd name="connsiteX3" fmla="*/ 472440 w 472440"/>
                <a:gd name="connsiteY3" fmla="*/ 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40" h="937260">
                  <a:moveTo>
                    <a:pt x="472440" y="0"/>
                  </a:moveTo>
                  <a:lnTo>
                    <a:pt x="0" y="472440"/>
                  </a:lnTo>
                  <a:lnTo>
                    <a:pt x="464820" y="937260"/>
                  </a:lnTo>
                  <a:lnTo>
                    <a:pt x="472440" y="0"/>
                  </a:lnTo>
                  <a:close/>
                </a:path>
              </a:pathLst>
            </a:custGeom>
            <a:solidFill>
              <a:srgbClr val="FBCF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Freeform 12"/>
            <p:cNvSpPr/>
            <p:nvPr userDrawn="1"/>
          </p:nvSpPr>
          <p:spPr>
            <a:xfrm>
              <a:off x="7753350" y="0"/>
              <a:ext cx="1381125" cy="857250"/>
            </a:xfrm>
            <a:custGeom>
              <a:avLst/>
              <a:gdLst>
                <a:gd name="connsiteX0" fmla="*/ 857250 w 1381125"/>
                <a:gd name="connsiteY0" fmla="*/ 857250 h 857250"/>
                <a:gd name="connsiteX1" fmla="*/ 0 w 1381125"/>
                <a:gd name="connsiteY1" fmla="*/ 0 h 857250"/>
                <a:gd name="connsiteX2" fmla="*/ 1381125 w 1381125"/>
                <a:gd name="connsiteY2" fmla="*/ 0 h 857250"/>
                <a:gd name="connsiteX3" fmla="*/ 1381125 w 1381125"/>
                <a:gd name="connsiteY3" fmla="*/ 314325 h 857250"/>
                <a:gd name="connsiteX4" fmla="*/ 857250 w 1381125"/>
                <a:gd name="connsiteY4" fmla="*/ 857250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1125" h="857250">
                  <a:moveTo>
                    <a:pt x="857250" y="857250"/>
                  </a:moveTo>
                  <a:lnTo>
                    <a:pt x="0" y="0"/>
                  </a:lnTo>
                  <a:lnTo>
                    <a:pt x="1381125" y="0"/>
                  </a:lnTo>
                  <a:lnTo>
                    <a:pt x="1381125" y="314325"/>
                  </a:lnTo>
                  <a:lnTo>
                    <a:pt x="857250" y="857250"/>
                  </a:lnTo>
                  <a:close/>
                </a:path>
              </a:pathLst>
            </a:custGeom>
            <a:solidFill>
              <a:srgbClr val="E46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14" name="Rectangle 13"/>
          <p:cNvSpPr/>
          <p:nvPr userDrawn="1"/>
        </p:nvSpPr>
        <p:spPr>
          <a:xfrm rot="18892660">
            <a:off x="8814626" y="638398"/>
            <a:ext cx="2724831" cy="2700172"/>
          </a:xfrm>
          <a:custGeom>
            <a:avLst/>
            <a:gdLst>
              <a:gd name="connsiteX0" fmla="*/ 0 w 2018369"/>
              <a:gd name="connsiteY0" fmla="*/ 0 h 2020089"/>
              <a:gd name="connsiteX1" fmla="*/ 2018369 w 2018369"/>
              <a:gd name="connsiteY1" fmla="*/ 0 h 2020089"/>
              <a:gd name="connsiteX2" fmla="*/ 2018369 w 2018369"/>
              <a:gd name="connsiteY2" fmla="*/ 2020089 h 2020089"/>
              <a:gd name="connsiteX3" fmla="*/ 0 w 2018369"/>
              <a:gd name="connsiteY3" fmla="*/ 2020089 h 2020089"/>
              <a:gd name="connsiteX4" fmla="*/ 0 w 2018369"/>
              <a:gd name="connsiteY4" fmla="*/ 0 h 2020089"/>
              <a:gd name="connsiteX0-1" fmla="*/ 0 w 2038561"/>
              <a:gd name="connsiteY0-2" fmla="*/ 0 h 2020089"/>
              <a:gd name="connsiteX1-3" fmla="*/ 2038561 w 2038561"/>
              <a:gd name="connsiteY1-4" fmla="*/ 6778 h 2020089"/>
              <a:gd name="connsiteX2-5" fmla="*/ 2018369 w 2038561"/>
              <a:gd name="connsiteY2-6" fmla="*/ 2020089 h 2020089"/>
              <a:gd name="connsiteX3-7" fmla="*/ 0 w 2038561"/>
              <a:gd name="connsiteY3-8" fmla="*/ 2020089 h 2020089"/>
              <a:gd name="connsiteX4-9" fmla="*/ 0 w 2038561"/>
              <a:gd name="connsiteY4-10" fmla="*/ 0 h 2020089"/>
              <a:gd name="connsiteX0-11" fmla="*/ 0 w 2038561"/>
              <a:gd name="connsiteY0-12" fmla="*/ 0 h 2020089"/>
              <a:gd name="connsiteX1-13" fmla="*/ 2038561 w 2038561"/>
              <a:gd name="connsiteY1-14" fmla="*/ 6778 h 2020089"/>
              <a:gd name="connsiteX2-15" fmla="*/ 2029599 w 2038561"/>
              <a:gd name="connsiteY2-16" fmla="*/ 2017867 h 2020089"/>
              <a:gd name="connsiteX3-17" fmla="*/ 0 w 2038561"/>
              <a:gd name="connsiteY3-18" fmla="*/ 2020089 h 2020089"/>
              <a:gd name="connsiteX4-19" fmla="*/ 0 w 2038561"/>
              <a:gd name="connsiteY4-20" fmla="*/ 0 h 2020089"/>
              <a:gd name="connsiteX0-21" fmla="*/ 0 w 2038561"/>
              <a:gd name="connsiteY0-22" fmla="*/ 0 h 2020089"/>
              <a:gd name="connsiteX1-23" fmla="*/ 2038561 w 2038561"/>
              <a:gd name="connsiteY1-24" fmla="*/ 6778 h 2020089"/>
              <a:gd name="connsiteX2-25" fmla="*/ 2029599 w 2038561"/>
              <a:gd name="connsiteY2-26" fmla="*/ 2017867 h 2020089"/>
              <a:gd name="connsiteX3-27" fmla="*/ 0 w 2038561"/>
              <a:gd name="connsiteY3-28" fmla="*/ 2020089 h 2020089"/>
              <a:gd name="connsiteX4-29" fmla="*/ 0 w 2038561"/>
              <a:gd name="connsiteY4-30" fmla="*/ 0 h 2020089"/>
              <a:gd name="connsiteX0-31" fmla="*/ 5062 w 2043623"/>
              <a:gd name="connsiteY0-32" fmla="*/ 0 h 2025129"/>
              <a:gd name="connsiteX1-33" fmla="*/ 2043623 w 2043623"/>
              <a:gd name="connsiteY1-34" fmla="*/ 6778 h 2025129"/>
              <a:gd name="connsiteX2-35" fmla="*/ 2034661 w 2043623"/>
              <a:gd name="connsiteY2-36" fmla="*/ 2017867 h 2025129"/>
              <a:gd name="connsiteX3-37" fmla="*/ 0 w 2043623"/>
              <a:gd name="connsiteY3-38" fmla="*/ 2025129 h 2025129"/>
              <a:gd name="connsiteX4-39" fmla="*/ 5062 w 2043623"/>
              <a:gd name="connsiteY4-40" fmla="*/ 0 h 2025129"/>
              <a:gd name="connsiteX0-41" fmla="*/ 5062 w 2043623"/>
              <a:gd name="connsiteY0-42" fmla="*/ 0 h 2025129"/>
              <a:gd name="connsiteX1-43" fmla="*/ 2043623 w 2043623"/>
              <a:gd name="connsiteY1-44" fmla="*/ 6778 h 2025129"/>
              <a:gd name="connsiteX2-45" fmla="*/ 2036333 w 2043623"/>
              <a:gd name="connsiteY2-46" fmla="*/ 2022922 h 2025129"/>
              <a:gd name="connsiteX3-47" fmla="*/ 0 w 2043623"/>
              <a:gd name="connsiteY3-48" fmla="*/ 2025129 h 2025129"/>
              <a:gd name="connsiteX4-49" fmla="*/ 5062 w 2043623"/>
              <a:gd name="connsiteY4-50" fmla="*/ 0 h 20251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043623" h="2025129">
                <a:moveTo>
                  <a:pt x="5062" y="0"/>
                </a:moveTo>
                <a:lnTo>
                  <a:pt x="2043623" y="6778"/>
                </a:lnTo>
                <a:cubicBezTo>
                  <a:pt x="2040636" y="677141"/>
                  <a:pt x="2039320" y="1352559"/>
                  <a:pt x="2036333" y="2022922"/>
                </a:cubicBezTo>
                <a:lnTo>
                  <a:pt x="0" y="2025129"/>
                </a:lnTo>
                <a:cubicBezTo>
                  <a:pt x="1687" y="1350086"/>
                  <a:pt x="3375" y="675043"/>
                  <a:pt x="5062" y="0"/>
                </a:cubicBezTo>
                <a:close/>
              </a:path>
            </a:pathLst>
          </a:custGeom>
          <a:solidFill>
            <a:srgbClr val="A014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-16934" y="6912179"/>
            <a:ext cx="2149235" cy="120013"/>
            <a:chOff x="1879954" y="3171485"/>
            <a:chExt cx="2016224" cy="18002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2294000" y="3171485"/>
              <a:ext cx="360040" cy="180020"/>
            </a:xfrm>
            <a:prstGeom prst="rect">
              <a:avLst/>
            </a:prstGeom>
            <a:solidFill>
              <a:srgbClr val="2D4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2708046" y="3171485"/>
              <a:ext cx="360040" cy="180020"/>
            </a:xfrm>
            <a:prstGeom prst="rect">
              <a:avLst/>
            </a:prstGeom>
            <a:solidFill>
              <a:srgbClr val="38E5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879954" y="3171485"/>
              <a:ext cx="360040" cy="180020"/>
            </a:xfrm>
            <a:prstGeom prst="rect">
              <a:avLst/>
            </a:prstGeom>
            <a:solidFill>
              <a:srgbClr val="F028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3122092" y="3171485"/>
              <a:ext cx="360040" cy="180020"/>
            </a:xfrm>
            <a:prstGeom prst="rect">
              <a:avLst/>
            </a:prstGeom>
            <a:solidFill>
              <a:srgbClr val="E46C0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3536138" y="3171485"/>
              <a:ext cx="360040" cy="18002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23" name="Picture 7" descr="C:\Users\sivamani.krishna\Desktop\Aspire Logo_white-png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357" y="5129237"/>
            <a:ext cx="2547273" cy="140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/>
          <p:cNvSpPr/>
          <p:nvPr userDrawn="1"/>
        </p:nvSpPr>
        <p:spPr>
          <a:xfrm>
            <a:off x="-16933" y="-26246"/>
            <a:ext cx="8801232" cy="6913935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1" name="Freeform 20"/>
          <p:cNvSpPr/>
          <p:nvPr userDrawn="1"/>
        </p:nvSpPr>
        <p:spPr>
          <a:xfrm rot="16200000">
            <a:off x="429721" y="-191846"/>
            <a:ext cx="330856" cy="675324"/>
          </a:xfrm>
          <a:custGeom>
            <a:avLst/>
            <a:gdLst>
              <a:gd name="connsiteX0" fmla="*/ 472440 w 472440"/>
              <a:gd name="connsiteY0" fmla="*/ 0 h 937260"/>
              <a:gd name="connsiteX1" fmla="*/ 0 w 472440"/>
              <a:gd name="connsiteY1" fmla="*/ 472440 h 937260"/>
              <a:gd name="connsiteX2" fmla="*/ 464820 w 472440"/>
              <a:gd name="connsiteY2" fmla="*/ 937260 h 937260"/>
              <a:gd name="connsiteX3" fmla="*/ 472440 w 472440"/>
              <a:gd name="connsiteY3" fmla="*/ 0 h 937260"/>
              <a:gd name="connsiteX0-1" fmla="*/ 419059 w 464820"/>
              <a:gd name="connsiteY0-2" fmla="*/ -1 h 937258"/>
              <a:gd name="connsiteX1-3" fmla="*/ 0 w 464820"/>
              <a:gd name="connsiteY1-4" fmla="*/ 472438 h 937258"/>
              <a:gd name="connsiteX2-5" fmla="*/ 464820 w 464820"/>
              <a:gd name="connsiteY2-6" fmla="*/ 937258 h 937258"/>
              <a:gd name="connsiteX3-7" fmla="*/ 419059 w 464820"/>
              <a:gd name="connsiteY3-8" fmla="*/ -1 h 937258"/>
              <a:gd name="connsiteX0-9" fmla="*/ 419059 w 419058"/>
              <a:gd name="connsiteY0-10" fmla="*/ 1 h 946159"/>
              <a:gd name="connsiteX1-11" fmla="*/ 0 w 419058"/>
              <a:gd name="connsiteY1-12" fmla="*/ 472440 h 946159"/>
              <a:gd name="connsiteX2-13" fmla="*/ 415893 w 419058"/>
              <a:gd name="connsiteY2-14" fmla="*/ 946160 h 946159"/>
              <a:gd name="connsiteX3-15" fmla="*/ 419059 w 419058"/>
              <a:gd name="connsiteY3-16" fmla="*/ 1 h 946159"/>
              <a:gd name="connsiteX0-17" fmla="*/ 463543 w 463544"/>
              <a:gd name="connsiteY0-18" fmla="*/ -1 h 946159"/>
              <a:gd name="connsiteX1-19" fmla="*/ -1 w 463544"/>
              <a:gd name="connsiteY1-20" fmla="*/ 516921 h 946159"/>
              <a:gd name="connsiteX2-21" fmla="*/ 460377 w 463544"/>
              <a:gd name="connsiteY2-22" fmla="*/ 946158 h 946159"/>
              <a:gd name="connsiteX3-23" fmla="*/ 463543 w 463544"/>
              <a:gd name="connsiteY3-24" fmla="*/ -1 h 9461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3544" h="946159">
                <a:moveTo>
                  <a:pt x="463543" y="-1"/>
                </a:moveTo>
                <a:lnTo>
                  <a:pt x="-1" y="516921"/>
                </a:lnTo>
                <a:lnTo>
                  <a:pt x="460377" y="946158"/>
                </a:lnTo>
                <a:cubicBezTo>
                  <a:pt x="461432" y="630772"/>
                  <a:pt x="462488" y="315385"/>
                  <a:pt x="463543" y="-1"/>
                </a:cubicBezTo>
                <a:close/>
              </a:path>
            </a:pathLst>
          </a:custGeom>
          <a:solidFill>
            <a:srgbClr val="EF69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Freeform 21"/>
          <p:cNvSpPr/>
          <p:nvPr userDrawn="1"/>
        </p:nvSpPr>
        <p:spPr>
          <a:xfrm rot="16200000">
            <a:off x="-236811" y="223944"/>
            <a:ext cx="992140" cy="545192"/>
          </a:xfrm>
          <a:custGeom>
            <a:avLst/>
            <a:gdLst>
              <a:gd name="connsiteX0" fmla="*/ 857250 w 1381125"/>
              <a:gd name="connsiteY0" fmla="*/ 857250 h 857250"/>
              <a:gd name="connsiteX1" fmla="*/ 0 w 1381125"/>
              <a:gd name="connsiteY1" fmla="*/ 0 h 857250"/>
              <a:gd name="connsiteX2" fmla="*/ 1381125 w 1381125"/>
              <a:gd name="connsiteY2" fmla="*/ 0 h 857250"/>
              <a:gd name="connsiteX3" fmla="*/ 1381125 w 1381125"/>
              <a:gd name="connsiteY3" fmla="*/ 314325 h 857250"/>
              <a:gd name="connsiteX4" fmla="*/ 857250 w 1381125"/>
              <a:gd name="connsiteY4" fmla="*/ 857250 h 857250"/>
              <a:gd name="connsiteX0-1" fmla="*/ 857250 w 1381125"/>
              <a:gd name="connsiteY0-2" fmla="*/ 857250 h 857250"/>
              <a:gd name="connsiteX1-3" fmla="*/ 0 w 1381125"/>
              <a:gd name="connsiteY1-4" fmla="*/ 0 h 857250"/>
              <a:gd name="connsiteX2-5" fmla="*/ 1372232 w 1381125"/>
              <a:gd name="connsiteY2-6" fmla="*/ 142345 h 857250"/>
              <a:gd name="connsiteX3-7" fmla="*/ 1381125 w 1381125"/>
              <a:gd name="connsiteY3-8" fmla="*/ 314325 h 857250"/>
              <a:gd name="connsiteX4-9" fmla="*/ 857250 w 1381125"/>
              <a:gd name="connsiteY4-10" fmla="*/ 857250 h 857250"/>
              <a:gd name="connsiteX0-11" fmla="*/ 883945 w 1407820"/>
              <a:gd name="connsiteY0-12" fmla="*/ 714906 h 714906"/>
              <a:gd name="connsiteX1-13" fmla="*/ 1 w 1407820"/>
              <a:gd name="connsiteY1-14" fmla="*/ 31142 h 714906"/>
              <a:gd name="connsiteX2-15" fmla="*/ 1398927 w 1407820"/>
              <a:gd name="connsiteY2-16" fmla="*/ 1 h 714906"/>
              <a:gd name="connsiteX3-17" fmla="*/ 1407820 w 1407820"/>
              <a:gd name="connsiteY3-18" fmla="*/ 171981 h 714906"/>
              <a:gd name="connsiteX4-19" fmla="*/ 883945 w 1407820"/>
              <a:gd name="connsiteY4-20" fmla="*/ 714906 h 714906"/>
              <a:gd name="connsiteX0-21" fmla="*/ 883943 w 1398924"/>
              <a:gd name="connsiteY0-22" fmla="*/ 714904 h 714904"/>
              <a:gd name="connsiteX1-23" fmla="*/ -1 w 1398924"/>
              <a:gd name="connsiteY1-24" fmla="*/ 31140 h 714904"/>
              <a:gd name="connsiteX2-25" fmla="*/ 1398925 w 1398924"/>
              <a:gd name="connsiteY2-26" fmla="*/ -1 h 714904"/>
              <a:gd name="connsiteX3-27" fmla="*/ 1398922 w 1398924"/>
              <a:gd name="connsiteY3-28" fmla="*/ 176429 h 714904"/>
              <a:gd name="connsiteX4-29" fmla="*/ 883943 w 1398924"/>
              <a:gd name="connsiteY4-30" fmla="*/ 714904 h 714904"/>
              <a:gd name="connsiteX0-31" fmla="*/ 883945 w 1398924"/>
              <a:gd name="connsiteY0-32" fmla="*/ 701560 h 701560"/>
              <a:gd name="connsiteX1-33" fmla="*/ 1 w 1398924"/>
              <a:gd name="connsiteY1-34" fmla="*/ 17796 h 701560"/>
              <a:gd name="connsiteX2-35" fmla="*/ 1390031 w 1398924"/>
              <a:gd name="connsiteY2-36" fmla="*/ -1 h 701560"/>
              <a:gd name="connsiteX3-37" fmla="*/ 1398924 w 1398924"/>
              <a:gd name="connsiteY3-38" fmla="*/ 163085 h 701560"/>
              <a:gd name="connsiteX4-39" fmla="*/ 883945 w 1398924"/>
              <a:gd name="connsiteY4-40" fmla="*/ 701560 h 701560"/>
              <a:gd name="connsiteX0-41" fmla="*/ 883943 w 1398922"/>
              <a:gd name="connsiteY0-42" fmla="*/ 701562 h 701562"/>
              <a:gd name="connsiteX1-43" fmla="*/ -1 w 1398922"/>
              <a:gd name="connsiteY1-44" fmla="*/ 17798 h 701562"/>
              <a:gd name="connsiteX2-45" fmla="*/ 1390029 w 1398922"/>
              <a:gd name="connsiteY2-46" fmla="*/ 1 h 701562"/>
              <a:gd name="connsiteX3-47" fmla="*/ 1398922 w 1398922"/>
              <a:gd name="connsiteY3-48" fmla="*/ 158640 h 701562"/>
              <a:gd name="connsiteX4-49" fmla="*/ 883943 w 1398922"/>
              <a:gd name="connsiteY4-50" fmla="*/ 701562 h 701562"/>
              <a:gd name="connsiteX0-51" fmla="*/ 883945 w 1398924"/>
              <a:gd name="connsiteY0-52" fmla="*/ 701560 h 701560"/>
              <a:gd name="connsiteX1-53" fmla="*/ 1 w 1398924"/>
              <a:gd name="connsiteY1-54" fmla="*/ 17796 h 701560"/>
              <a:gd name="connsiteX2-55" fmla="*/ 1390031 w 1398924"/>
              <a:gd name="connsiteY2-56" fmla="*/ -1 h 701560"/>
              <a:gd name="connsiteX3-57" fmla="*/ 1398924 w 1398924"/>
              <a:gd name="connsiteY3-58" fmla="*/ 158638 h 701560"/>
              <a:gd name="connsiteX4-59" fmla="*/ 883945 w 1398924"/>
              <a:gd name="connsiteY4-60" fmla="*/ 701560 h 701560"/>
              <a:gd name="connsiteX0-61" fmla="*/ 883943 w 1390028"/>
              <a:gd name="connsiteY0-62" fmla="*/ 701562 h 701562"/>
              <a:gd name="connsiteX1-63" fmla="*/ -1 w 1390028"/>
              <a:gd name="connsiteY1-64" fmla="*/ 17798 h 701562"/>
              <a:gd name="connsiteX2-65" fmla="*/ 1390029 w 1390028"/>
              <a:gd name="connsiteY2-66" fmla="*/ 1 h 701562"/>
              <a:gd name="connsiteX3-67" fmla="*/ 1390026 w 1390028"/>
              <a:gd name="connsiteY3-68" fmla="*/ 163088 h 701562"/>
              <a:gd name="connsiteX4-69" fmla="*/ 883943 w 1390028"/>
              <a:gd name="connsiteY4-70" fmla="*/ 701562 h 701562"/>
              <a:gd name="connsiteX0-71" fmla="*/ 826118 w 1390032"/>
              <a:gd name="connsiteY0-72" fmla="*/ 763840 h 763839"/>
              <a:gd name="connsiteX1-73" fmla="*/ 1 w 1390032"/>
              <a:gd name="connsiteY1-74" fmla="*/ 17796 h 763839"/>
              <a:gd name="connsiteX2-75" fmla="*/ 1390031 w 1390032"/>
              <a:gd name="connsiteY2-76" fmla="*/ -1 h 763839"/>
              <a:gd name="connsiteX3-77" fmla="*/ 1390028 w 1390032"/>
              <a:gd name="connsiteY3-78" fmla="*/ 163086 h 763839"/>
              <a:gd name="connsiteX4-79" fmla="*/ 826118 w 1390032"/>
              <a:gd name="connsiteY4-80" fmla="*/ 763840 h 7638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390032" h="763839">
                <a:moveTo>
                  <a:pt x="826118" y="763840"/>
                </a:moveTo>
                <a:lnTo>
                  <a:pt x="1" y="17796"/>
                </a:lnTo>
                <a:lnTo>
                  <a:pt x="1390031" y="-1"/>
                </a:lnTo>
                <a:cubicBezTo>
                  <a:pt x="1390030" y="54361"/>
                  <a:pt x="1390029" y="108724"/>
                  <a:pt x="1390028" y="163086"/>
                </a:cubicBezTo>
                <a:lnTo>
                  <a:pt x="826118" y="763840"/>
                </a:lnTo>
                <a:close/>
              </a:path>
            </a:pathLst>
          </a:custGeom>
          <a:solidFill>
            <a:srgbClr val="F02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  <a:endParaRPr lang="pl-PL"/>
          </a:p>
          <a:p>
            <a:pPr lvl="1"/>
            <a:r>
              <a:rPr lang="pl-PL"/>
              <a:t>Drugi poziom</a:t>
            </a:r>
            <a:endParaRPr lang="pl-PL"/>
          </a:p>
          <a:p>
            <a:pPr lvl="2"/>
            <a:r>
              <a:rPr lang="pl-PL"/>
              <a:t>Trzeci poziom</a:t>
            </a:r>
            <a:endParaRPr lang="pl-PL"/>
          </a:p>
          <a:p>
            <a:pPr lvl="3"/>
            <a:r>
              <a:rPr lang="pl-PL"/>
              <a:t>Czwarty poziom</a:t>
            </a:r>
            <a:endParaRPr lang="pl-PL"/>
          </a:p>
          <a:p>
            <a:pPr lvl="4"/>
            <a:r>
              <a:rPr lang="pl-PL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F3A45-4131-4C68-BB39-D3F8EAB9DEEF}" type="datetimeFigureOut">
              <a:rPr lang="pl-PL" smtClean="0"/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26091-AD43-42BA-8E53-AE16B624381F}" type="slidenum">
              <a:rPr lang="pl-PL" smtClean="0"/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7.xml"/><Relationship Id="rId7" Type="http://schemas.openxmlformats.org/officeDocument/2006/relationships/image" Target="../media/image8.emf"/><Relationship Id="rId6" Type="http://schemas.openxmlformats.org/officeDocument/2006/relationships/package" Target="../embeddings/Workbook1.xlsx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14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7.xml"/><Relationship Id="rId4" Type="http://schemas.openxmlformats.org/officeDocument/2006/relationships/diagramColors" Target="../diagrams/colors7.xml"/><Relationship Id="rId3" Type="http://schemas.openxmlformats.org/officeDocument/2006/relationships/diagramQuickStyle" Target="../diagrams/quickStyle7.xml"/><Relationship Id="rId2" Type="http://schemas.openxmlformats.org/officeDocument/2006/relationships/diagramLayout" Target="../diagrams/layout7.xml"/><Relationship Id="rId1" Type="http://schemas.openxmlformats.org/officeDocument/2006/relationships/diagramData" Target="../diagrams/data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.emf"/><Relationship Id="rId6" Type="http://schemas.openxmlformats.org/officeDocument/2006/relationships/package" Target="../embeddings/Workbook2.xlsx"/><Relationship Id="rId5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3" Type="http://schemas.openxmlformats.org/officeDocument/2006/relationships/diagramQuickStyle" Target="../diagrams/quickStyle9.xml"/><Relationship Id="rId2" Type="http://schemas.openxmlformats.org/officeDocument/2006/relationships/diagramLayout" Target="../diagrams/layout9.xml"/><Relationship Id="rId10" Type="http://schemas.openxmlformats.org/officeDocument/2006/relationships/notesSlide" Target="../notesSlides/notesSlide4.xml"/><Relationship Id="rId1" Type="http://schemas.openxmlformats.org/officeDocument/2006/relationships/diagramData" Target="../diagrams/data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0.xml"/><Relationship Id="rId4" Type="http://schemas.openxmlformats.org/officeDocument/2006/relationships/diagramColors" Target="../diagrams/colors10.xml"/><Relationship Id="rId3" Type="http://schemas.openxmlformats.org/officeDocument/2006/relationships/diagramQuickStyle" Target="../diagrams/quickStyle10.xml"/><Relationship Id="rId2" Type="http://schemas.openxmlformats.org/officeDocument/2006/relationships/diagramLayout" Target="../diagrams/layout10.xml"/><Relationship Id="rId1" Type="http://schemas.openxmlformats.org/officeDocument/2006/relationships/diagramData" Target="../diagrams/data10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1.xml"/><Relationship Id="rId4" Type="http://schemas.openxmlformats.org/officeDocument/2006/relationships/diagramColors" Target="../diagrams/colors11.xml"/><Relationship Id="rId3" Type="http://schemas.openxmlformats.org/officeDocument/2006/relationships/diagramQuickStyle" Target="../diagrams/quickStyle11.xml"/><Relationship Id="rId2" Type="http://schemas.openxmlformats.org/officeDocument/2006/relationships/diagramLayout" Target="../diagrams/layout11.xml"/><Relationship Id="rId1" Type="http://schemas.openxmlformats.org/officeDocument/2006/relationships/diagramData" Target="../diagrams/data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emf"/><Relationship Id="rId6" Type="http://schemas.openxmlformats.org/officeDocument/2006/relationships/package" Target="../embeddings/Workbook3.xlsx"/><Relationship Id="rId5" Type="http://schemas.microsoft.com/office/2007/relationships/diagramDrawing" Target="../diagrams/drawing12.xml"/><Relationship Id="rId4" Type="http://schemas.openxmlformats.org/officeDocument/2006/relationships/diagramColors" Target="../diagrams/colors12.xml"/><Relationship Id="rId3" Type="http://schemas.openxmlformats.org/officeDocument/2006/relationships/diagramQuickStyle" Target="../diagrams/quickStyle12.xml"/><Relationship Id="rId2" Type="http://schemas.openxmlformats.org/officeDocument/2006/relationships/diagramLayout" Target="../diagrams/layout12.xml"/><Relationship Id="rId10" Type="http://schemas.openxmlformats.org/officeDocument/2006/relationships/notesSlide" Target="../notesSlides/notesSlide5.xml"/><Relationship Id="rId1" Type="http://schemas.openxmlformats.org/officeDocument/2006/relationships/diagramData" Target="../diagrams/data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chart" Target="../charts/chart4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3.xml"/><Relationship Id="rId4" Type="http://schemas.openxmlformats.org/officeDocument/2006/relationships/diagramColors" Target="../diagrams/colors13.xml"/><Relationship Id="rId3" Type="http://schemas.openxmlformats.org/officeDocument/2006/relationships/diagramQuickStyle" Target="../diagrams/quickStyle13.xml"/><Relationship Id="rId2" Type="http://schemas.openxmlformats.org/officeDocument/2006/relationships/diagramLayout" Target="../diagrams/layout13.xml"/><Relationship Id="rId1" Type="http://schemas.openxmlformats.org/officeDocument/2006/relationships/diagramData" Target="../diagrams/data13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4.xml"/><Relationship Id="rId4" Type="http://schemas.openxmlformats.org/officeDocument/2006/relationships/diagramColors" Target="../diagrams/colors14.xml"/><Relationship Id="rId3" Type="http://schemas.openxmlformats.org/officeDocument/2006/relationships/diagramQuickStyle" Target="../diagrams/quickStyle14.xml"/><Relationship Id="rId2" Type="http://schemas.openxmlformats.org/officeDocument/2006/relationships/diagramLayout" Target="../diagrams/layout14.xml"/><Relationship Id="rId1" Type="http://schemas.openxmlformats.org/officeDocument/2006/relationships/diagramData" Target="../diagrams/data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5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5.xml"/><Relationship Id="rId4" Type="http://schemas.openxmlformats.org/officeDocument/2006/relationships/diagramColors" Target="../diagrams/colors15.xml"/><Relationship Id="rId3" Type="http://schemas.openxmlformats.org/officeDocument/2006/relationships/diagramQuickStyle" Target="../diagrams/quickStyle15.xml"/><Relationship Id="rId2" Type="http://schemas.openxmlformats.org/officeDocument/2006/relationships/diagramLayout" Target="../diagrams/layout15.xml"/><Relationship Id="rId1" Type="http://schemas.openxmlformats.org/officeDocument/2006/relationships/diagramData" Target="../diagrams/data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6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6.xml"/><Relationship Id="rId4" Type="http://schemas.openxmlformats.org/officeDocument/2006/relationships/diagramColors" Target="../diagrams/colors16.xml"/><Relationship Id="rId3" Type="http://schemas.openxmlformats.org/officeDocument/2006/relationships/diagramQuickStyle" Target="../diagrams/quickStyle16.xml"/><Relationship Id="rId2" Type="http://schemas.openxmlformats.org/officeDocument/2006/relationships/diagramLayout" Target="../diagrams/layout16.xml"/><Relationship Id="rId1" Type="http://schemas.openxmlformats.org/officeDocument/2006/relationships/diagramData" Target="../diagrams/data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7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microsoft.com/office/2007/relationships/diagramDrawing" Target="../diagrams/drawing17.xml"/><Relationship Id="rId4" Type="http://schemas.openxmlformats.org/officeDocument/2006/relationships/diagramColors" Target="../diagrams/colors17.xml"/><Relationship Id="rId3" Type="http://schemas.openxmlformats.org/officeDocument/2006/relationships/diagramQuickStyle" Target="../diagrams/quickStyle17.xml"/><Relationship Id="rId2" Type="http://schemas.openxmlformats.org/officeDocument/2006/relationships/diagramLayout" Target="../diagrams/layout17.xml"/><Relationship Id="rId1" Type="http://schemas.openxmlformats.org/officeDocument/2006/relationships/diagramData" Target="../diagrams/data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8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chart" Target="../charts/chart8.xml"/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chart" Target="../charts/char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/>
          <p:cNvSpPr txBox="1"/>
          <p:nvPr/>
        </p:nvSpPr>
        <p:spPr>
          <a:xfrm>
            <a:off x="804672" y="4007335"/>
            <a:ext cx="6455833" cy="1497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800" i="1" dirty="0"/>
              <a:t>Aspire – Belk QA MSR</a:t>
            </a:r>
            <a:endParaRPr lang="en-US" sz="4800" i="1" dirty="0"/>
          </a:p>
          <a:p>
            <a:pPr algn="ctr"/>
            <a:r>
              <a:rPr lang="en-US" sz="3200" i="1" dirty="0"/>
              <a:t>[March- 2026]</a:t>
            </a:r>
            <a:endParaRPr lang="en-US" sz="3200" i="1" dirty="0"/>
          </a:p>
        </p:txBody>
      </p:sp>
      <p:sp>
        <p:nvSpPr>
          <p:cNvPr id="55" name="Freeform: Shape 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Freeform: Shap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Freeform: Shap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1875" y="750104"/>
            <a:ext cx="2438400" cy="1054607"/>
          </a:xfrm>
          <a:prstGeom prst="rect">
            <a:avLst/>
          </a:prstGeom>
        </p:spPr>
      </p:pic>
      <p:sp>
        <p:nvSpPr>
          <p:cNvPr id="61" name="Freeform: Shape 6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hqprint"/>
          <a:stretch>
            <a:fillRect/>
          </a:stretch>
        </p:blipFill>
        <p:spPr>
          <a:xfrm>
            <a:off x="9103891" y="5029200"/>
            <a:ext cx="2691870" cy="153352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1047750" y="2659559"/>
            <a:ext cx="9725025" cy="7683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eCom</a:t>
            </a:r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QA MSR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– March 2026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 err="1">
                <a:solidFill>
                  <a:prstClr val="white"/>
                </a:solidFill>
                <a:latin typeface="Calibri" panose="020F0502020204030204"/>
              </a:rPr>
              <a:t>eCom</a:t>
            </a:r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 QA Updates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3818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eCom</a:t>
            </a:r>
            <a:r>
              <a:rPr lang="en-US" b="1" dirty="0"/>
              <a:t> QA Activities performed in March 2026</a:t>
            </a:r>
            <a:endParaRPr lang="en-US" b="1" dirty="0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9090" y="1161415"/>
          <a:ext cx="9276080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8460740"/>
              </a:tblGrid>
              <a:tr h="3397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S. No 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General(Smoke) Regression in development-web</a:t>
                      </a:r>
                      <a:endParaRPr 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Release Regression testing  in different combinations of browsers</a:t>
                      </a:r>
                      <a:endParaRPr 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Release Story/Defect </a:t>
                      </a:r>
                      <a:r>
                        <a:rPr lang="en-US" sz="12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tickets Validation for Espresso.2, Espresso.4 &amp; Latte Release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/>
                        <a:t>Release</a:t>
                      </a:r>
                      <a:r>
                        <a:rPr lang="en-US" sz="1200" baseline="0" dirty="0"/>
                        <a:t> </a:t>
                      </a:r>
                      <a:r>
                        <a:rPr lang="en-US" sz="1200" dirty="0"/>
                        <a:t>based Test Scenarios preparation for new functionalities</a:t>
                      </a:r>
                      <a:endParaRPr lang="en-US" sz="1200" dirty="0"/>
                    </a:p>
                  </a:txBody>
                  <a:tcPr/>
                </a:tc>
              </a:tr>
              <a:tr h="3361055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Validated the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Major Changes</a:t>
                      </a:r>
                      <a:endParaRPr lang="en-US" sz="1200" b="1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CMS Validation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Checkout Validation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Account Delete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Salesfloor Widget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Bag &amp; Pre-Order changes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DY Quizes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Gladly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Google Tag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Personalisation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PLP(Stylitics, Clearance hide content, foundation finder)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Others(header change(coupon&amp; deals, footer, synchrony-link/unlink, Lily AI, Shopping Asst)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SEO - Browse &amp;Sarch regression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dirty="0">
                          <a:solidFill>
                            <a:schemeClr val="tx1"/>
                          </a:solidFill>
                          <a:sym typeface="+mn-ea"/>
                        </a:rPr>
                        <a:t>Shopping Bag &amp; Checkout Ordering</a:t>
                      </a: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en-US" sz="12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marL="72000"/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679305" y="1195070"/>
          <a:ext cx="1795780" cy="1234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9578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eCom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Releases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035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Espresso.2</a:t>
                      </a:r>
                      <a:endParaRPr kumimoji="0" lang="en-US" alt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35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Espresso.4</a:t>
                      </a:r>
                      <a:endParaRPr kumimoji="0" lang="en-US" alt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35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Latte</a:t>
                      </a:r>
                      <a:endParaRPr kumimoji="0" lang="en-US" alt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eCom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eCom QA Story/Defect Summary</a:t>
            </a:r>
            <a:endParaRPr lang="en-US" b="1"/>
          </a:p>
        </p:txBody>
      </p:sp>
      <p:sp>
        <p:nvSpPr>
          <p:cNvPr id="92" name="TextBox 91"/>
          <p:cNvSpPr txBox="1"/>
          <p:nvPr/>
        </p:nvSpPr>
        <p:spPr>
          <a:xfrm>
            <a:off x="4905964" y="1551698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Story/Defects Verification Report</a:t>
            </a:r>
            <a:endParaRPr lang="en-US" sz="1200" b="1" u="sng" dirty="0"/>
          </a:p>
        </p:txBody>
      </p:sp>
      <p:sp>
        <p:nvSpPr>
          <p:cNvPr id="96" name="TextBox 95"/>
          <p:cNvSpPr txBox="1"/>
          <p:nvPr/>
        </p:nvSpPr>
        <p:spPr>
          <a:xfrm>
            <a:off x="9488393" y="1621078"/>
            <a:ext cx="1951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Avg Ticket Re-open Rate</a:t>
            </a:r>
            <a:endParaRPr lang="en-US" sz="1200" b="1" u="sng"/>
          </a:p>
        </p:txBody>
      </p:sp>
      <p:cxnSp>
        <p:nvCxnSpPr>
          <p:cNvPr id="97" name="Straight Connector 96"/>
          <p:cNvCxnSpPr/>
          <p:nvPr/>
        </p:nvCxnSpPr>
        <p:spPr>
          <a:xfrm flipH="1">
            <a:off x="3777491" y="1585746"/>
            <a:ext cx="13558" cy="4326773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9229725" y="1621079"/>
            <a:ext cx="18778" cy="3955597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043858" y="3011268"/>
            <a:ext cx="1160012" cy="907736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4"/>
          <p:cNvSpPr txBox="1"/>
          <p:nvPr/>
        </p:nvSpPr>
        <p:spPr>
          <a:xfrm>
            <a:off x="10213737" y="3173407"/>
            <a:ext cx="820253" cy="64186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solidFill>
                  <a:schemeClr val="tx1"/>
                </a:solidFill>
              </a:rPr>
              <a:t>21.36 %</a:t>
            </a:r>
            <a:endParaRPr lang="en-IN" b="1" kern="1200" dirty="0">
              <a:solidFill>
                <a:schemeClr val="tx1"/>
              </a:solidFill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4132213" y="1898077"/>
          <a:ext cx="4688706" cy="2832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31456" y="3047260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Test Scenarios Prepared</a:t>
            </a:r>
            <a:endParaRPr lang="en-US" sz="1200" b="1" u="sng"/>
          </a:p>
        </p:txBody>
      </p:sp>
      <p:grpSp>
        <p:nvGrpSpPr>
          <p:cNvPr id="3" name="Group 2"/>
          <p:cNvGrpSpPr/>
          <p:nvPr/>
        </p:nvGrpSpPr>
        <p:grpSpPr>
          <a:xfrm>
            <a:off x="510152" y="1550414"/>
            <a:ext cx="2799619" cy="1208380"/>
            <a:chOff x="376250" y="3425026"/>
            <a:chExt cx="2799619" cy="1208380"/>
          </a:xfrm>
        </p:grpSpPr>
        <p:sp>
          <p:nvSpPr>
            <p:cNvPr id="90" name="TextBox 89"/>
            <p:cNvSpPr txBox="1"/>
            <p:nvPr/>
          </p:nvSpPr>
          <p:spPr>
            <a:xfrm>
              <a:off x="376250" y="3425026"/>
              <a:ext cx="27996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/>
                <a:t>New</a:t>
              </a:r>
              <a:r>
                <a:rPr lang="en-US" sz="1100" b="1" u="sng"/>
                <a:t> </a:t>
              </a:r>
              <a:r>
                <a:rPr lang="en-US" sz="1200" b="1" u="sng"/>
                <a:t>Defects</a:t>
              </a:r>
              <a:r>
                <a:rPr lang="en-US" sz="1100" b="1" u="sng"/>
                <a:t> </a:t>
              </a:r>
              <a:r>
                <a:rPr lang="en-US" sz="1200" b="1" u="sng"/>
                <a:t>Report</a:t>
              </a:r>
              <a:endParaRPr lang="en-US" sz="1200" b="1" u="sng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1228223" y="3949962"/>
              <a:ext cx="1095672" cy="683444"/>
            </a:xfrm>
            <a:custGeom>
              <a:avLst/>
              <a:gdLst>
                <a:gd name="connsiteX0" fmla="*/ 0 w 928810"/>
                <a:gd name="connsiteY0" fmla="*/ 350887 h 701773"/>
                <a:gd name="connsiteX1" fmla="*/ 464405 w 928810"/>
                <a:gd name="connsiteY1" fmla="*/ 0 h 701773"/>
                <a:gd name="connsiteX2" fmla="*/ 928810 w 928810"/>
                <a:gd name="connsiteY2" fmla="*/ 350887 h 701773"/>
                <a:gd name="connsiteX3" fmla="*/ 464405 w 928810"/>
                <a:gd name="connsiteY3" fmla="*/ 701774 h 701773"/>
                <a:gd name="connsiteX4" fmla="*/ 0 w 928810"/>
                <a:gd name="connsiteY4" fmla="*/ 350887 h 70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810" h="701773">
                  <a:moveTo>
                    <a:pt x="0" y="350887"/>
                  </a:moveTo>
                  <a:cubicBezTo>
                    <a:pt x="0" y="157097"/>
                    <a:pt x="207921" y="0"/>
                    <a:pt x="464405" y="0"/>
                  </a:cubicBezTo>
                  <a:cubicBezTo>
                    <a:pt x="720889" y="0"/>
                    <a:pt x="928810" y="157097"/>
                    <a:pt x="928810" y="350887"/>
                  </a:cubicBezTo>
                  <a:cubicBezTo>
                    <a:pt x="928810" y="544677"/>
                    <a:pt x="720889" y="701774"/>
                    <a:pt x="464405" y="701774"/>
                  </a:cubicBezTo>
                  <a:cubicBezTo>
                    <a:pt x="207921" y="701774"/>
                    <a:pt x="0" y="544677"/>
                    <a:pt x="0" y="35088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721" tIns="115472" rIns="148721" bIns="115472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Defects</a:t>
              </a:r>
              <a:endParaRPr lang="en-US" sz="1400" b="1" kern="1200" dirty="0">
                <a:solidFill>
                  <a:schemeClr val="tx1"/>
                </a:solidFill>
              </a:endParaRP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IN" sz="1400" b="1" kern="1200" dirty="0">
                  <a:solidFill>
                    <a:schemeClr val="tx1"/>
                  </a:solidFill>
                </a:rPr>
                <a:t>546</a:t>
              </a:r>
              <a:endParaRPr lang="en-US" altLang="en-IN" sz="1400" b="1" kern="12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9" name="Table 4"/>
          <p:cNvGraphicFramePr>
            <a:graphicFrameLocks noGrp="1"/>
          </p:cNvGraphicFramePr>
          <p:nvPr/>
        </p:nvGraphicFramePr>
        <p:xfrm>
          <a:off x="245181" y="4966029"/>
          <a:ext cx="3344929" cy="6106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08721"/>
                <a:gridCol w="936208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Regression</a:t>
                      </a:r>
                      <a:r>
                        <a:rPr lang="en-US" sz="1400" baseline="0"/>
                        <a:t> Execution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0584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eCom Cases Executed (P1,</a:t>
                      </a:r>
                      <a:r>
                        <a:rPr lang="en-IN" sz="1400" u="none" strike="noStrike" baseline="0">
                          <a:effectLst/>
                        </a:rPr>
                        <a:t> P2)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1540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78865" y="3503930"/>
            <a:ext cx="1583690" cy="1184910"/>
          </a:xfrm>
          <a:prstGeom prst="ellipse">
            <a:avLst/>
          </a:prstGeom>
          <a:solidFill>
            <a:schemeClr val="accent5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Test Scenarios</a:t>
            </a:r>
            <a:endParaRPr lang="en-US" b="1"/>
          </a:p>
          <a:p>
            <a:pPr algn="ctr"/>
            <a:r>
              <a:rPr lang="en-US" b="1"/>
              <a:t>1468</a:t>
            </a:r>
            <a:endParaRPr lang="en-US" b="1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19366" y="4562804"/>
          <a:ext cx="1178876" cy="1013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Worksheet" showAsIcon="1" r:id="rId6" imgW="839470" imgH="741045" progId="Excel.Sheet.12">
                  <p:embed/>
                </p:oleObj>
              </mc:Choice>
              <mc:Fallback>
                <p:oleObj name="Worksheet" showAsIcon="1" r:id="rId6" imgW="839470" imgH="741045" progId="Excel.Sheet.12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19366" y="4562804"/>
                        <a:ext cx="1178876" cy="1013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2183110" y="5419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prstClr val="white"/>
                </a:solidFill>
              </a:rPr>
              <a:t>Monthly Trend - Release Based Details [eCom Website]</a:t>
            </a:r>
            <a:endParaRPr lang="en-IN" b="1">
              <a:solidFill>
                <a:prstClr val="white"/>
              </a:solidFill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155575" y="1109980"/>
          <a:ext cx="11305540" cy="4756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 err="1">
                <a:solidFill>
                  <a:prstClr val="white"/>
                </a:solidFill>
                <a:latin typeface="Calibri" panose="020F0502020204030204"/>
              </a:rPr>
              <a:t>eCom</a:t>
            </a:r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 QA Updates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eCom</a:t>
            </a:r>
            <a:r>
              <a:rPr lang="en-US" b="1" dirty="0"/>
              <a:t> QA -Plan for April 2026</a:t>
            </a:r>
            <a:endParaRPr lang="en-US" b="1" dirty="0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7185" y="1201420"/>
          <a:ext cx="879348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78867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S. No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Release Regression testing  in different browsers/devices</a:t>
                      </a:r>
                      <a:endParaRPr 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General(Smoke) Regression in development-web</a:t>
                      </a:r>
                      <a:endParaRPr 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Major Scope for Emerald: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CMS Validation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Cappuccinno Stories/Defects Validation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Rokt+ Payment Integration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Remove 'how to get it' section until SKU selected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Gladly Chat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Firing Custom Event upon click on Product link on Quick Add modal.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Checkout Footer design is not appearing similar to Figma design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Remove the item count from bag icon in the header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Order Confirmation &gt; Order Summary Details order should match review page figma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Create Attentive SMS Landing Page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MyAccount Backend Validation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Order Confirmation| Price details breakdown link should be displayed in order confirmation page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Sequence of items in Mini Bag should match the sequence in Main Bag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>
                          <a:sym typeface="+mn-ea"/>
                        </a:rPr>
                        <a:t>Test Scenarios preparation for new functionalities. Test Scenario</a:t>
                      </a:r>
                      <a:r>
                        <a:rPr lang="en-US" sz="1200">
                          <a:sym typeface="+mn-ea"/>
                        </a:rPr>
                        <a:t>/Test case </a:t>
                      </a:r>
                      <a:r>
                        <a:rPr lang="en-US" sz="1200" dirty="0">
                          <a:sym typeface="+mn-ea"/>
                        </a:rPr>
                        <a:t>update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Documentation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Automation</a:t>
                      </a:r>
                      <a:r>
                        <a:rPr lang="en-US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Support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286042" y="1342124"/>
          <a:ext cx="2297651" cy="975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97651"/>
              </a:tblGrid>
              <a:tr h="2412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eCom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Release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Latte.2</a:t>
                      </a:r>
                      <a:endParaRPr lang="en-US" altLang="en-IN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Cappuccinno</a:t>
                      </a:r>
                      <a:endParaRPr lang="en-US" altLang="en-US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Rectangle 2"/>
          <p:cNvSpPr/>
          <p:nvPr/>
        </p:nvSpPr>
        <p:spPr>
          <a:xfrm>
            <a:off x="348615" y="2941320"/>
            <a:ext cx="10916285" cy="9747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algn="ctr"/>
            <a:r>
              <a:rPr lang="en-US" altLang="en-IN" sz="4400" b="1">
                <a:solidFill>
                  <a:srgbClr val="8C5AA5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Belk QA Automation</a:t>
            </a:r>
            <a:r>
              <a:rPr lang="en-IN" sz="4400" b="1">
                <a:solidFill>
                  <a:srgbClr val="8C5AA5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MSR</a:t>
            </a:r>
            <a:r>
              <a:rPr lang="en-US" sz="4400" b="1">
                <a:solidFill>
                  <a:srgbClr val="8C5AA5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- March 2026</a:t>
            </a:r>
            <a:endParaRPr lang="en-US" sz="4400" b="1">
              <a:solidFill>
                <a:srgbClr val="8C5AA5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Belk Automation</a:t>
            </a:r>
            <a:endParaRPr lang="en-US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1620" y="712470"/>
          <a:ext cx="11089640" cy="368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9640"/>
              </a:tblGrid>
              <a:tr h="368935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Activities performed in March 2026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261620" y="1081405"/>
          <a:ext cx="11089640" cy="4799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810"/>
                <a:gridCol w="2646680"/>
                <a:gridCol w="7804150"/>
              </a:tblGrid>
              <a:tr h="379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S No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Task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Details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  <a:tr h="9950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Dry Run &amp; Code maintenance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 err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Vercel</a:t>
                      </a: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FED Changes for</a:t>
                      </a: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 Desktop</a:t>
                      </a: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,</a:t>
                      </a: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 </a:t>
                      </a: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Mobile devices.</a:t>
                      </a:r>
                      <a:endParaRPr lang="en-US" sz="120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Cart -  Dry run execution and Failure fixes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PDP - Dry run execution and Failure fixes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Global Navigation Dry run execution and Failure fixes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Smoke </a:t>
                      </a:r>
                      <a:r>
                        <a:rPr lang="en-IN" altLang="en-US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E</a:t>
                      </a: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xecution and Failure fixes</a:t>
                      </a:r>
                      <a:endParaRPr lang="en-US" altLang="en-IN" sz="12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anchor="ctr"/>
                </a:tc>
              </a:tr>
              <a:tr h="894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Page level </a:t>
                      </a: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Function Updation pages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Cart Page - Auto Replenish, Edit modal, Line Item, Use them Now, BRD modal, Order summary, Coupon section</a:t>
                      </a:r>
                      <a:endParaRPr lang="en-US" alt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PDP Page - Stylistics, PreOrder, ShopThisModal</a:t>
                      </a:r>
                      <a:endParaRPr lang="en-US" alt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  <a:cs typeface="Calibri" panose="020F0502020204030204"/>
                        </a:rPr>
                        <a:t>Home Page - Header AI Assistant, Email signup section, Set my store</a:t>
                      </a:r>
                      <a:endParaRPr lang="en-US" alt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anchor="ctr"/>
                </a:tc>
              </a:tr>
              <a:tr h="7823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3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20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Test Case Modification</a:t>
                      </a:r>
                      <a:endParaRPr lang="en-US" alt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Cart Right Rail, Line Items, BRD, Coupon of Cart Page</a:t>
                      </a:r>
                      <a:endParaRPr lang="en-US" alt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="0" i="0" u="none" strike="noStrike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Added Some Shipping Protection and Save for later cases to Cart module</a:t>
                      </a:r>
                      <a:endParaRPr lang="en-US" alt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  <a:tr h="16433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4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Release Execution</a:t>
                      </a:r>
                      <a:endParaRPr lang="en-US" altLang="en-US" sz="1200" b="0" i="0" u="none" strike="noStrike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Espresso.2 Pre-Release execution in Desktop and Mobile devices - belkdev.com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Espresso.2 Post-Release execution in Desktop and Mobile devices - belk.com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Latte Pre-Release execution in Desktop and Mobile devices - belkdev.com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Latte Post-Release execution in Desktop and Mobile devices - belk.com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Global Navigation 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Browse &amp; Search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PDP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Cart</a:t>
                      </a:r>
                      <a:endParaRPr lang="en-US" altLang="en-IN" sz="12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IN" sz="12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SPC</a:t>
                      </a:r>
                      <a:endParaRPr lang="en-US" altLang="en-US" sz="120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marL="628650" lvl="1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ü"/>
                      </a:pPr>
                      <a:r>
                        <a:rPr lang="en-US" altLang="en-US" sz="120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BAT Regression</a:t>
                      </a:r>
                      <a:endParaRPr lang="en-US" altLang="en-US" sz="120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Belk Automation</a:t>
            </a:r>
            <a:endParaRPr lang="en-US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1620" y="712470"/>
          <a:ext cx="11089640" cy="42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9640"/>
              </a:tblGrid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Activities performed in March 2026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261620" y="1165225"/>
          <a:ext cx="11089640" cy="2364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810"/>
                <a:gridCol w="2646680"/>
                <a:gridCol w="7804150"/>
              </a:tblGrid>
              <a:tr h="420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S No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Task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Details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  <a:tr h="11061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5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Defects Creation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en-US" sz="12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(11) - WOW-56033, WOW-55969, WOW-55923, WOW-55913, WOW-55907, WOW-55725, WOW-55620, WOW-55598, WOW-55593, WOW-55523, WOW-55378</a:t>
                      </a:r>
                      <a:endParaRPr lang="en-US" alt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  <a:tr h="83756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6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latin typeface="Calibri" panose="020F0502020204030204" charset="0"/>
                          <a:cs typeface="Calibri" panose="020F0502020204030204" charset="0"/>
                        </a:rPr>
                        <a:t>Build Stability Execution</a:t>
                      </a:r>
                      <a:endParaRPr lang="en-US" sz="120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altLang="en-US" sz="12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Smoke Module Execution</a:t>
                      </a:r>
                      <a:endParaRPr lang="en-US" alt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Belk Automation</a:t>
            </a:r>
            <a:endParaRPr lang="en-US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1620" y="712470"/>
          <a:ext cx="11089640" cy="422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9640"/>
              </a:tblGrid>
              <a:tr h="422275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Activities performed in March 2026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614170" y="1737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261620" y="1144270"/>
          <a:ext cx="5645150" cy="2637155"/>
        </p:xfrm>
        <a:graphic>
          <a:graphicData uri="http://schemas.openxmlformats.org/drawingml/2006/table">
            <a:tbl>
              <a:tblPr/>
              <a:tblGrid>
                <a:gridCol w="628015"/>
                <a:gridCol w="1330325"/>
                <a:gridCol w="1000760"/>
                <a:gridCol w="685165"/>
                <a:gridCol w="589280"/>
                <a:gridCol w="667385"/>
                <a:gridCol w="744220"/>
              </a:tblGrid>
              <a:tr h="238125">
                <a:tc gridSpan="7">
                  <a:txBody>
                    <a:bodyPr/>
                    <a:p>
                      <a:pPr algn="ctr" font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Espresso.2 &amp; Latte Release Execution Overall Status in Desktop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 No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Modules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Executed TCs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Fail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 %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OOS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</a:tr>
              <a:tr h="23876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Global Navigation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816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778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96.77%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49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Browse &amp; Search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1103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981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104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90.41%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18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PDP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915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656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242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73.05%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49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Cart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1041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682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336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66.99%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23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SPC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662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215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447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32.48%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BAT Regression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318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227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91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71.38%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Smoke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245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226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19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92.24%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195">
                <a:tc gridSpan="2">
                  <a:txBody>
                    <a:bodyPr/>
                    <a:p>
                      <a:pPr algn="ctr" fontAlgn="b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  <a:endParaRPr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b"/>
                      <a:r>
                        <a:rPr lang="en-US" alt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5100</a:t>
                      </a:r>
                      <a:endParaRPr lang="en-US" altLang="en-US"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3765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1265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74.85%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70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6032500" y="1135380"/>
          <a:ext cx="5299710" cy="2627630"/>
        </p:xfrm>
        <a:graphic>
          <a:graphicData uri="http://schemas.openxmlformats.org/drawingml/2006/table">
            <a:tbl>
              <a:tblPr/>
              <a:tblGrid>
                <a:gridCol w="516255"/>
                <a:gridCol w="1258570"/>
                <a:gridCol w="935355"/>
                <a:gridCol w="569595"/>
                <a:gridCol w="636270"/>
                <a:gridCol w="714375"/>
                <a:gridCol w="669290"/>
              </a:tblGrid>
              <a:tr h="280670">
                <a:tc gridSpan="7">
                  <a:txBody>
                    <a:bodyPr/>
                    <a:p>
                      <a:pPr algn="ctr" font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Espresso.2 &amp; Latte Release Execution Overall Status in Mobile Web</a:t>
                      </a:r>
                      <a:endParaRPr sz="1200" b="1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528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 No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Modules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Executed TCs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Fail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Pass %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OOS</a:t>
                      </a:r>
                      <a:endParaRPr sz="12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</a:tr>
              <a:tr h="28067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Global Navigation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816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724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91.18%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22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845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Browse &amp; Search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1103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935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138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87.14%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67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PDP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915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625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257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70.86%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33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Cart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1041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462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500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48.02%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79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305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SPC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331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81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250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24.47%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2575"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BAT Regression</a:t>
                      </a:r>
                      <a:endParaRPr sz="12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174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86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85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50.29%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0"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200" b="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0670">
                <a:tc gridSpan="2">
                  <a:txBody>
                    <a:bodyPr/>
                    <a:p>
                      <a:pPr algn="ctr" fontAlgn="b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</a:t>
                      </a:r>
                      <a:endParaRPr sz="12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4380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1C232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2913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1300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69.14%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p>
                      <a:pPr algn="ctr" fontAlgn="b"/>
                      <a:r>
                        <a:rPr sz="1200" b="1">
                          <a:latin typeface="Calibri" panose="020F0502020204030204"/>
                          <a:ea typeface="Calibri" panose="020F0502020204030204"/>
                        </a:rPr>
                        <a:t>167</a:t>
                      </a:r>
                      <a:endParaRPr sz="12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23177" marR="23177" marT="15557" marB="1555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1171575" y="44977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graphicFrame>
        <p:nvGraphicFramePr>
          <p:cNvPr id="14" name="Table 13"/>
          <p:cNvGraphicFramePr/>
          <p:nvPr>
            <p:custDataLst>
              <p:tags r:id="rId4"/>
            </p:custDataLst>
          </p:nvPr>
        </p:nvGraphicFramePr>
        <p:xfrm>
          <a:off x="260985" y="3904615"/>
          <a:ext cx="11089640" cy="1677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5015"/>
                <a:gridCol w="9064625"/>
              </a:tblGrid>
              <a:tr h="1677670">
                <a:tc>
                  <a:txBody>
                    <a:bodyPr/>
                    <a:p>
                      <a:pPr lvl="0" algn="ctr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</a:rPr>
                        <a:t>Execution Details</a:t>
                      </a:r>
                      <a:endParaRPr lang="en-US" sz="1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>
                          <a:solidFill>
                            <a:schemeClr val="tx1"/>
                          </a:solidFill>
                          <a:latin typeface="Calibri" panose="020F0502020204030204"/>
                          <a:sym typeface="+mn-ea"/>
                        </a:rPr>
                        <a:t>Espresso.2 Pre-Release Execution - Browse &amp; Search, PDP, BAT and Global Navigation modules</a:t>
                      </a:r>
                      <a:endParaRPr lang="en-US" sz="1400" b="0" noProof="0">
                        <a:solidFill>
                          <a:schemeClr val="tx1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IN" sz="1400" b="0" noProof="0">
                          <a:solidFill>
                            <a:schemeClr val="tx1"/>
                          </a:solidFill>
                          <a:latin typeface="Calibri" panose="020F0502020204030204"/>
                          <a:sym typeface="+mn-ea"/>
                        </a:rPr>
                        <a:t>Espresso.2 Post-Release Execution - Browse &amp; Search, PDP, BAT and Global Navigation modules</a:t>
                      </a:r>
                      <a:endParaRPr lang="en-US" altLang="en-IN" sz="1400" b="0" noProof="0">
                        <a:solidFill>
                          <a:schemeClr val="tx1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>
                          <a:solidFill>
                            <a:schemeClr val="tx1"/>
                          </a:solidFill>
                          <a:latin typeface="Calibri" panose="020F0502020204030204"/>
                          <a:sym typeface="+mn-ea"/>
                        </a:rPr>
                        <a:t>Latte Pre-Release Execution - Browse &amp; Search, PDP, BAT, Cart, Checkout and Global Navigation modules</a:t>
                      </a:r>
                      <a:endParaRPr lang="en-US" sz="1400" b="0" noProof="0">
                        <a:solidFill>
                          <a:schemeClr val="tx1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noProof="0">
                          <a:solidFill>
                            <a:schemeClr val="tx1"/>
                          </a:solidFill>
                          <a:latin typeface="Calibri" panose="020F0502020204030204"/>
                          <a:sym typeface="+mn-ea"/>
                        </a:rPr>
                        <a:t>Latte Post-Release Execution - Browse &amp; Search, PDP, BAT, Cart, Checkout and Global Navigation modules</a:t>
                      </a:r>
                      <a:endParaRPr lang="en-US" sz="1400" b="0" noProof="0">
                        <a:solidFill>
                          <a:schemeClr val="tx1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IN" sz="1400" b="0" noProof="0">
                          <a:solidFill>
                            <a:schemeClr val="tx1"/>
                          </a:solidFill>
                          <a:latin typeface="Calibri" panose="020F0502020204030204"/>
                          <a:sym typeface="+mn-ea"/>
                        </a:rPr>
                        <a:t>Smoke Module execution for Build stability</a:t>
                      </a:r>
                      <a:endParaRPr lang="en-US" altLang="en-US" sz="1400" b="0" noProof="0">
                        <a:solidFill>
                          <a:schemeClr val="tx1"/>
                        </a:solidFill>
                        <a:latin typeface="Calibri" panose="020F0502020204030204"/>
                        <a:ea typeface="+mn-lt"/>
                        <a:cs typeface="+mn-lt"/>
                        <a:sym typeface="+mn-ea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261620" y="5582285"/>
            <a:ext cx="9766300" cy="485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/>
              <a:t>Note</a:t>
            </a:r>
            <a:r>
              <a:rPr lang="en-US"/>
              <a:t>: Cart, SPC and BAT modules has more failures due new FED changes.</a:t>
            </a:r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Belk Automation</a:t>
            </a:r>
            <a:endParaRPr lang="en-US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28065" y="836295"/>
          <a:ext cx="10002520" cy="445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2520"/>
              </a:tblGrid>
              <a:tr h="445135">
                <a:tc>
                  <a:txBody>
                    <a:bodyPr/>
                    <a:lstStyle/>
                    <a:p>
                      <a:pPr algn="ctr"/>
                      <a:r>
                        <a:rPr lang="en-US" sz="1600" b="1"/>
                        <a:t>Planned for April 2026</a:t>
                      </a:r>
                      <a:endParaRPr lang="en-IN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28065" y="1265555"/>
          <a:ext cx="10004425" cy="4758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325"/>
                <a:gridCol w="8801100"/>
              </a:tblGrid>
              <a:tr h="32893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Calibri" panose="020F0502020204030204"/>
                        </a:rPr>
                        <a:t>S No</a:t>
                      </a:r>
                      <a:endParaRPr lang="en-US" sz="1400" b="1">
                        <a:latin typeface="Calibri" panose="020F050202020403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Calibri" panose="020F0502020204030204"/>
                        </a:rPr>
                        <a:t>Task</a:t>
                      </a:r>
                      <a:endParaRPr lang="en-US" sz="1400" b="1">
                        <a:latin typeface="Calibri" panose="020F0502020204030204"/>
                      </a:endParaRPr>
                    </a:p>
                  </a:txBody>
                  <a:tcPr anchor="ctr"/>
                </a:tc>
              </a:tr>
              <a:tr h="1798320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Calibri" panose="020F0502020204030204"/>
                          <a:cs typeface="+mn-lt"/>
                        </a:rPr>
                        <a:t>1</a:t>
                      </a:r>
                      <a:endParaRPr 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Dry Run &amp; Code maintenance (Desktop, Mobile and Tablet device)</a:t>
                      </a:r>
                      <a:endParaRPr lang="en-US"/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US" altLang="en-IN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Global Navigation</a:t>
                      </a:r>
                      <a:endParaRPr lang="en-US" altLang="en-IN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US" altLang="en-IN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Browse &amp; Search </a:t>
                      </a:r>
                      <a:endParaRPr lang="en-US" altLang="en-IN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US" altLang="en-IN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PDP</a:t>
                      </a:r>
                      <a:endParaRPr lang="en-US" altLang="en-IN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US" altLang="en-IN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BAT</a:t>
                      </a:r>
                      <a:endParaRPr lang="en-US" altLang="en-IN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US" altLang="en-IN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Smoke</a:t>
                      </a:r>
                      <a:endParaRPr lang="en-US" altLang="en-IN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US" altLang="en-IN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Cart</a:t>
                      </a:r>
                      <a:endParaRPr lang="en-US" altLang="en-IN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marL="742950" lvl="1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charset="0"/>
                        <a:buChar char="Ø"/>
                      </a:pPr>
                      <a:r>
                        <a:rPr lang="en-IN" altLang="en-US" sz="1400" b="0" i="0" u="none" strike="noStrike" baseline="0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Checkout </a:t>
                      </a:r>
                      <a:endParaRPr lang="en-IN" altLang="en-US" sz="14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anchor="ctr"/>
                </a:tc>
              </a:tr>
              <a:tr h="368300">
                <a:tc>
                  <a:txBody>
                    <a:bodyPr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/>
                          <a:cs typeface="+mn-lt"/>
                        </a:rPr>
                        <a:t>2</a:t>
                      </a:r>
                      <a:endParaRPr 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Cart, SPC and BAT module failure fixes for new FED changes 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anchor="ctr"/>
                </a:tc>
              </a:tr>
              <a:tr h="6159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/>
                          <a:cs typeface="+mn-lt"/>
                        </a:rPr>
                        <a:t>3</a:t>
                      </a:r>
                      <a:endParaRPr 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4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Cappuccino </a:t>
                      </a:r>
                      <a:r>
                        <a:rPr lang="en-US" sz="14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Pre-Release Execution - Browse &amp; Search, PDP, BAT, Cart, Checkout and Global Navigation modules</a:t>
                      </a:r>
                      <a:endParaRPr lang="en-US" sz="14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Aft>
                          <a:spcPts val="1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4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Cappuccino </a:t>
                      </a:r>
                      <a:r>
                        <a:rPr lang="en-US" sz="14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Post-Release Execution - Browse &amp; Search, PDP, BAT, Cart, Checkout and Global Navigation modules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latin typeface="Calibri" panose="020F0502020204030204"/>
                          <a:cs typeface="+mn-lt"/>
                        </a:rPr>
                        <a:t>4</a:t>
                      </a:r>
                      <a:endParaRPr 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Page level function updation based on New FED Refresh Cart and SPC changes in Overall Framework</a:t>
                      </a:r>
                      <a:endParaRPr lang="en-US"/>
                    </a:p>
                  </a:txBody>
                  <a:tcPr anchor="ctr"/>
                </a:tc>
              </a:tr>
              <a:tr h="412115">
                <a:tc>
                  <a:txBody>
                    <a:bodyPr/>
                    <a:p>
                      <a:pPr lvl="0" algn="ctr">
                        <a:buNone/>
                      </a:pPr>
                      <a:r>
                        <a:rPr lang="en-IN" altLang="en-US" sz="1400">
                          <a:latin typeface="Calibri" panose="020F0502020204030204"/>
                          <a:cs typeface="+mn-lt"/>
                        </a:rPr>
                        <a:t>5</a:t>
                      </a:r>
                      <a:endParaRPr lang="en-IN" alt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IN" altLang="en-US" sz="1400"/>
                        <a:t>AI Script developement for belk website Regression testcases through </a:t>
                      </a:r>
                      <a:r>
                        <a:rPr lang="en-IN" altLang="en-US" sz="1400">
                          <a:sym typeface="+mn-ea"/>
                        </a:rPr>
                        <a:t>KaneAI Automation Tool</a:t>
                      </a:r>
                      <a:endParaRPr lang="en-IN" altLang="en-US" sz="1400"/>
                    </a:p>
                  </a:txBody>
                  <a:tcPr anchor="ctr"/>
                </a:tc>
              </a:tr>
              <a:tr h="412115">
                <a:tc>
                  <a:txBody>
                    <a:bodyPr/>
                    <a:p>
                      <a:pPr lvl="0" algn="ctr">
                        <a:buNone/>
                      </a:pPr>
                      <a:r>
                        <a:rPr lang="en-IN" altLang="en-US" sz="1400">
                          <a:latin typeface="Calibri" panose="020F0502020204030204"/>
                          <a:cs typeface="+mn-lt"/>
                        </a:rPr>
                        <a:t>6</a:t>
                      </a:r>
                      <a:endParaRPr lang="en-IN" alt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IN" altLang="en-US" sz="1400">
                          <a:sym typeface="+mn-ea"/>
                        </a:rPr>
                        <a:t>AI Script execution for </a:t>
                      </a:r>
                      <a:r>
                        <a:rPr lang="en-US" altLang="en-US" sz="14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Cappuccino </a:t>
                      </a:r>
                      <a:r>
                        <a:rPr lang="en-IN" altLang="en-US" sz="14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Pre and Post Release</a:t>
                      </a:r>
                      <a:endParaRPr lang="en-IN" altLang="en-US" sz="1400" noProof="0">
                        <a:solidFill>
                          <a:srgbClr val="000000"/>
                        </a:solidFill>
                        <a:latin typeface="Calibri" panose="020F0502020204030204"/>
                        <a:sym typeface="+mn-ea"/>
                      </a:endParaRP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p>
                      <a:pPr lvl="0" algn="ctr">
                        <a:buNone/>
                      </a:pPr>
                      <a:r>
                        <a:rPr lang="en-IN" altLang="en-US" sz="1400">
                          <a:latin typeface="Calibri" panose="020F0502020204030204"/>
                          <a:cs typeface="+mn-lt"/>
                        </a:rPr>
                        <a:t>7</a:t>
                      </a:r>
                      <a:endParaRPr lang="en-IN" altLang="en-US" sz="1400">
                        <a:latin typeface="Calibri" panose="020F0502020204030204"/>
                        <a:cs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lvl="0">
                        <a:buNone/>
                      </a:pPr>
                      <a:r>
                        <a:rPr lang="en-US" sz="140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Build Stability Execution - Smoke, BAT module execution</a:t>
                      </a:r>
                      <a:endParaRPr lang="en-US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Belk Automation</a:t>
            </a:r>
            <a:endParaRPr lang="en-US" b="1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9" name="Table 8"/>
          <p:cNvGraphicFramePr/>
          <p:nvPr>
            <p:custDataLst>
              <p:tags r:id="rId1"/>
            </p:custDataLst>
          </p:nvPr>
        </p:nvGraphicFramePr>
        <p:xfrm>
          <a:off x="2133600" y="1226185"/>
          <a:ext cx="7204075" cy="1626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2230"/>
                <a:gridCol w="4601845"/>
              </a:tblGrid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Support Details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/>
                        <a:t>Hours &amp; Dates</a:t>
                      </a:r>
                      <a:endParaRPr lang="en-US" sz="1400"/>
                    </a:p>
                  </a:txBody>
                  <a:tcPr anchor="ctr"/>
                </a:tc>
              </a:tr>
              <a:tr h="473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/>
                        <a:t>Manual/</a:t>
                      </a:r>
                      <a:r>
                        <a:rPr lang="en-US" sz="1300" b="0" i="0" u="none" strike="noStrike" noProof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Weekend </a:t>
                      </a:r>
                      <a:r>
                        <a:rPr lang="en-US" sz="1300"/>
                        <a:t> Support</a:t>
                      </a:r>
                      <a:endParaRPr lang="en-US" sz="13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IN" sz="13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Manual Support:</a:t>
                      </a:r>
                      <a:endParaRPr lang="en-US" altLang="en-IN" sz="13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IN" sz="13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Hari (7 days)     - 02 Mar to 10 Mar</a:t>
                      </a:r>
                      <a:endParaRPr lang="en-US" altLang="en-IN" sz="13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IN" sz="13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Karthik (7 days) - </a:t>
                      </a:r>
                      <a:r>
                        <a:rPr lang="en-US" altLang="en-IN" sz="1300" noProof="0">
                          <a:solidFill>
                            <a:srgbClr val="000000"/>
                          </a:solidFill>
                          <a:latin typeface="Calibri" panose="020F0502020204030204"/>
                          <a:sym typeface="+mn-ea"/>
                        </a:rPr>
                        <a:t>02 Mar to 10 Mar</a:t>
                      </a:r>
                      <a:endParaRPr lang="en-US" altLang="en-IN" sz="1300" b="0" i="0" u="none" strike="noStrike" noProof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anchor="ctr"/>
                </a:tc>
              </a:tr>
              <a:tr h="473710">
                <a:tc>
                  <a:txBody>
                    <a:bodyPr/>
                    <a:p>
                      <a:pPr lvl="0" algn="ctr">
                        <a:buNone/>
                      </a:pPr>
                      <a:r>
                        <a:rPr lang="en-US" sz="1300"/>
                        <a:t>Late Night Support</a:t>
                      </a:r>
                      <a:endParaRPr lang="en-US" sz="1300"/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IN" sz="1300">
                          <a:sym typeface="+mn-ea"/>
                        </a:rPr>
                        <a:t>28 hours (09, 10, 11, 12, 13, 30, 31 Mar)</a:t>
                      </a:r>
                      <a:endParaRPr lang="en-US" altLang="en-IN" sz="1300"/>
                    </a:p>
                    <a:p>
                      <a:pPr algn="ctr">
                        <a:buNone/>
                      </a:pPr>
                      <a:endParaRPr lang="en-US" altLang="en-IN" sz="130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4556" y="723417"/>
          <a:ext cx="9542106" cy="336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2106"/>
              </a:tblGrid>
              <a:tr h="3369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1" i="0" u="none" strike="noStrike" noProof="0">
                          <a:latin typeface="Calibri" panose="020F0502020204030204"/>
                        </a:rPr>
                        <a:t>March month Support Details</a:t>
                      </a:r>
                      <a:endParaRPr lang="en-US" sz="1600" b="1"/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1078230" y="3032760"/>
            <a:ext cx="8709025" cy="29152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r>
              <a:rPr lang="en-US" sz="1400" b="1"/>
              <a:t>Note:</a:t>
            </a:r>
            <a:endParaRPr lang="en-US" sz="1400" b="1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b="1">
                <a:ea typeface="+mn-lt"/>
                <a:cs typeface="+mn-lt"/>
              </a:rPr>
              <a:t>Week 1:</a:t>
            </a:r>
            <a:endParaRPr lang="en-US" altLang="en-US" sz="14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>
                <a:ea typeface="+mn-lt"/>
                <a:cs typeface="+mn-lt"/>
              </a:rPr>
              <a:t>Manual Support for Latte Ticket Validation</a:t>
            </a:r>
            <a:endParaRPr lang="en-US" altLang="en-US" sz="14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>
                <a:ea typeface="+mn-lt"/>
                <a:cs typeface="+mn-lt"/>
              </a:rPr>
              <a:t>Smoke Module execution for Build Stability</a:t>
            </a:r>
            <a:endParaRPr lang="en-US" altLang="en-US" sz="1400">
              <a:ea typeface="+mn-lt"/>
              <a:cs typeface="+mn-lt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b="1">
                <a:ea typeface="+mn-lt"/>
                <a:cs typeface="+mn-lt"/>
              </a:rPr>
              <a:t>Week 2, 3:</a:t>
            </a:r>
            <a:endParaRPr lang="en-US" altLang="en-US" sz="14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>
                <a:ea typeface="+mn-lt"/>
                <a:cs typeface="+mn-lt"/>
              </a:rPr>
              <a:t>Executed Espreeso.2 </a:t>
            </a:r>
            <a:r>
              <a:rPr lang="en-US" altLang="en-US" sz="1400">
                <a:ea typeface="+mn-lt"/>
                <a:cs typeface="+mn-lt"/>
                <a:sym typeface="+mn-ea"/>
              </a:rPr>
              <a:t>Pre &amp; Post-Release for Global Navigation, Browse &amp; Search, PDP, Cart, SPC and BAT modules and Shared execution report emails with the client</a:t>
            </a:r>
            <a:endParaRPr lang="en-US" altLang="en-US" sz="14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>
                <a:ea typeface="+mn-lt"/>
                <a:cs typeface="+mn-lt"/>
              </a:rPr>
              <a:t>Smoke Module execution for Build Stability</a:t>
            </a:r>
            <a:endParaRPr lang="en-US" altLang="en-US" sz="1400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>
                <a:ea typeface="+mn-lt"/>
                <a:cs typeface="+mn-lt"/>
              </a:rPr>
              <a:t>Cart and PDP module DryRun, RCA and fixes for new FED changes</a:t>
            </a:r>
            <a:endParaRPr lang="en-US" altLang="en-US" sz="1400">
              <a:ea typeface="+mn-lt"/>
              <a:cs typeface="+mn-lt"/>
            </a:endParaRPr>
          </a:p>
          <a:p>
            <a:pPr marL="285750" indent="-285750">
              <a:buFont typeface="Wingdings" panose="05000000000000000000" charset="0"/>
              <a:buChar char="§"/>
            </a:pPr>
            <a:r>
              <a:rPr lang="en-US" altLang="en-US" sz="1400" b="1">
                <a:ea typeface="+mn-lt"/>
                <a:cs typeface="+mn-lt"/>
              </a:rPr>
              <a:t>Week 4:</a:t>
            </a:r>
            <a:endParaRPr lang="en-US" altLang="en-US" sz="1400" b="1"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1400">
                <a:ea typeface="+mn-lt"/>
                <a:cs typeface="+mn-lt"/>
                <a:sym typeface="+mn-ea"/>
              </a:rPr>
              <a:t>Executed Latte Pre &amp; Post-Release for Global Navigation, Browse &amp; Search, PDP, Cart, SPC and BAT modules and Shared execution report emails with the client</a:t>
            </a:r>
            <a:endParaRPr lang="en-US" altLang="en-US" sz="1400">
              <a:ea typeface="+mn-lt"/>
              <a:cs typeface="+mn-l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1632857" y="2659559"/>
            <a:ext cx="9950836" cy="7683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Mobile App QA MSR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- </a:t>
            </a:r>
            <a:r>
              <a:rPr lang="en-IN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March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202</a:t>
            </a:r>
            <a:r>
              <a:rPr lang="en-IN" alt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6</a:t>
            </a:r>
            <a:endParaRPr lang="en-IN" altLang="en-US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Mobile App QA Updates</a:t>
            </a:r>
            <a:endParaRPr kumimoji="0" lang="en-IN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Automation – Completed Sprint 1A and Sprint 2A ; Sprint 3A iTest scripts are in progress for Mobile and Desktop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Demandware Access , Demandware JIRA access has been granted while Belk Dev JIRA access available only for newly created users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Automation – Completed Sprint 1A and Sprint 2A ; Sprint 3A iTest scripts are in progress for Mobile and Desktop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Mobile App</a:t>
            </a: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QA Activities Performed on </a:t>
            </a:r>
            <a:r>
              <a:rPr kumimoji="0" lang="en-I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March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b="1" noProof="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</a:t>
            </a:r>
            <a:r>
              <a:rPr lang="en-IN" altLang="en-US" b="1" noProof="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kumimoji="0" lang="en-IN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86" name="Table 85"/>
          <p:cNvGraphicFramePr>
            <a:graphicFrameLocks noGrp="1"/>
          </p:cNvGraphicFramePr>
          <p:nvPr/>
        </p:nvGraphicFramePr>
        <p:xfrm>
          <a:off x="29210" y="1151255"/>
          <a:ext cx="9292590" cy="5012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/>
                <a:gridCol w="8435340"/>
              </a:tblGrid>
              <a:tr h="354330">
                <a:tc>
                  <a:txBody>
                    <a:bodyPr/>
                    <a:lstStyle/>
                    <a:p>
                      <a:pPr marL="179705" algn="ctr" fontAlgn="ctr">
                        <a:lnSpc>
                          <a:spcPct val="100000"/>
                        </a:lnSpc>
                      </a:pPr>
                      <a:r>
                        <a:rPr lang="en-US" sz="800" b="1" dirty="0">
                          <a:solidFill>
                            <a:schemeClr val="bg1"/>
                          </a:solidFill>
                        </a:rPr>
                        <a:t>S. No</a:t>
                      </a:r>
                      <a:endParaRPr 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9705" algn="ctr" fontAlgn="ctr">
                        <a:lnSpc>
                          <a:spcPct val="100000"/>
                        </a:lnSpc>
                      </a:pPr>
                      <a:r>
                        <a:rPr lang="en-US" sz="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</a:t>
                      </a:r>
                      <a:endParaRPr lang="en-US" sz="8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Story/Defect Validation for </a:t>
                      </a:r>
                      <a:r>
                        <a:rPr lang="en-IN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Espresso.2, Tiramisu, Latte </a:t>
                      </a:r>
                      <a:r>
                        <a:rPr lang="en-US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&amp; </a:t>
                      </a:r>
                      <a:r>
                        <a:rPr lang="en-IN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Cheesecake</a:t>
                      </a:r>
                      <a:r>
                        <a:rPr lang="en-US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releases</a:t>
                      </a:r>
                      <a:endParaRPr lang="en-US" altLang="en-US" sz="800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860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Product Finder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1615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Voice Search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Salesfloor Widget Validation 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COF Validatio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n for PLCC</a:t>
                      </a:r>
                      <a:endParaRPr lang="en-IN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1615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Adobe Validation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for Adobe SDK Update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17526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PayPal 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Validation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for PayPal SDK Update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Bottom 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Navigation Tab Image Configuration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1615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8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Narvar Shipping Protection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Cardholder Copy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Comp Value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1615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FlyBuy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800" dirty="0"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Website Checkout Validation, Shipping Charge Validation, </a:t>
                      </a:r>
                      <a:r>
                        <a:rPr lang="en-US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Barcode Scanner Validation</a:t>
                      </a:r>
                      <a:r>
                        <a:rPr lang="en-IN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, </a:t>
                      </a:r>
                      <a:r>
                        <a:rPr lang="en-US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GWP Prod Issue Recreation</a:t>
                      </a:r>
                      <a:r>
                        <a:rPr lang="en-IN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, </a:t>
                      </a:r>
                      <a:r>
                        <a:rPr lang="en-US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Foundation Finder Validation</a:t>
                      </a:r>
                      <a:r>
                        <a:rPr lang="en-IN" altLang="en-US" sz="8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&amp; 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Multi-size Facet Validation</a:t>
                      </a:r>
                      <a:endParaRPr lang="en-IN" altLang="en-US" sz="800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TestFlight &amp; Live Build Validation for 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Tiramisu 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release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860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Order Placement and Regression for 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Espresso.2, Tiramisu, Latte 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&amp; 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Cheesecake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releases</a:t>
                      </a:r>
                      <a:endParaRPr lang="en-IN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Closed ticket revalidation for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Espresso.2, Tiramisu &amp; Latte 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releases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1615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Test Case Updation</a:t>
                      </a:r>
                      <a:endParaRPr lang="en-US" altLang="en-US" sz="800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Backlog Ticket Re-Validation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Production Issues Recreation</a:t>
                      </a:r>
                      <a:endParaRPr lang="en-US" altLang="en-US" sz="800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1615">
                <a:tc>
                  <a:txBody>
                    <a:bodyPr/>
                    <a:p>
                      <a:pPr marL="179705" lvl="0"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Log Validation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  <a:tr h="222250">
                <a:tc>
                  <a:txBody>
                    <a:bodyPr/>
                    <a:lstStyle/>
                    <a:p>
                      <a:pPr marL="179705" lvl="0" algn="ctr" fontAlgn="ctr">
                        <a:lnSpc>
                          <a:spcPct val="100000"/>
                        </a:lnSpc>
                      </a:pPr>
                      <a:r>
                        <a:rPr 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179705" marR="0" lvl="0" indent="0" algn="l" defTabSz="914400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Post deployment validation in iOS and Android Prod builds for </a:t>
                      </a:r>
                      <a:r>
                        <a:rPr lang="en-IN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Espresso.2 &amp; Tiramisu</a:t>
                      </a:r>
                      <a:r>
                        <a:rPr lang="en-US" altLang="en-US" sz="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releases</a:t>
                      </a:r>
                      <a:endParaRPr lang="en-US" altLang="en-US" sz="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321890" y="1159550"/>
          <a:ext cx="2139315" cy="1127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39247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Completed </a:t>
                      </a:r>
                      <a:r>
                        <a:rPr lang="en-US" sz="9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Releases</a:t>
                      </a:r>
                      <a:endParaRPr lang="en-US" sz="9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40198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b="0" kern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Calibri" panose="020F0502020204030204" charset="0"/>
                          <a:sym typeface="+mn-ea"/>
                        </a:rPr>
                        <a:t>Espresso.2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  <a:tr h="240198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b="0" kern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Calibri" panose="020F0502020204030204" charset="0"/>
                          <a:sym typeface="+mn-ea"/>
                        </a:rPr>
                        <a:t>Tiramisu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  <a:tr h="240198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b="0" kern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Calibri" panose="020F0502020204030204" charset="0"/>
                          <a:sym typeface="+mn-ea"/>
                        </a:rPr>
                        <a:t>Latte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10592435" y="3681730"/>
            <a:ext cx="45974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/>
            </a:br>
            <a:endParaRPr lang="en-US"/>
          </a:p>
        </p:txBody>
      </p:sp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Mobile App</a:t>
            </a:r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IN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QA Updates</a:t>
            </a:r>
            <a:endParaRPr kumimoji="0" lang="en-IN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+mj-cs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Automation – Completed Sprint 1A and Sprint 2A ; Sprint 3A iTest scripts are in progress for Mobile and Desktop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Automation – Completed Sprint 1A and Sprint 2A ; Sprint 3A iTest scripts are in progress for Mobile and Desktop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3681" y="758196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Mobile App</a:t>
            </a:r>
            <a:r>
              <a:rPr lang="en-US" b="1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QA Story/Defect Summary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84678" y="1481294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</a:t>
            </a: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Defects</a:t>
            </a:r>
            <a:r>
              <a:rPr kumimoji="0" lang="en-US" sz="11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35771" y="1454143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Story/Defects Verification Report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302947" y="1588142"/>
            <a:ext cx="1951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Avg</a:t>
            </a: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Ticket Re-open Rate</a:t>
            </a:r>
            <a:endParaRPr kumimoji="0" lang="en-US" sz="1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7" name="Straight Connector 96"/>
          <p:cNvCxnSpPr/>
          <p:nvPr/>
        </p:nvCxnSpPr>
        <p:spPr>
          <a:xfrm flipH="1">
            <a:off x="4015641" y="1721345"/>
            <a:ext cx="4544" cy="4256374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9091749" y="1619794"/>
            <a:ext cx="52251" cy="4036423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727637" y="3098269"/>
            <a:ext cx="1232229" cy="1073843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Oval 4"/>
          <p:cNvSpPr txBox="1"/>
          <p:nvPr/>
        </p:nvSpPr>
        <p:spPr>
          <a:xfrm>
            <a:off x="9925859" y="3322863"/>
            <a:ext cx="888950" cy="630283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I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4295836" y="2288606"/>
          <a:ext cx="4617719" cy="19277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16759" y="2959771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 Scenarios Prepared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/>
          <p:cNvSpPr/>
          <p:nvPr/>
        </p:nvSpPr>
        <p:spPr>
          <a:xfrm>
            <a:off x="1468893" y="1939014"/>
            <a:ext cx="1095672" cy="683444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I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</a:t>
            </a:r>
            <a:endParaRPr kumimoji="0" lang="en-I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2" name="Table 4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53670" y="4577715"/>
          <a:ext cx="3698875" cy="10782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99435"/>
                <a:gridCol w="599440"/>
              </a:tblGrid>
              <a:tr h="4445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Regression</a:t>
                      </a:r>
                      <a:r>
                        <a:rPr lang="en-US" sz="1400" baseline="0" dirty="0"/>
                        <a:t> Execution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63373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baseline="0">
                          <a:effectLst/>
                        </a:rPr>
                        <a:t>Total Test Cases Executed (FE </a:t>
                      </a:r>
                      <a:r>
                        <a:rPr lang="en-IN" sz="1400" b="1" u="none" strike="noStrike" baseline="0">
                          <a:effectLst/>
                        </a:rPr>
                        <a:t>1239</a:t>
                      </a:r>
                      <a:r>
                        <a:rPr lang="en-IN" sz="1400" u="none" strike="noStrike" baseline="0">
                          <a:effectLst/>
                        </a:rPr>
                        <a:t> + BE </a:t>
                      </a:r>
                      <a:r>
                        <a:rPr lang="en-IN" sz="1400" b="1" u="none" strike="noStrike" baseline="0">
                          <a:effectLst/>
                        </a:rPr>
                        <a:t>1021</a:t>
                      </a:r>
                      <a:r>
                        <a:rPr lang="en-IN" sz="1400" u="none" strike="noStrike" baseline="0">
                          <a:effectLst/>
                        </a:rPr>
                        <a:t>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N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2260</a:t>
                      </a:r>
                      <a:endParaRPr kumimoji="0" lang="en-I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Content Placeholder 2"/>
          <p:cNvSpPr/>
          <p:nvPr>
            <p:ph sz="half" idx="1"/>
          </p:nvPr>
        </p:nvSpPr>
        <p:spPr/>
        <p:txBody>
          <a:bodyPr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549400" y="35121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0" name="Freeform: Shape 25"/>
          <p:cNvSpPr/>
          <p:nvPr/>
        </p:nvSpPr>
        <p:spPr>
          <a:xfrm>
            <a:off x="653415" y="3489960"/>
            <a:ext cx="2629535" cy="683260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marR="0" lvl="0" indent="0" algn="ctr" defTabSz="4445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r>
              <a:rPr kumimoji="0" lang="en-I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 260 + BE 52 = 312</a:t>
            </a:r>
            <a:endParaRPr kumimoji="0" lang="en-I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br>
              <a:rPr lang="en-US"/>
            </a:br>
            <a:endParaRPr lang="en-US"/>
          </a:p>
        </p:txBody>
      </p:sp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 Month-wise Trend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prstClr val="white"/>
                </a:solidFill>
              </a:rPr>
              <a:t>Month-wise Trend - Mobile App</a:t>
            </a:r>
            <a:endParaRPr lang="en-IN" b="1">
              <a:solidFill>
                <a:prstClr val="white"/>
              </a:solidFill>
            </a:endParaRPr>
          </a:p>
        </p:txBody>
      </p:sp>
      <p:graphicFrame>
        <p:nvGraphicFramePr>
          <p:cNvPr id="32" name="Diagram 31"/>
          <p:cNvGraphicFramePr/>
          <p:nvPr/>
        </p:nvGraphicFramePr>
        <p:xfrm>
          <a:off x="1097970" y="5418557"/>
          <a:ext cx="1948688" cy="615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930910" y="1691640"/>
          <a:ext cx="9940925" cy="4342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9114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j-ea"/>
                <a:cs typeface="Calibri" panose="020F0502020204030204" charset="0"/>
              </a:rPr>
              <a:t>Mobile App</a:t>
            </a:r>
            <a:r>
              <a:rPr lang="en-IN" sz="2400" b="1">
                <a:solidFill>
                  <a:prstClr val="white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kumimoji="0" lang="en-IN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j-ea"/>
                <a:cs typeface="Calibri" panose="020F0502020204030204" charset="0"/>
              </a:rPr>
              <a:t>QA Updates</a:t>
            </a:r>
            <a:r>
              <a:rPr kumimoji="0" lang="en-US" altLang="en-IN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j-ea"/>
                <a:cs typeface="Calibri" panose="020F0502020204030204" charset="0"/>
              </a:rPr>
              <a:t>								</a:t>
            </a:r>
            <a:endParaRPr kumimoji="0" lang="en-US" altLang="en-IN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charset="0"/>
              <a:ea typeface="+mj-ea"/>
              <a:cs typeface="Calibri" panose="020F0502020204030204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Automation – Completed Sprint 1A and Sprint 2A ; Sprint 3A iTest scripts are in progress for Mobile and Desktop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Demandware Access , Demandware JIRA access has been granted while Belk Dev JIRA access available only for newly created users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Automation – Completed Sprint 1A and Sprint 2A ; Sprint 3A iTest scripts are in progress for Mobile and Desktop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2395" y="750570"/>
            <a:ext cx="11305540" cy="231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Mobile App QA - Plan for</a:t>
            </a:r>
            <a:r>
              <a:rPr kumimoji="0" lang="en-I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April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202</a:t>
            </a:r>
            <a:r>
              <a:rPr kumimoji="0" lang="en-I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6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charset="0"/>
                <a:ea typeface="+mn-ea"/>
                <a:cs typeface="Calibri" panose="020F0502020204030204" charset="0"/>
              </a:rPr>
              <a:t>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charset="0"/>
              <a:ea typeface="+mn-ea"/>
              <a:cs typeface="Calibri" panose="020F0502020204030204" charset="0"/>
            </a:endParaRPr>
          </a:p>
        </p:txBody>
      </p:sp>
      <p:graphicFrame>
        <p:nvGraphicFramePr>
          <p:cNvPr id="86" name="Table 85"/>
          <p:cNvGraphicFramePr>
            <a:graphicFrameLocks noGrp="1"/>
          </p:cNvGraphicFramePr>
          <p:nvPr/>
        </p:nvGraphicFramePr>
        <p:xfrm>
          <a:off x="156210" y="988060"/>
          <a:ext cx="919734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970"/>
                <a:gridCol w="8421370"/>
              </a:tblGrid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S. No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Activity</a:t>
                      </a:r>
                      <a:endParaRPr lang="en-US" sz="1000" b="1">
                        <a:solidFill>
                          <a:schemeClr val="bg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Story/Defect Validation for</a:t>
                      </a:r>
                      <a:r>
                        <a:rPr lang="en-IN" alt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lang="en-IN" alt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Cheesecake</a:t>
                      </a:r>
                      <a:r>
                        <a:rPr lang="en-IN" alt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, Latte.2, Cappuccino &amp; Pudding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releases</a:t>
                      </a:r>
                      <a:endParaRPr lang="en-US" altLang="en-IN" sz="1000" baseline="0" dirty="0" smtClean="0"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2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Rokt </a:t>
                      </a:r>
                      <a:r>
                        <a:rPr lang="en-IN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I</a:t>
                      </a: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ntegration</a:t>
                      </a:r>
                      <a:endParaRPr lang="en-US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3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Gladly</a:t>
                      </a:r>
                      <a:r>
                        <a:rPr lang="en-IN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Validation</a:t>
                      </a:r>
                      <a:endParaRPr lang="en-IN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4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DY | Update Shopping Muse New API</a:t>
                      </a:r>
                      <a:endParaRPr lang="en-US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5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Remove Fluent SDK to disable feature</a:t>
                      </a:r>
                      <a:endParaRPr lang="en-US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6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PLP Redesign for Favorite and Price Filter Sections</a:t>
                      </a:r>
                      <a:endParaRPr lang="en-US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274955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7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SyPI | Update SDK to V6</a:t>
                      </a:r>
                      <a:endParaRPr lang="en-US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8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Granify | Update Latest SDK</a:t>
                      </a:r>
                      <a:endParaRPr lang="en-US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9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TestFlight and Live Build Validation</a:t>
                      </a:r>
                      <a:r>
                        <a:rPr lang="en-IN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for</a:t>
                      </a:r>
                      <a:r>
                        <a:rPr lang="en-IN" alt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Cheesecake &amp; Pudding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release</a:t>
                      </a:r>
                      <a:r>
                        <a:rPr lang="en-IN" alt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s</a:t>
                      </a:r>
                      <a:endParaRPr lang="en-IN" altLang="en-US" sz="1000" dirty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10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Production Validation</a:t>
                      </a:r>
                      <a:endParaRPr 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11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Test Case Updatio</a:t>
                      </a:r>
                      <a:r>
                        <a:rPr lang="en-IN" alt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n</a:t>
                      </a:r>
                      <a:endParaRPr lang="en-IN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12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Production Issues Recreation</a:t>
                      </a:r>
                      <a:endParaRPr lang="en-IN" alt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13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Backlog Ticket Re-Validation</a:t>
                      </a:r>
                      <a:endParaRPr 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229235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14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Closed Ticket Re-Validation for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lang="en-IN" alt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Cheesecake, Latte.2, Cappuccino &amp; Pudding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releases</a:t>
                      </a:r>
                      <a:endParaRPr lang="en-US" sz="1000" dirty="0"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32004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15</a:t>
                      </a:r>
                      <a:endParaRPr lang="en-US" sz="100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Order Placement and Regression for</a:t>
                      </a:r>
                      <a:r>
                        <a:rPr lang="en-IN" altLang="en-US" sz="100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</a:t>
                      </a:r>
                      <a:r>
                        <a:rPr lang="en-IN" alt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Cheesecake, Latte.2, Cappuccino &amp; Pudding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releases</a:t>
                      </a:r>
                      <a:endParaRPr lang="en-IN" altLang="en-US" sz="1000" dirty="0" smtClean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32" name="Diagram 31"/>
          <p:cNvGraphicFramePr/>
          <p:nvPr/>
        </p:nvGraphicFramePr>
        <p:xfrm>
          <a:off x="6294810" y="4218407"/>
          <a:ext cx="1948688" cy="615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353550" y="1281430"/>
          <a:ext cx="2030095" cy="166433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30095"/>
              </a:tblGrid>
              <a:tr h="292443"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 smtClean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Releases</a:t>
                      </a:r>
                      <a:endParaRPr lang="en-US" sz="1200" baseline="0" dirty="0" smtClean="0">
                        <a:solidFill>
                          <a:schemeClr val="tx1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Cheesecake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b="0" kern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Calibri" panose="020F0502020204030204" charset="0"/>
                          <a:sym typeface="+mn-ea"/>
                        </a:rPr>
                        <a:t>Latte.2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b="0" kern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Calibri" panose="020F0502020204030204" charset="0"/>
                          <a:sym typeface="+mn-ea"/>
                        </a:rPr>
                        <a:t>Cappuccino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  <a:tr h="27432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altLang="en-US" sz="1200" b="0" kern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Calibri" panose="020F0502020204030204" charset="0"/>
                          <a:sym typeface="+mn-ea"/>
                        </a:rPr>
                        <a:t>Pudding</a:t>
                      </a:r>
                      <a:endParaRPr lang="en-IN" altLang="en-US" sz="1200" b="0" kern="1200" dirty="0">
                        <a:solidFill>
                          <a:schemeClr val="tx1"/>
                        </a:solidFill>
                        <a:latin typeface="Calibri" panose="020F0502020204030204" charset="0"/>
                        <a:ea typeface="+mn-ea"/>
                        <a:cs typeface="Calibri" panose="020F0502020204030204" charset="0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-84178" y="2198621"/>
            <a:ext cx="11517041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4400" b="1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eCom</a:t>
            </a:r>
            <a:r>
              <a:rPr lang="en-IN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Integrations, Salsify, Commerce Tools </a:t>
            </a:r>
            <a:endParaRPr lang="en-IN" sz="4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en-IN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QA MSR </a:t>
            </a:r>
            <a:r>
              <a:rPr lang="en-US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– March 2026</a:t>
            </a:r>
            <a:endParaRPr lang="en-IN" sz="4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16866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eComm Integration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65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5432" y="656388"/>
            <a:ext cx="11294916" cy="270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eComm Integration QA Activities performed in March 2026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902631" y="999484"/>
          <a:ext cx="1547717" cy="990786"/>
        </p:xfrm>
        <a:graphic>
          <a:graphicData uri="http://schemas.openxmlformats.org/drawingml/2006/table">
            <a:tbl>
              <a:tblPr firstRow="1" bandRow="1"/>
              <a:tblGrid>
                <a:gridCol w="1547717"/>
              </a:tblGrid>
              <a:tr h="3302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Release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3302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Integration eComm Release - 18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</a:tr>
              <a:tr h="3302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Salsify – 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5431" y="942601"/>
          <a:ext cx="9545160" cy="4980155"/>
        </p:xfrm>
        <a:graphic>
          <a:graphicData uri="http://schemas.openxmlformats.org/drawingml/2006/table">
            <a:tbl>
              <a:tblPr/>
              <a:tblGrid>
                <a:gridCol w="940795"/>
                <a:gridCol w="8604365"/>
              </a:tblGrid>
              <a:tr h="15429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S. No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Activity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638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  <a:latin typeface="Calbiri"/>
                        </a:rPr>
                        <a:t>Integration Migration – </a:t>
                      </a:r>
                      <a:endParaRPr lang="en-US" sz="100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>
                          <a:effectLst/>
                          <a:latin typeface="Calbiri"/>
                        </a:rPr>
                        <a:t>Talend to GCP Migration – 8 Batches</a:t>
                      </a:r>
                      <a:endParaRPr lang="en-US" sz="100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err="1">
                          <a:effectLst/>
                          <a:latin typeface="Calbiri"/>
                        </a:rPr>
                        <a:t>Mulesoft</a:t>
                      </a:r>
                      <a:r>
                        <a:rPr lang="en-US" sz="1000">
                          <a:effectLst/>
                          <a:latin typeface="Calbiri"/>
                        </a:rPr>
                        <a:t> </a:t>
                      </a:r>
                      <a:r>
                        <a:rPr lang="en-US" sz="1000" err="1">
                          <a:effectLst/>
                          <a:latin typeface="Calbiri"/>
                        </a:rPr>
                        <a:t>onPrem</a:t>
                      </a:r>
                      <a:r>
                        <a:rPr lang="en-US" sz="1000">
                          <a:effectLst/>
                          <a:latin typeface="Calbiri"/>
                        </a:rPr>
                        <a:t> to </a:t>
                      </a:r>
                      <a:r>
                        <a:rPr lang="en-US" sz="1000" err="1">
                          <a:effectLst/>
                          <a:latin typeface="Calbiri"/>
                        </a:rPr>
                        <a:t>CloudHub</a:t>
                      </a:r>
                      <a:r>
                        <a:rPr lang="en-US" sz="1000">
                          <a:effectLst/>
                          <a:latin typeface="Calbiri"/>
                        </a:rPr>
                        <a:t> migration – 1 Batch</a:t>
                      </a:r>
                      <a:endParaRPr lang="en-US" sz="100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err="1">
                          <a:effectLst/>
                          <a:latin typeface="Calbiri"/>
                        </a:rPr>
                        <a:t>Datapower</a:t>
                      </a:r>
                      <a:r>
                        <a:rPr lang="en-US" sz="1000">
                          <a:effectLst/>
                          <a:latin typeface="Calbiri"/>
                        </a:rPr>
                        <a:t> to </a:t>
                      </a:r>
                      <a:r>
                        <a:rPr lang="en-US" sz="1000" err="1">
                          <a:effectLst/>
                          <a:latin typeface="Calbiri"/>
                        </a:rPr>
                        <a:t>Mulesoft</a:t>
                      </a:r>
                      <a:r>
                        <a:rPr lang="en-US" sz="1000">
                          <a:effectLst/>
                          <a:latin typeface="Calbiri"/>
                        </a:rPr>
                        <a:t> CH migration</a:t>
                      </a:r>
                      <a:endParaRPr lang="en-US" sz="1000">
                        <a:effectLst/>
                        <a:latin typeface="Calbiri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147872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  <a:latin typeface="Calbiri"/>
                        </a:rPr>
                        <a:t>Braze Transactional emails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dirty="0">
                          <a:effectLst/>
                          <a:latin typeface="Calbiri"/>
                        </a:rPr>
                        <a:t>Braze | Mao transactional email validations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dirty="0">
                          <a:effectLst/>
                          <a:latin typeface="Calbiri"/>
                        </a:rPr>
                        <a:t>Braze | SFCC transactional email validations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dirty="0">
                          <a:effectLst/>
                          <a:latin typeface="Calbiri"/>
                        </a:rPr>
                        <a:t>Braze | Order Groove transactional email validations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marR="0" lvl="0" indent="-2286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lphaLcPeriod"/>
                        <a:defRPr/>
                      </a:pPr>
                      <a:r>
                        <a:rPr lang="en-US" sz="1000" dirty="0">
                          <a:effectLst/>
                          <a:latin typeface="Calbiri"/>
                        </a:rPr>
                        <a:t>Braze Transactional Emails | IP Warming validations for all transactional templates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0" indent="0" rtl="0" fontAlgn="b">
                        <a:buFont typeface="+mj-lt"/>
                        <a:buNone/>
                      </a:pPr>
                      <a:r>
                        <a:rPr lang="en-US" sz="1000" dirty="0">
                          <a:effectLst/>
                          <a:latin typeface="Calbiri"/>
                        </a:rPr>
                        <a:t>Braze Other Implementations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dirty="0">
                          <a:effectLst/>
                          <a:latin typeface="Calbiri"/>
                        </a:rPr>
                        <a:t>WOW-46609 | ESP- SFMC to Braze Migration for emails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effectLst/>
                          <a:latin typeface="Calbiri"/>
                          <a:ea typeface="+mn-ea"/>
                          <a:cs typeface="+mn-cs"/>
                        </a:rPr>
                        <a:t>New Canvas validation for </a:t>
                      </a:r>
                      <a:r>
                        <a:rPr lang="en-US" sz="1000" kern="1200" noProof="0" dirty="0" err="1">
                          <a:solidFill>
                            <a:schemeClr val="tx1"/>
                          </a:solidFill>
                          <a:effectLst/>
                          <a:latin typeface="Calbiri"/>
                          <a:ea typeface="+mn-ea"/>
                          <a:cs typeface="+mn-cs"/>
                        </a:rPr>
                        <a:t>BackInStock</a:t>
                      </a: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effectLst/>
                          <a:latin typeface="Calbiri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kern="1200" noProof="0" dirty="0" err="1">
                          <a:solidFill>
                            <a:schemeClr val="tx1"/>
                          </a:solidFill>
                          <a:effectLst/>
                          <a:latin typeface="Calbiri"/>
                          <a:ea typeface="+mn-ea"/>
                          <a:cs typeface="+mn-cs"/>
                        </a:rPr>
                        <a:t>CartAbandoned</a:t>
                      </a:r>
                      <a:r>
                        <a:rPr lang="en-US" sz="1000" kern="1200" noProof="0" dirty="0">
                          <a:solidFill>
                            <a:schemeClr val="tx1"/>
                          </a:solidFill>
                          <a:effectLst/>
                          <a:latin typeface="Calbiri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000" kern="1200" noProof="0" dirty="0" err="1">
                          <a:solidFill>
                            <a:schemeClr val="tx1"/>
                          </a:solidFill>
                          <a:effectLst/>
                          <a:latin typeface="Calbiri"/>
                          <a:ea typeface="+mn-ea"/>
                          <a:cs typeface="+mn-cs"/>
                        </a:rPr>
                        <a:t>PriceDrop</a:t>
                      </a:r>
                      <a:endParaRPr lang="en-US" sz="1000" kern="1200" dirty="0">
                        <a:solidFill>
                          <a:schemeClr val="tx1"/>
                        </a:solidFill>
                        <a:effectLst/>
                        <a:latin typeface="Calbiri"/>
                        <a:ea typeface="+mn-ea"/>
                        <a:cs typeface="+mn-cs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endParaRPr lang="en-US" sz="1000" dirty="0">
                        <a:effectLst/>
                        <a:latin typeface="Calbiri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  <a:latin typeface="Calbiri"/>
                        </a:rPr>
                        <a:t>Integration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 dirty="0"/>
                        <a:t>Narvar | BOPIS Enhnacements for Track Order | E2E Validation</a:t>
                      </a:r>
                      <a:endParaRPr lang="en-US" sz="1000" dirty="0"/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</a:rPr>
                        <a:t>DI-7498 | Asurion URL Migration from </a:t>
                      </a:r>
                      <a:r>
                        <a:rPr lang="en-US" sz="1000" b="0" i="0" u="none" strike="noStrike" noProof="0" dirty="0" err="1">
                          <a:effectLst/>
                        </a:rPr>
                        <a:t>Onprem</a:t>
                      </a:r>
                      <a:r>
                        <a:rPr lang="en-US" sz="1000" b="0" i="0" u="none" strike="noStrike" noProof="0" dirty="0">
                          <a:effectLst/>
                        </a:rPr>
                        <a:t> to cloud for Asurion Return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</a:rPr>
                        <a:t>DI-7497 | Asurion URL Migration from </a:t>
                      </a:r>
                      <a:r>
                        <a:rPr lang="en-US" sz="1000" b="0" i="0" u="none" strike="noStrike" noProof="0" dirty="0" err="1">
                          <a:effectLst/>
                        </a:rPr>
                        <a:t>Onprem</a:t>
                      </a:r>
                      <a:r>
                        <a:rPr lang="en-US" sz="1000" b="0" i="0" u="none" strike="noStrike" noProof="0" dirty="0">
                          <a:effectLst/>
                        </a:rPr>
                        <a:t> to cloud for Asurion Shipment </a:t>
                      </a:r>
                      <a:endParaRPr lang="en-US" sz="1000" b="0" i="0" u="none" strike="noStrike" noProof="0" dirty="0">
                        <a:effectLst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Less Auth | </a:t>
                      </a:r>
                      <a:r>
                        <a:rPr lang="en-US" sz="1000" b="0" i="0" u="none" strike="noStrike" noProof="0" dirty="0" err="1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Misc</a:t>
                      </a:r>
                      <a:r>
                        <a:rPr lang="en-US" sz="1000" b="0" i="0" u="none" strike="noStrike" noProof="0" dirty="0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 Diff is adjusted but there is still gap of 0.01$ causing impact in Prod orders</a:t>
                      </a:r>
                      <a:endParaRPr lang="en-US" sz="1000" b="0" i="0" u="none" strike="noStrike" noProof="0" dirty="0">
                        <a:effectLst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>
                          <a:effectLst/>
                          <a:latin typeface="Calbiri"/>
                        </a:rPr>
                        <a:t>Other Integrations</a:t>
                      </a:r>
                      <a:endParaRPr lang="en-US" sz="100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r>
                        <a:rPr lang="en-US" sz="1000">
                          <a:effectLst/>
                          <a:latin typeface="Calbiri"/>
                        </a:rPr>
                        <a:t>Website/App Release Support | Orders fulfillment and validations</a:t>
                      </a:r>
                      <a:endParaRPr lang="en-US" sz="100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AutoNum type="alphaLcPeriod"/>
                      </a:pPr>
                      <a:r>
                        <a:rPr lang="en-US" sz="1000" b="0" i="0" u="none" strike="noStrike" noProof="0">
                          <a:effectLst/>
                        </a:rPr>
                        <a:t>Supply–Demand Balance Difference for SKU</a:t>
                      </a:r>
                      <a:endParaRPr lang="en-US" sz="1000" b="0" i="0" u="none" strike="noStrike" noProof="0">
                        <a:effectLst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6060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000" dirty="0">
                          <a:effectLst/>
                          <a:latin typeface="Calbiri"/>
                        </a:rPr>
                        <a:t>Salsify - 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indent="-228600" rtl="0" fontAlgn="b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</a:rPr>
                        <a:t>Trigger Weekly Data Governance Task Based on Error Attribute and Update IPH Category &amp; Omni Channel Brand in Salsify/DD</a:t>
                      </a:r>
                      <a:endParaRPr lang="en-US" sz="1000" dirty="0">
                        <a:effectLst/>
                        <a:latin typeface="Calbiri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Develop UI to Upload Salsify Taxonomy Rules and Email Extracted Rules with Parent-Child Attribute Handling</a:t>
                      </a:r>
                      <a:endParaRPr lang="en-US" sz="1000" b="0" i="0" u="none" strike="noStrike" noProof="0" dirty="0">
                        <a:effectLst/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</a:rPr>
                        <a:t>Review Brand/IPH Add Logic To Salsify &amp; Update </a:t>
                      </a:r>
                      <a:r>
                        <a:rPr lang="en-US" sz="1000" b="0" i="0" u="none" strike="noStrike" noProof="0" dirty="0" err="1">
                          <a:effectLst/>
                        </a:rPr>
                        <a:t>accordingy</a:t>
                      </a:r>
                      <a:endParaRPr lang="en-US" sz="1000" b="0" i="0" u="none" strike="noStrike" noProof="0" dirty="0">
                        <a:effectLst/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Review Default SKU Code Process &amp; update to handle process for deleted </a:t>
                      </a:r>
                      <a:r>
                        <a:rPr lang="en-US" sz="1000" b="0" i="0" u="none" strike="noStrike" noProof="0" dirty="0" err="1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Skus</a:t>
                      </a:r>
                      <a:endParaRPr lang="en-US" sz="1000" b="0" i="0" u="none" strike="noStrike" noProof="0" dirty="0">
                        <a:effectLst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</a:rPr>
                        <a:t>Develop a UI to List, Search &amp; Remove KOW assets from Report/Table</a:t>
                      </a:r>
                      <a:endParaRPr lang="en-US" sz="1000" b="0" i="0" u="none" strike="noStrike" noProof="0" dirty="0">
                        <a:effectLst/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228600" lvl="0" indent="-228600">
                        <a:buAutoNum type="alphaLcPeriod"/>
                      </a:pPr>
                      <a:r>
                        <a:rPr lang="en-US" sz="1000" b="0" i="0" u="none" strike="noStrike" noProof="0" dirty="0">
                          <a:effectLst/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KOW Reporting - Asset Resent</a:t>
                      </a:r>
                      <a:endParaRPr lang="en-US" sz="1000" b="0" i="0" u="none" strike="noStrike" noProof="0" dirty="0">
                        <a:effectLst/>
                      </a:endParaRPr>
                    </a:p>
                    <a:p>
                      <a:pPr marL="228600" indent="-228600" rtl="0" fontAlgn="b">
                        <a:buFont typeface="+mj-lt"/>
                        <a:buAutoNum type="alphaLcPeriod"/>
                      </a:pPr>
                      <a:endParaRPr lang="en-US" sz="1000" dirty="0">
                        <a:effectLst/>
                        <a:latin typeface="Calbiri"/>
                      </a:endParaRPr>
                    </a:p>
                  </a:txBody>
                  <a:tcPr marL="19050" marR="19050" marT="12700" marB="1270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eCom Integration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652" y="2411104"/>
            <a:ext cx="3509060" cy="6001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9301" y="754981"/>
            <a:ext cx="11421047" cy="291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eCom Integration QA Story/Defect Summary</a:t>
            </a:r>
            <a:endParaRPr lang="en-US" b="1"/>
          </a:p>
        </p:txBody>
      </p:sp>
      <p:sp>
        <p:nvSpPr>
          <p:cNvPr id="28" name="TextBox 27"/>
          <p:cNvSpPr txBox="1"/>
          <p:nvPr/>
        </p:nvSpPr>
        <p:spPr>
          <a:xfrm>
            <a:off x="446406" y="1621365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New</a:t>
            </a:r>
            <a:r>
              <a:rPr lang="en-US" sz="1100" b="1" u="sng"/>
              <a:t> </a:t>
            </a:r>
            <a:r>
              <a:rPr lang="en-US" sz="1200" b="1" u="sng"/>
              <a:t>Defects</a:t>
            </a:r>
            <a:r>
              <a:rPr lang="en-US" sz="1100" b="1" u="sng"/>
              <a:t> </a:t>
            </a:r>
            <a:r>
              <a:rPr lang="en-US" sz="1200" b="1" u="sng"/>
              <a:t>Report</a:t>
            </a:r>
            <a:endParaRPr lang="en-US" sz="1200" b="1" u="sng"/>
          </a:p>
        </p:txBody>
      </p:sp>
      <p:grpSp>
        <p:nvGrpSpPr>
          <p:cNvPr id="31" name="Group 30"/>
          <p:cNvGrpSpPr/>
          <p:nvPr/>
        </p:nvGrpSpPr>
        <p:grpSpPr>
          <a:xfrm>
            <a:off x="9467044" y="2964686"/>
            <a:ext cx="1300797" cy="1090460"/>
            <a:chOff x="435531" y="926"/>
            <a:chExt cx="928810" cy="701773"/>
          </a:xfrm>
        </p:grpSpPr>
        <p:sp>
          <p:nvSpPr>
            <p:cNvPr id="32" name="Oval 31"/>
            <p:cNvSpPr/>
            <p:nvPr/>
          </p:nvSpPr>
          <p:spPr>
            <a:xfrm>
              <a:off x="435531" y="926"/>
              <a:ext cx="928810" cy="70177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Oval 4"/>
            <p:cNvSpPr txBox="1"/>
            <p:nvPr/>
          </p:nvSpPr>
          <p:spPr>
            <a:xfrm>
              <a:off x="607657" y="110819"/>
              <a:ext cx="656768" cy="4962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b="1" dirty="0">
                  <a:solidFill>
                    <a:schemeClr val="tx1"/>
                  </a:solidFill>
                </a:rPr>
                <a:t>5 </a:t>
              </a:r>
              <a:r>
                <a:rPr lang="en-IN" b="1" kern="1200" dirty="0">
                  <a:solidFill>
                    <a:schemeClr val="tx1"/>
                  </a:solidFill>
                </a:rPr>
                <a:t>%</a:t>
              </a:r>
              <a:endParaRPr lang="en-IN" b="1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9003505" y="1636592"/>
            <a:ext cx="1951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Avg Ticket Re-open Rate</a:t>
            </a:r>
            <a:endParaRPr lang="en-US" sz="1200" b="1" u="sng"/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4018613" y="1759864"/>
            <a:ext cx="28154" cy="4100609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958867" y="1731142"/>
            <a:ext cx="0" cy="4129331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Freeform: Shape 38"/>
          <p:cNvSpPr/>
          <p:nvPr/>
        </p:nvSpPr>
        <p:spPr>
          <a:xfrm>
            <a:off x="154350" y="2517730"/>
            <a:ext cx="1302106" cy="834037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400" b="1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Defect</a:t>
            </a:r>
            <a:endParaRPr lang="en-US" sz="1400" b="1" kern="12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400" b="1" kern="12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55</a:t>
            </a:r>
            <a:endParaRPr lang="en-IN" sz="1400" b="1" kern="12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29" name="Diagram 28"/>
          <p:cNvGraphicFramePr/>
          <p:nvPr/>
        </p:nvGraphicFramePr>
        <p:xfrm>
          <a:off x="4381309" y="2194580"/>
          <a:ext cx="4243015" cy="2391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0" name="Freeform: Shape 23"/>
          <p:cNvSpPr/>
          <p:nvPr/>
        </p:nvSpPr>
        <p:spPr>
          <a:xfrm>
            <a:off x="2116841" y="3362206"/>
            <a:ext cx="1335754" cy="643212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>
                <a:solidFill>
                  <a:schemeClr val="tx1"/>
                </a:solidFill>
              </a:rPr>
              <a:t>Env issues</a:t>
            </a:r>
            <a:endParaRPr lang="en-US" sz="1200" b="1" kern="1200">
              <a:solidFill>
                <a:schemeClr val="tx1"/>
              </a:solidFill>
            </a:endParaRP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200" b="1">
                <a:solidFill>
                  <a:schemeClr val="tx1"/>
                </a:solidFill>
              </a:rPr>
              <a:t>0</a:t>
            </a:r>
            <a:endParaRPr lang="en-IN" sz="1200" b="1" kern="1200">
              <a:solidFill>
                <a:schemeClr val="tx1"/>
              </a:solidFill>
            </a:endParaRPr>
          </a:p>
        </p:txBody>
      </p:sp>
      <p:sp>
        <p:nvSpPr>
          <p:cNvPr id="42" name="Freeform: Shape 26"/>
          <p:cNvSpPr/>
          <p:nvPr/>
        </p:nvSpPr>
        <p:spPr>
          <a:xfrm>
            <a:off x="2111734" y="2032293"/>
            <a:ext cx="1335754" cy="683035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Functional</a:t>
            </a:r>
            <a:endParaRPr lang="en-US" sz="1200" b="1" dirty="0">
              <a:solidFill>
                <a:schemeClr val="tx1"/>
              </a:solidFill>
            </a:endParaRP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55</a:t>
            </a:r>
            <a:endParaRPr lang="en-US" sz="1200" b="1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3" name="Straight Arrow Connector 42"/>
          <p:cNvCxnSpPr>
            <a:endCxn id="42" idx="0"/>
          </p:cNvCxnSpPr>
          <p:nvPr/>
        </p:nvCxnSpPr>
        <p:spPr>
          <a:xfrm flipV="1">
            <a:off x="1477332" y="2373811"/>
            <a:ext cx="634402" cy="5199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456456" y="2968373"/>
            <a:ext cx="651918" cy="673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9934" y="453651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>
              <a:cs typeface="Calibri" panose="020F0502020204030204"/>
            </a:endParaRPr>
          </a:p>
        </p:txBody>
      </p:sp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263236" y="4585602"/>
          <a:ext cx="3169539" cy="111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096"/>
                <a:gridCol w="703443"/>
              </a:tblGrid>
              <a:tr h="37578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 Integration Test</a:t>
                      </a:r>
                      <a:r>
                        <a:rPr lang="en-US" sz="1200" baseline="0"/>
                        <a:t> Scenarios </a:t>
                      </a:r>
                      <a:r>
                        <a:rPr lang="en-US" sz="1200"/>
                        <a:t> Creation/Execution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# Scenarios/TC</a:t>
                      </a:r>
                      <a:r>
                        <a:rPr lang="en-US" sz="12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Created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409</a:t>
                      </a:r>
                      <a:endParaRPr 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Execution*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337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63236" y="4207546"/>
            <a:ext cx="3546764" cy="31945"/>
          </a:xfrm>
          <a:prstGeom prst="line">
            <a:avLst/>
          </a:prstGeom>
          <a:ln w="28575">
            <a:solidFill>
              <a:srgbClr val="3D6EB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3525" y="5752465"/>
            <a:ext cx="268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* - </a:t>
            </a:r>
            <a:r>
              <a:rPr lang="en-IN" sz="1100"/>
              <a:t>Test Execution includes in Progress</a:t>
            </a:r>
            <a:endParaRPr lang="en-IN" sz="110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230938" y="5062538"/>
          <a:ext cx="5429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Worksheet" showAsIcon="1" r:id="rId6" imgW="551180" imgH="465455" progId="Excel.Sheet.12">
                  <p:embed/>
                </p:oleObj>
              </mc:Choice>
              <mc:Fallback>
                <p:oleObj name="Worksheet" showAsIcon="1" r:id="rId6" imgW="551180" imgH="465455" progId="Excel.Sheet.12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30938" y="5062538"/>
                        <a:ext cx="542925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prstClr val="white"/>
                </a:solidFill>
              </a:rPr>
              <a:t>Monthly Trend - Release Based Details	</a:t>
            </a:r>
            <a:endParaRPr lang="en-IN" b="1">
              <a:solidFill>
                <a:prstClr val="white"/>
              </a:solidFill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157093" y="1107040"/>
          <a:ext cx="11413988" cy="49200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eComm Integration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65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6698" y="775120"/>
            <a:ext cx="11294916" cy="270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err="1"/>
              <a:t>eComm</a:t>
            </a:r>
            <a:r>
              <a:rPr lang="en-US" b="1"/>
              <a:t> Integration QA – Plan for April 2026</a:t>
            </a:r>
            <a:endParaRPr lang="en-US" b="1"/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6697" y="1273629"/>
          <a:ext cx="11294915" cy="1607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32"/>
                <a:gridCol w="10578983"/>
              </a:tblGrid>
              <a:tr h="3738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S. No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Activity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b"/>
                </a:tc>
              </a:tr>
              <a:tr h="3083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u="none" strike="noStrike">
                          <a:effectLst/>
                        </a:rPr>
                        <a:t>1​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 Integration Enhancement</a:t>
                      </a:r>
                      <a:endParaRPr lang="en-US" sz="1000" u="none" strike="noStrike">
                        <a:effectLst/>
                      </a:endParaRPr>
                    </a:p>
                  </a:txBody>
                  <a:tcPr marL="6350" marR="6350" marT="6350" marB="0" anchor="ctr"/>
                </a:tc>
              </a:tr>
              <a:tr h="3083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Talend to GCP Migration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/>
                </a:tc>
              </a:tr>
              <a:tr h="3083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DataPower / Mule OnPrem to CH migration validations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/>
                </a:tc>
              </a:tr>
              <a:tr h="308398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u="none" strike="noStrike">
                          <a:effectLst/>
                        </a:rPr>
                        <a:t>Salsify Enhancements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66651" y="2717096"/>
            <a:ext cx="11517041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CDP / Marketing</a:t>
            </a:r>
            <a:endParaRPr lang="en-IN" sz="4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en-IN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QA MSR </a:t>
            </a:r>
            <a:r>
              <a:rPr lang="en-US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– March 2026</a:t>
            </a:r>
            <a:endParaRPr lang="en-IN" sz="4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4" y="139888"/>
            <a:ext cx="5663435" cy="55543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Data / Marketing / Loyalty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5432" y="775120"/>
            <a:ext cx="11294916" cy="341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prstClr val="white"/>
                </a:solidFill>
                <a:latin typeface="Calibri" panose="020F0502020204030204"/>
              </a:rPr>
              <a:t>Data / Marketing / Loyalty QA</a:t>
            </a:r>
            <a:r>
              <a:rPr lang="en-US" b="1" dirty="0"/>
              <a:t> Activities performed in Mar 2025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045388" y="1271539"/>
          <a:ext cx="2144228" cy="45960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144228"/>
              </a:tblGrid>
              <a:tr h="24747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400" b="1" u="none" strike="noStrike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Releases</a:t>
                      </a:r>
                      <a:endParaRPr lang="en-US" sz="1400" b="1" u="none" strike="noStrike" kern="120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</a:tr>
              <a:tr h="2121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0" u="none" strike="noStrike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Marketing – 1</a:t>
                      </a:r>
                      <a:endParaRPr lang="en-US" sz="1200" b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5432" y="1116131"/>
          <a:ext cx="8889956" cy="5003245"/>
        </p:xfrm>
        <a:graphic>
          <a:graphicData uri="http://schemas.openxmlformats.org/drawingml/2006/table">
            <a:tbl>
              <a:tblPr/>
              <a:tblGrid>
                <a:gridCol w="809710"/>
                <a:gridCol w="8080246"/>
              </a:tblGrid>
              <a:tr h="2498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S. No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Activity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45061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Birthday Journey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Add new canvas for Birthday journey - to send email notification to customer on monthly and reminder on 14 days and 2 days prior to expire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42197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Drop Email Notification</a:t>
                      </a:r>
                      <a:endParaRPr lang="en-US" sz="10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new canvas for price drop with 2 touch point and remove the product which is purchased recently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104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CDP - Customer data feed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Include 2 new columns (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ESP_include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and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ESP_Exclude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) in existing customer data feed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489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Braze - Product Catalog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Filter out the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Narvar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protection plan from the product catalog feed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9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Braze - Customer Segment</a:t>
                      </a: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  <a:ea typeface="+mn-ea"/>
                          <a:cs typeface="+mn-cs"/>
                        </a:rPr>
                        <a:t>Add new data for the customer segment for braze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489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Braze - Standard Attribute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 algn="l" defTabSz="914400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Bug fix to update the first name and last name which has Unknown as name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9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Airship - FOB, Active BRD and Customer Segmentation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Update the customer FOB , Active BRD and Customer behavior Segmentation to customer Profile thru API calls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Fix the issue on the Earned BRD details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42747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/>
                        <a:t>Attentive - Customer Segmentation</a:t>
                      </a:r>
                      <a:endParaRPr lang="en-US" sz="1000" b="1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/>
                        <a:t>Add New attribute to the Attentive Customer Data with Customer Behavior Segmentation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000" dirty="0"/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93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SFCC - Deleted customer data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Load the Deleted customer data feed to Snowflake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49002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BRD - Return points Validation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End 2 End validation for the BRD return point when the customer initiate the return or exchanges Instead of dollars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5961" marR="5961" marT="596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4" y="139888"/>
            <a:ext cx="6115379" cy="492634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Data / Marketing / Loyalty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652" y="2411104"/>
            <a:ext cx="3509060" cy="6001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9301" y="754981"/>
            <a:ext cx="11421047" cy="291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>
                <a:solidFill>
                  <a:prstClr val="white"/>
                </a:solidFill>
                <a:latin typeface="Calibri" panose="020F0502020204030204"/>
              </a:rPr>
              <a:t>Data / Marketing / Loyalty QA</a:t>
            </a:r>
            <a:r>
              <a:rPr lang="en-US" b="1"/>
              <a:t> Story/Defect Summary</a:t>
            </a:r>
            <a:endParaRPr lang="en-US" b="1"/>
          </a:p>
        </p:txBody>
      </p:sp>
      <p:sp>
        <p:nvSpPr>
          <p:cNvPr id="28" name="TextBox 27"/>
          <p:cNvSpPr txBox="1"/>
          <p:nvPr/>
        </p:nvSpPr>
        <p:spPr>
          <a:xfrm>
            <a:off x="446406" y="1621365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New</a:t>
            </a:r>
            <a:r>
              <a:rPr lang="en-US" sz="1100" b="1" u="sng"/>
              <a:t> </a:t>
            </a:r>
            <a:r>
              <a:rPr lang="en-US" sz="1200" b="1" u="sng"/>
              <a:t>Defects</a:t>
            </a:r>
            <a:r>
              <a:rPr lang="en-US" sz="1100" b="1" u="sng"/>
              <a:t> </a:t>
            </a:r>
            <a:r>
              <a:rPr lang="en-US" sz="1200" b="1" u="sng"/>
              <a:t>Report</a:t>
            </a:r>
            <a:endParaRPr lang="en-US" sz="1200" b="1" u="sng"/>
          </a:p>
        </p:txBody>
      </p:sp>
      <p:sp>
        <p:nvSpPr>
          <p:cNvPr id="30" name="TextBox 29"/>
          <p:cNvSpPr txBox="1"/>
          <p:nvPr/>
        </p:nvSpPr>
        <p:spPr>
          <a:xfrm>
            <a:off x="4623845" y="1636592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Defects Verification Report</a:t>
            </a:r>
            <a:endParaRPr lang="en-US" sz="1200" b="1" u="sng"/>
          </a:p>
        </p:txBody>
      </p:sp>
      <p:sp>
        <p:nvSpPr>
          <p:cNvPr id="34" name="TextBox 33"/>
          <p:cNvSpPr txBox="1"/>
          <p:nvPr/>
        </p:nvSpPr>
        <p:spPr>
          <a:xfrm>
            <a:off x="9003505" y="1636592"/>
            <a:ext cx="1951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Avg Ticket Re-open Rate</a:t>
            </a:r>
            <a:endParaRPr lang="en-US" sz="1200" b="1" u="sng"/>
          </a:p>
        </p:txBody>
      </p:sp>
      <p:cxnSp>
        <p:nvCxnSpPr>
          <p:cNvPr id="35" name="Straight Connector 34"/>
          <p:cNvCxnSpPr/>
          <p:nvPr/>
        </p:nvCxnSpPr>
        <p:spPr>
          <a:xfrm flipH="1">
            <a:off x="4018613" y="1759864"/>
            <a:ext cx="28154" cy="4100609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958867" y="1731142"/>
            <a:ext cx="0" cy="4129331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9" name="Freeform: Shape 38"/>
          <p:cNvSpPr/>
          <p:nvPr/>
        </p:nvSpPr>
        <p:spPr>
          <a:xfrm>
            <a:off x="154350" y="2517730"/>
            <a:ext cx="1302106" cy="834037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b="1" kern="1200" dirty="0">
                <a:solidFill>
                  <a:schemeClr val="tx1"/>
                </a:solidFill>
              </a:rPr>
              <a:t>Integrations</a:t>
            </a:r>
            <a:endParaRPr lang="en-US" sz="1400" b="1" kern="1200" dirty="0">
              <a:solidFill>
                <a:schemeClr val="tx1"/>
              </a:solidFill>
            </a:endParaRP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400" b="1" kern="12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15</a:t>
            </a:r>
            <a:endParaRPr lang="en-IN" sz="1400" b="1" kern="1200" dirty="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29" name="Diagram 28"/>
          <p:cNvGraphicFramePr/>
          <p:nvPr/>
        </p:nvGraphicFramePr>
        <p:xfrm>
          <a:off x="4397716" y="2347751"/>
          <a:ext cx="4243015" cy="2391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0" name="Freeform: Shape 23"/>
          <p:cNvSpPr/>
          <p:nvPr/>
        </p:nvSpPr>
        <p:spPr>
          <a:xfrm>
            <a:off x="2108374" y="3362206"/>
            <a:ext cx="1335754" cy="643212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err="1">
                <a:solidFill>
                  <a:schemeClr val="tx1"/>
                </a:solidFill>
              </a:rPr>
              <a:t>Env</a:t>
            </a:r>
            <a:r>
              <a:rPr lang="en-US" sz="1200" b="1">
                <a:solidFill>
                  <a:schemeClr val="tx1"/>
                </a:solidFill>
              </a:rPr>
              <a:t> issues</a:t>
            </a:r>
            <a:endParaRPr lang="en-US" sz="1200" b="1" kern="1200">
              <a:solidFill>
                <a:schemeClr val="tx1"/>
              </a:solidFill>
            </a:endParaRP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1200" b="1">
                <a:solidFill>
                  <a:schemeClr val="tx1"/>
                </a:solidFill>
              </a:rPr>
              <a:t>0</a:t>
            </a:r>
            <a:endParaRPr lang="en-IN" sz="1200" b="1" kern="1200">
              <a:solidFill>
                <a:schemeClr val="tx1"/>
              </a:solidFill>
            </a:endParaRPr>
          </a:p>
        </p:txBody>
      </p:sp>
      <p:sp>
        <p:nvSpPr>
          <p:cNvPr id="42" name="Freeform: Shape 26"/>
          <p:cNvSpPr/>
          <p:nvPr/>
        </p:nvSpPr>
        <p:spPr>
          <a:xfrm>
            <a:off x="2111734" y="2032293"/>
            <a:ext cx="1335754" cy="683035"/>
          </a:xfrm>
          <a:custGeom>
            <a:avLst/>
            <a:gdLst>
              <a:gd name="connsiteX0" fmla="*/ 0 w 928810"/>
              <a:gd name="connsiteY0" fmla="*/ 350887 h 701773"/>
              <a:gd name="connsiteX1" fmla="*/ 464405 w 928810"/>
              <a:gd name="connsiteY1" fmla="*/ 0 h 701773"/>
              <a:gd name="connsiteX2" fmla="*/ 928810 w 928810"/>
              <a:gd name="connsiteY2" fmla="*/ 350887 h 701773"/>
              <a:gd name="connsiteX3" fmla="*/ 464405 w 928810"/>
              <a:gd name="connsiteY3" fmla="*/ 701774 h 701773"/>
              <a:gd name="connsiteX4" fmla="*/ 0 w 928810"/>
              <a:gd name="connsiteY4" fmla="*/ 350887 h 701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8810" h="701773">
                <a:moveTo>
                  <a:pt x="0" y="350887"/>
                </a:moveTo>
                <a:cubicBezTo>
                  <a:pt x="0" y="157097"/>
                  <a:pt x="207921" y="0"/>
                  <a:pt x="464405" y="0"/>
                </a:cubicBezTo>
                <a:cubicBezTo>
                  <a:pt x="720889" y="0"/>
                  <a:pt x="928810" y="157097"/>
                  <a:pt x="928810" y="350887"/>
                </a:cubicBezTo>
                <a:cubicBezTo>
                  <a:pt x="928810" y="544677"/>
                  <a:pt x="720889" y="701774"/>
                  <a:pt x="464405" y="701774"/>
                </a:cubicBezTo>
                <a:cubicBezTo>
                  <a:pt x="207921" y="701774"/>
                  <a:pt x="0" y="544677"/>
                  <a:pt x="0" y="350887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8721" tIns="115472" rIns="148721" bIns="115472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Functional</a:t>
            </a:r>
            <a:endParaRPr lang="en-US" sz="1200" b="1" dirty="0">
              <a:solidFill>
                <a:schemeClr val="tx1"/>
              </a:solidFill>
            </a:endParaRPr>
          </a:p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15</a:t>
            </a:r>
            <a:endParaRPr lang="en-US" sz="1200" b="1" dirty="0">
              <a:solidFill>
                <a:schemeClr val="tx1"/>
              </a:solidFill>
            </a:endParaRPr>
          </a:p>
        </p:txBody>
      </p:sp>
      <p:cxnSp>
        <p:nvCxnSpPr>
          <p:cNvPr id="43" name="Straight Arrow Connector 42"/>
          <p:cNvCxnSpPr>
            <a:endCxn id="42" idx="0"/>
          </p:cNvCxnSpPr>
          <p:nvPr/>
        </p:nvCxnSpPr>
        <p:spPr>
          <a:xfrm flipV="1">
            <a:off x="1477332" y="2373811"/>
            <a:ext cx="634402" cy="5199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1456456" y="2968373"/>
            <a:ext cx="651918" cy="6736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9934" y="453651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>
              <a:cs typeface="Calibri" panose="020F0502020204030204"/>
            </a:endParaRPr>
          </a:p>
        </p:txBody>
      </p:sp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263236" y="4585602"/>
          <a:ext cx="3247200" cy="111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757"/>
                <a:gridCol w="703443"/>
              </a:tblGrid>
              <a:tr h="37578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/>
                        <a:t> Integration Test</a:t>
                      </a:r>
                      <a:r>
                        <a:rPr lang="en-US" sz="1200" baseline="0"/>
                        <a:t> Scenarios </a:t>
                      </a:r>
                      <a:r>
                        <a:rPr lang="en-US" sz="1200"/>
                        <a:t> Creation/Execution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ED7D3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# Scenarios/TC</a:t>
                      </a:r>
                      <a:r>
                        <a:rPr lang="en-US" sz="1200" b="1" i="0" kern="1200" baseline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Created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 Execution*</a:t>
                      </a:r>
                      <a:endParaRPr lang="en-US" sz="12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235</a:t>
                      </a:r>
                      <a:endParaRPr lang="en-US" sz="12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63236" y="4207546"/>
            <a:ext cx="3546764" cy="31945"/>
          </a:xfrm>
          <a:prstGeom prst="line">
            <a:avLst/>
          </a:prstGeom>
          <a:ln w="28575">
            <a:solidFill>
              <a:srgbClr val="3D6EBD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3525" y="5752465"/>
            <a:ext cx="268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* - </a:t>
            </a:r>
            <a:r>
              <a:rPr lang="en-IN" sz="1100"/>
              <a:t>Test Execution includes in Progress</a:t>
            </a:r>
            <a:endParaRPr lang="en-IN" sz="110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638800" y="478790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Worksheet" showAsIcon="1" r:id="rId6" imgW="561340" imgH="474345" progId="Excel.Sheet.12">
                  <p:embed/>
                </p:oleObj>
              </mc:Choice>
              <mc:Fallback>
                <p:oleObj name="Worksheet" showAsIcon="1" r:id="rId6" imgW="561340" imgH="474345" progId="Excel.Sheet.12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38800" y="478790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9467044" y="2964686"/>
            <a:ext cx="1300797" cy="1090460"/>
            <a:chOff x="435531" y="926"/>
            <a:chExt cx="928810" cy="701773"/>
          </a:xfrm>
        </p:grpSpPr>
        <p:sp>
          <p:nvSpPr>
            <p:cNvPr id="7" name="Oval 6"/>
            <p:cNvSpPr/>
            <p:nvPr/>
          </p:nvSpPr>
          <p:spPr>
            <a:xfrm>
              <a:off x="435531" y="926"/>
              <a:ext cx="928810" cy="70177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Oval 4"/>
            <p:cNvSpPr txBox="1"/>
            <p:nvPr/>
          </p:nvSpPr>
          <p:spPr>
            <a:xfrm>
              <a:off x="607657" y="110819"/>
              <a:ext cx="656768" cy="4962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b="1" dirty="0">
                  <a:solidFill>
                    <a:schemeClr val="tx1"/>
                  </a:solidFill>
                </a:rPr>
                <a:t>4 </a:t>
              </a:r>
              <a:r>
                <a:rPr lang="en-IN" b="1" kern="1200" dirty="0">
                  <a:solidFill>
                    <a:schemeClr val="tx1"/>
                  </a:solidFill>
                </a:rPr>
                <a:t>%</a:t>
              </a:r>
              <a:endParaRPr lang="en-IN" b="1" kern="1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solidFill>
                  <a:prstClr val="white"/>
                </a:solidFill>
              </a:rPr>
              <a:t>Monthly Trend - Details	</a:t>
            </a:r>
            <a:endParaRPr lang="en-IN" b="1">
              <a:solidFill>
                <a:prstClr val="white"/>
              </a:solidFill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155430" y="1110436"/>
          <a:ext cx="11305631" cy="4888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4" y="139888"/>
            <a:ext cx="5800069" cy="508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Data / Marketing / Loyalty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665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76698" y="775120"/>
            <a:ext cx="11294916" cy="2708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prstClr val="white"/>
                </a:solidFill>
                <a:latin typeface="Calibri" panose="020F0502020204030204"/>
              </a:rPr>
              <a:t>Data / Marketing / Loyalty QA </a:t>
            </a:r>
            <a:r>
              <a:rPr lang="en-US" b="1" dirty="0"/>
              <a:t>– Plan for Apr 2026 </a:t>
            </a:r>
            <a:endParaRPr lang="en-US" b="1" dirty="0"/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6698" y="1297666"/>
          <a:ext cx="11294916" cy="3025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599"/>
                <a:gridCol w="10566317"/>
              </a:tblGrid>
              <a:tr h="28115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S. No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u="none" strike="noStrike">
                          <a:effectLst/>
                        </a:rPr>
                        <a:t>Activity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Redesign for the Braze feeds</a:t>
                      </a: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​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Reward Journey</a:t>
                      </a: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Customer Segment – DY and Davinci</a:t>
                      </a:r>
                      <a:endParaRPr kumimoji="0" lang="en-US" dirty="0"/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Birthday BRD Life journey</a:t>
                      </a: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Automation Activities</a:t>
                      </a:r>
                      <a:endParaRPr kumimoji="0" lang="en-US" sz="12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Delete Customer to CDP (Phase 2)</a:t>
                      </a: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12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kumimoji="0" lang="en-US" sz="12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ShipItInstead</a:t>
                      </a:r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 – Pickup Reminder</a:t>
                      </a: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Price drop push notification(Airship)</a:t>
                      </a: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  <a:tr h="30497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kumimoji="0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charset="0"/>
                          <a:ea typeface="+mn-ea"/>
                          <a:cs typeface="+mn-cs"/>
                        </a:rPr>
                        <a:t>Canvas Enhancements</a:t>
                      </a:r>
                      <a:endParaRPr kumimoji="0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1047750" y="2659559"/>
            <a:ext cx="9725025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Integration Legion QA MSR</a:t>
            </a:r>
            <a:r>
              <a:rPr lang="en-US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– March </a:t>
            </a:r>
            <a:r>
              <a:rPr lang="en-US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2026</a:t>
            </a:r>
            <a:endParaRPr lang="en-IN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Integration Legion QA Updates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3818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Integration Legion QA Activities performed in February 2026</a:t>
            </a:r>
            <a:endParaRPr lang="en-US" b="1" dirty="0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9090" y="1161415"/>
          <a:ext cx="9276080" cy="2444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8460740"/>
              </a:tblGrid>
              <a:tr h="33972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S. No 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Validated the</a:t>
                      </a:r>
                      <a:r>
                        <a:rPr lang="en-US" sz="1200" b="1" baseline="0" dirty="0">
                          <a:solidFill>
                            <a:schemeClr val="tx1"/>
                          </a:solidFill>
                        </a:rPr>
                        <a:t> Major Changes</a:t>
                      </a:r>
                      <a:endParaRPr lang="en-US" sz="1200" b="1" baseline="0" dirty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Time Clock- Web, Tab and Mobile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Location Validation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Store Validation 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DC Store Validation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Corporate Validation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Test Execution in different devices –Web, Tab(Lambda Test) and Mobile(Lamda Test)</a:t>
                      </a:r>
                      <a:endParaRPr 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Defect Validation for fixes</a:t>
                      </a:r>
                      <a:endParaRPr kumimoji="0" 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5435">
                <a:tc>
                  <a:txBody>
                    <a:bodyPr/>
                    <a:lstStyle/>
                    <a:p>
                      <a:pPr lvl="0"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/>
                        <a:t>Leave Accrual and Leave flows for store associates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679305" y="1195070"/>
          <a:ext cx="1795780" cy="93408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95780"/>
              </a:tblGrid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Integration Releases</a:t>
                      </a: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03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en-US" alt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03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en-US" altLang="en-IN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Integration Legion  QA Updates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Integration Legion QA Story/Defect Summary</a:t>
            </a:r>
            <a:endParaRPr lang="en-US" b="1" dirty="0"/>
          </a:p>
        </p:txBody>
      </p:sp>
      <p:sp>
        <p:nvSpPr>
          <p:cNvPr id="92" name="TextBox 91"/>
          <p:cNvSpPr txBox="1"/>
          <p:nvPr/>
        </p:nvSpPr>
        <p:spPr>
          <a:xfrm>
            <a:off x="4905964" y="1551698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/>
              <a:t>Story/Defects Verification Report</a:t>
            </a:r>
            <a:endParaRPr lang="en-US" sz="1200" b="1" u="sng" dirty="0"/>
          </a:p>
        </p:txBody>
      </p:sp>
      <p:cxnSp>
        <p:nvCxnSpPr>
          <p:cNvPr id="97" name="Straight Connector 96"/>
          <p:cNvCxnSpPr/>
          <p:nvPr/>
        </p:nvCxnSpPr>
        <p:spPr>
          <a:xfrm flipH="1">
            <a:off x="3777491" y="1585746"/>
            <a:ext cx="13558" cy="4326773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9229725" y="1621079"/>
            <a:ext cx="18778" cy="3955597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1456" y="3047260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Test Scenarios Prepared</a:t>
            </a:r>
            <a:endParaRPr lang="en-US" sz="1200" b="1" u="sng"/>
          </a:p>
        </p:txBody>
      </p:sp>
      <p:grpSp>
        <p:nvGrpSpPr>
          <p:cNvPr id="3" name="Group 2"/>
          <p:cNvGrpSpPr/>
          <p:nvPr/>
        </p:nvGrpSpPr>
        <p:grpSpPr>
          <a:xfrm>
            <a:off x="510152" y="1550414"/>
            <a:ext cx="2799619" cy="1208380"/>
            <a:chOff x="376250" y="3425026"/>
            <a:chExt cx="2799619" cy="1208380"/>
          </a:xfrm>
        </p:grpSpPr>
        <p:sp>
          <p:nvSpPr>
            <p:cNvPr id="90" name="TextBox 89"/>
            <p:cNvSpPr txBox="1"/>
            <p:nvPr/>
          </p:nvSpPr>
          <p:spPr>
            <a:xfrm>
              <a:off x="376250" y="3425026"/>
              <a:ext cx="27996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/>
                <a:t>New</a:t>
              </a:r>
              <a:r>
                <a:rPr lang="en-US" sz="1100" b="1" u="sng"/>
                <a:t> </a:t>
              </a:r>
              <a:r>
                <a:rPr lang="en-US" sz="1200" b="1" u="sng"/>
                <a:t>Defects</a:t>
              </a:r>
              <a:r>
                <a:rPr lang="en-US" sz="1100" b="1" u="sng"/>
                <a:t> </a:t>
              </a:r>
              <a:r>
                <a:rPr lang="en-US" sz="1200" b="1" u="sng"/>
                <a:t>Report</a:t>
              </a:r>
              <a:endParaRPr lang="en-US" sz="1200" b="1" u="sng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1228223" y="3949962"/>
              <a:ext cx="1095672" cy="683444"/>
            </a:xfrm>
            <a:custGeom>
              <a:avLst/>
              <a:gdLst>
                <a:gd name="connsiteX0" fmla="*/ 0 w 928810"/>
                <a:gd name="connsiteY0" fmla="*/ 350887 h 701773"/>
                <a:gd name="connsiteX1" fmla="*/ 464405 w 928810"/>
                <a:gd name="connsiteY1" fmla="*/ 0 h 701773"/>
                <a:gd name="connsiteX2" fmla="*/ 928810 w 928810"/>
                <a:gd name="connsiteY2" fmla="*/ 350887 h 701773"/>
                <a:gd name="connsiteX3" fmla="*/ 464405 w 928810"/>
                <a:gd name="connsiteY3" fmla="*/ 701774 h 701773"/>
                <a:gd name="connsiteX4" fmla="*/ 0 w 928810"/>
                <a:gd name="connsiteY4" fmla="*/ 350887 h 70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810" h="701773">
                  <a:moveTo>
                    <a:pt x="0" y="350887"/>
                  </a:moveTo>
                  <a:cubicBezTo>
                    <a:pt x="0" y="157097"/>
                    <a:pt x="207921" y="0"/>
                    <a:pt x="464405" y="0"/>
                  </a:cubicBezTo>
                  <a:cubicBezTo>
                    <a:pt x="720889" y="0"/>
                    <a:pt x="928810" y="157097"/>
                    <a:pt x="928810" y="350887"/>
                  </a:cubicBezTo>
                  <a:cubicBezTo>
                    <a:pt x="928810" y="544677"/>
                    <a:pt x="720889" y="701774"/>
                    <a:pt x="464405" y="701774"/>
                  </a:cubicBezTo>
                  <a:cubicBezTo>
                    <a:pt x="207921" y="701774"/>
                    <a:pt x="0" y="544677"/>
                    <a:pt x="0" y="35088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721" tIns="115472" rIns="148721" bIns="115472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Defects</a:t>
              </a:r>
              <a:endParaRPr lang="en-US" sz="1400" b="1" kern="1200" dirty="0">
                <a:solidFill>
                  <a:schemeClr val="tx1"/>
                </a:solidFill>
              </a:endParaRP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IN" sz="1400" b="1">
                  <a:solidFill>
                    <a:schemeClr val="tx1"/>
                  </a:solidFill>
                  <a:ea typeface="Calibri" panose="020F0502020204030204"/>
                  <a:cs typeface="Calibri" panose="020F0502020204030204"/>
                </a:rPr>
                <a:t>9</a:t>
              </a:r>
              <a:endParaRPr lang="en-US" altLang="en-IN" sz="1400" b="1" kern="1200" dirty="0">
                <a:solidFill>
                  <a:schemeClr val="tx1"/>
                </a:solidFill>
                <a:ea typeface="Calibri" panose="020F0502020204030204"/>
                <a:cs typeface="Calibri" panose="020F0502020204030204"/>
              </a:endParaRPr>
            </a:p>
          </p:txBody>
        </p:sp>
      </p:grpSp>
      <p:graphicFrame>
        <p:nvGraphicFramePr>
          <p:cNvPr id="29" name="Table 4"/>
          <p:cNvGraphicFramePr>
            <a:graphicFrameLocks noGrp="1"/>
          </p:cNvGraphicFramePr>
          <p:nvPr/>
        </p:nvGraphicFramePr>
        <p:xfrm>
          <a:off x="245181" y="4966029"/>
          <a:ext cx="3344929" cy="6106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08721"/>
                <a:gridCol w="936208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 </a:t>
                      </a:r>
                      <a:r>
                        <a:rPr lang="en-US" sz="1400" baseline="0" dirty="0"/>
                        <a:t> Execution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0584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Integration Legion(P1,P2)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474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78865" y="3503930"/>
            <a:ext cx="1583690" cy="1184910"/>
          </a:xfrm>
          <a:prstGeom prst="ellipse">
            <a:avLst/>
          </a:prstGeom>
          <a:solidFill>
            <a:schemeClr val="accent5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Test Scenarios</a:t>
            </a:r>
            <a:endParaRPr lang="en-US" b="1" dirty="0"/>
          </a:p>
          <a:p>
            <a:pPr algn="ctr"/>
            <a:r>
              <a:rPr lang="en-US" b="1"/>
              <a:t>486</a:t>
            </a:r>
            <a:endParaRPr lang="en-US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183110" y="5419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4" name="Diagram 3"/>
          <p:cNvGraphicFramePr/>
          <p:nvPr/>
        </p:nvGraphicFramePr>
        <p:xfrm>
          <a:off x="4381309" y="2194580"/>
          <a:ext cx="4243015" cy="2391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9467044" y="2964686"/>
            <a:ext cx="1300797" cy="1090460"/>
            <a:chOff x="435531" y="926"/>
            <a:chExt cx="928810" cy="701773"/>
          </a:xfrm>
        </p:grpSpPr>
        <p:sp>
          <p:nvSpPr>
            <p:cNvPr id="8" name="Oval 7"/>
            <p:cNvSpPr/>
            <p:nvPr/>
          </p:nvSpPr>
          <p:spPr>
            <a:xfrm>
              <a:off x="435531" y="926"/>
              <a:ext cx="928810" cy="701773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Oval 4"/>
            <p:cNvSpPr txBox="1"/>
            <p:nvPr/>
          </p:nvSpPr>
          <p:spPr>
            <a:xfrm>
              <a:off x="607657" y="110819"/>
              <a:ext cx="656768" cy="49622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IN" b="1" dirty="0">
                  <a:solidFill>
                    <a:schemeClr val="tx1"/>
                  </a:solidFill>
                </a:rPr>
                <a:t>5 </a:t>
              </a:r>
              <a:r>
                <a:rPr lang="en-IN" b="1" kern="1200" dirty="0">
                  <a:solidFill>
                    <a:schemeClr val="tx1"/>
                  </a:solidFill>
                </a:rPr>
                <a:t>%</a:t>
              </a:r>
              <a:endParaRPr lang="en-IN" b="1" kern="12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Integration Legion QA Updates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Integration Legion  QA -Plan for March 2026</a:t>
            </a:r>
            <a:endParaRPr lang="en-US" b="1" dirty="0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7185" y="1201420"/>
          <a:ext cx="879348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78867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S. No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07637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Time Clock- Web, Tab and Mobile</a:t>
                      </a:r>
                      <a:endParaRPr lang="en-US" sz="1200" dirty="0">
                        <a:sym typeface="+mn-ea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Automation Script for Time Clock-Clock </a:t>
                      </a:r>
                      <a:r>
                        <a:rPr lang="en-US" altLang="en-US" sz="1200" baseline="0" dirty="0" err="1">
                          <a:solidFill>
                            <a:schemeClr val="tx1"/>
                          </a:solidFill>
                          <a:latin typeface="+mn-lt"/>
                        </a:rPr>
                        <a:t>iN</a:t>
                      </a: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</a:rPr>
                        <a:t>, Meal Break, Resume Shift and Clock Out.,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Location Validation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Store Validation 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DC Store Validation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Corporate Validation</a:t>
                      </a:r>
                      <a:endParaRPr 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en-US" sz="1200" baseline="0" dirty="0">
                          <a:solidFill>
                            <a:schemeClr val="tx1"/>
                          </a:solidFill>
                          <a:latin typeface="+mn-lt"/>
                          <a:sym typeface="+mn-ea"/>
                        </a:rPr>
                        <a:t>Defect Creation and Retests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  <a:sym typeface="+mn-ea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dirty="0"/>
                        <a:t>Leave Accrual and Leave flows for store associates</a:t>
                      </a:r>
                      <a:endParaRPr lang="en-US" altLang="en-US" sz="12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Documentation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0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665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5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graphicFrame>
        <p:nvGraphicFramePr>
          <p:cNvPr id="37" name="Diagram 36"/>
          <p:cNvGraphicFramePr/>
          <p:nvPr/>
        </p:nvGraphicFramePr>
        <p:xfrm>
          <a:off x="1210163" y="5299595"/>
          <a:ext cx="1449099" cy="787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3" name="Rectangle 2"/>
          <p:cNvSpPr/>
          <p:nvPr/>
        </p:nvSpPr>
        <p:spPr>
          <a:xfrm>
            <a:off x="1047750" y="2659559"/>
            <a:ext cx="9725025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Integration Talend to GCP QA MSR</a:t>
            </a:r>
            <a:r>
              <a:rPr lang="en-US" sz="4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–March 20266</a:t>
            </a:r>
            <a:endParaRPr lang="en-IN" sz="44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Integration Talend to GCP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Integration Talend to GCP QA Activities performed in February 2026</a:t>
            </a:r>
            <a:endParaRPr lang="en-US" b="1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7185" y="1201420"/>
          <a:ext cx="8793480" cy="3019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78867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S. No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07637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DI-7055 | Talend to GCP Migration - Batch 5 | Analysis and Validation-</a:t>
                      </a:r>
                      <a:r>
                        <a:rPr lang="en-US" sz="1200" b="1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Execution Completed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marR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DI-7315 | Talend to GCP Migration - Batch 6 | Analysis and Validation-</a:t>
                      </a:r>
                      <a:r>
                        <a:rPr lang="en-US" sz="1200" b="1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Execution Completed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marR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DI-7345 | Talend to GCP Migration - Batch 7 | Analysis and Validation- </a:t>
                      </a:r>
                      <a:r>
                        <a:rPr lang="en-US" sz="1200" b="1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Execution Completed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marR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DI-7383 | Talend to GCP Migration - Batch 8 | Analysis and Validation-</a:t>
                      </a:r>
                      <a:r>
                        <a:rPr lang="en-US" sz="1200" b="1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Execution Completed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marR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DI-7405 | Talend to GCP Migration - Batch 9 | Analysis and Validation-</a:t>
                      </a:r>
                      <a:r>
                        <a:rPr lang="en-US" sz="1200" b="1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Execution In Progress</a:t>
                      </a:r>
                      <a:endParaRPr lang="en-US" sz="1200" b="0" i="0" u="none" strike="noStrike" baseline="0" noProof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baseline="0" noProof="0">
                          <a:solidFill>
                            <a:schemeClr val="tx1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QE-3319| </a:t>
                      </a:r>
                      <a:r>
                        <a:rPr lang="en-US" sz="1200" b="0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Talend to GCP Migration - Batch 10| Analysis and Validation-</a:t>
                      </a:r>
                      <a:r>
                        <a:rPr lang="en-US" sz="1200" b="1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Execution In Progress</a:t>
                      </a:r>
                      <a:endParaRPr lang="en-US"/>
                    </a:p>
                    <a:p>
                      <a:pPr marL="0" marR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Defect Creation and Retest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Documentation done for each job for Job Run, Context parameter, logs and Execution status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286042" y="1342124"/>
          <a:ext cx="2297651" cy="975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97651"/>
              </a:tblGrid>
              <a:tr h="24125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Integration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Release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200" b="0">
                          <a:solidFill>
                            <a:schemeClr val="tx1"/>
                          </a:solidFill>
                          <a:latin typeface="+mn-lt"/>
                        </a:rPr>
                        <a:t>No Plan Release</a:t>
                      </a:r>
                      <a:endParaRPr lang="en-US" altLang="en-IN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2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  <a:endParaRPr lang="en-US" altLang="en-IN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Integration Talend to GCP 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Integration Talend to GCP QA Story/Defect Summary</a:t>
            </a:r>
            <a:endParaRPr lang="en-US" b="1"/>
          </a:p>
        </p:txBody>
      </p:sp>
      <p:sp>
        <p:nvSpPr>
          <p:cNvPr id="92" name="TextBox 91"/>
          <p:cNvSpPr txBox="1"/>
          <p:nvPr/>
        </p:nvSpPr>
        <p:spPr>
          <a:xfrm>
            <a:off x="4905964" y="1551698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Story/Defects Verification Report</a:t>
            </a:r>
            <a:endParaRPr lang="en-US" sz="1200" b="1" u="sng"/>
          </a:p>
        </p:txBody>
      </p:sp>
      <p:cxnSp>
        <p:nvCxnSpPr>
          <p:cNvPr id="97" name="Straight Connector 96"/>
          <p:cNvCxnSpPr/>
          <p:nvPr/>
        </p:nvCxnSpPr>
        <p:spPr>
          <a:xfrm flipH="1">
            <a:off x="3777491" y="1585746"/>
            <a:ext cx="13558" cy="4326773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9229725" y="1621079"/>
            <a:ext cx="18778" cy="3955597"/>
          </a:xfrm>
          <a:prstGeom prst="line">
            <a:avLst/>
          </a:prstGeom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1456" y="3047260"/>
            <a:ext cx="2799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/>
              <a:t>Test Scenarios Prepared</a:t>
            </a:r>
            <a:endParaRPr lang="en-US" sz="1200" b="1" u="sng"/>
          </a:p>
        </p:txBody>
      </p:sp>
      <p:grpSp>
        <p:nvGrpSpPr>
          <p:cNvPr id="3" name="Group 2"/>
          <p:cNvGrpSpPr/>
          <p:nvPr/>
        </p:nvGrpSpPr>
        <p:grpSpPr>
          <a:xfrm>
            <a:off x="510152" y="1550414"/>
            <a:ext cx="2799619" cy="1208380"/>
            <a:chOff x="376250" y="3425026"/>
            <a:chExt cx="2799619" cy="1208380"/>
          </a:xfrm>
        </p:grpSpPr>
        <p:sp>
          <p:nvSpPr>
            <p:cNvPr id="90" name="TextBox 89"/>
            <p:cNvSpPr txBox="1"/>
            <p:nvPr/>
          </p:nvSpPr>
          <p:spPr>
            <a:xfrm>
              <a:off x="376250" y="3425026"/>
              <a:ext cx="27996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u="sng"/>
                <a:t>New</a:t>
              </a:r>
              <a:r>
                <a:rPr lang="en-US" sz="1100" b="1" u="sng"/>
                <a:t> </a:t>
              </a:r>
              <a:r>
                <a:rPr lang="en-US" sz="1200" b="1" u="sng"/>
                <a:t>Defects</a:t>
              </a:r>
              <a:r>
                <a:rPr lang="en-US" sz="1100" b="1" u="sng"/>
                <a:t> </a:t>
              </a:r>
              <a:r>
                <a:rPr lang="en-US" sz="1200" b="1" u="sng"/>
                <a:t>Report</a:t>
              </a:r>
              <a:endParaRPr lang="en-US" sz="1200" b="1" u="sng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1228223" y="3949962"/>
              <a:ext cx="1095672" cy="683444"/>
            </a:xfrm>
            <a:custGeom>
              <a:avLst/>
              <a:gdLst>
                <a:gd name="connsiteX0" fmla="*/ 0 w 928810"/>
                <a:gd name="connsiteY0" fmla="*/ 350887 h 701773"/>
                <a:gd name="connsiteX1" fmla="*/ 464405 w 928810"/>
                <a:gd name="connsiteY1" fmla="*/ 0 h 701773"/>
                <a:gd name="connsiteX2" fmla="*/ 928810 w 928810"/>
                <a:gd name="connsiteY2" fmla="*/ 350887 h 701773"/>
                <a:gd name="connsiteX3" fmla="*/ 464405 w 928810"/>
                <a:gd name="connsiteY3" fmla="*/ 701774 h 701773"/>
                <a:gd name="connsiteX4" fmla="*/ 0 w 928810"/>
                <a:gd name="connsiteY4" fmla="*/ 350887 h 701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8810" h="701773">
                  <a:moveTo>
                    <a:pt x="0" y="350887"/>
                  </a:moveTo>
                  <a:cubicBezTo>
                    <a:pt x="0" y="157097"/>
                    <a:pt x="207921" y="0"/>
                    <a:pt x="464405" y="0"/>
                  </a:cubicBezTo>
                  <a:cubicBezTo>
                    <a:pt x="720889" y="0"/>
                    <a:pt x="928810" y="157097"/>
                    <a:pt x="928810" y="350887"/>
                  </a:cubicBezTo>
                  <a:cubicBezTo>
                    <a:pt x="928810" y="544677"/>
                    <a:pt x="720889" y="701774"/>
                    <a:pt x="464405" y="701774"/>
                  </a:cubicBezTo>
                  <a:cubicBezTo>
                    <a:pt x="207921" y="701774"/>
                    <a:pt x="0" y="544677"/>
                    <a:pt x="0" y="350887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  <a:bevelB/>
            </a:sp3d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8721" tIns="115472" rIns="148721" bIns="115472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>
                  <a:solidFill>
                    <a:schemeClr val="tx1"/>
                  </a:solidFill>
                </a:rPr>
                <a:t>Defects</a:t>
              </a:r>
              <a:endParaRPr lang="en-US" sz="1400" b="1" kern="1200">
                <a:solidFill>
                  <a:schemeClr val="tx1"/>
                </a:solidFill>
              </a:endParaRPr>
            </a:p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en-IN" sz="1400" b="1">
                  <a:solidFill>
                    <a:schemeClr val="tx1"/>
                  </a:solidFill>
                </a:rPr>
                <a:t>27</a:t>
              </a:r>
              <a:endParaRPr lang="en-US" altLang="en-IN" sz="1400" b="1" kern="1200">
                <a:solidFill>
                  <a:schemeClr val="tx1"/>
                </a:solidFill>
                <a:ea typeface="Calibri" panose="020F0502020204030204"/>
                <a:cs typeface="Calibri" panose="020F0502020204030204"/>
              </a:endParaRPr>
            </a:p>
          </p:txBody>
        </p:sp>
      </p:grpSp>
      <p:graphicFrame>
        <p:nvGraphicFramePr>
          <p:cNvPr id="29" name="Table 4"/>
          <p:cNvGraphicFramePr>
            <a:graphicFrameLocks noGrp="1"/>
          </p:cNvGraphicFramePr>
          <p:nvPr/>
        </p:nvGraphicFramePr>
        <p:xfrm>
          <a:off x="245181" y="4966029"/>
          <a:ext cx="3344929" cy="6106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08721"/>
                <a:gridCol w="936208"/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/>
                        <a:t>Test </a:t>
                      </a:r>
                      <a:r>
                        <a:rPr lang="en-US" sz="1400" baseline="0"/>
                        <a:t> Execution</a:t>
                      </a: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0584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Integration Legion(P1,P2)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424</a:t>
                      </a:r>
                      <a:endParaRPr kumimoji="0"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78865" y="3503930"/>
            <a:ext cx="1583690" cy="1184910"/>
          </a:xfrm>
          <a:prstGeom prst="ellipse">
            <a:avLst/>
          </a:prstGeom>
          <a:solidFill>
            <a:schemeClr val="accent5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Test Scenarios</a:t>
            </a:r>
            <a:endParaRPr lang="en-US" b="1"/>
          </a:p>
          <a:p>
            <a:pPr algn="ctr"/>
            <a:r>
              <a:rPr lang="en-US" b="1"/>
              <a:t>424</a:t>
            </a:r>
            <a:endParaRPr lang="en-US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183110" y="5419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9976936" y="2831283"/>
            <a:ext cx="1160012" cy="991078"/>
          </a:xfrm>
          <a:prstGeom prst="ellipse">
            <a:avLst/>
          </a:prstGeom>
          <a:solidFill>
            <a:srgbClr val="C00000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  <a:bevelB/>
          </a:sp3d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45720" rIns="91440" bIns="45720" anchor="t"/>
          <a:lstStyle>
            <a:defPPr>
              <a:defRPr lang="pl-P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   </a:t>
            </a:r>
            <a:endParaRPr lang="en-US"/>
          </a:p>
          <a:p>
            <a:r>
              <a:rPr lang="en-US"/>
              <a:t>   40%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14114" y="1360714"/>
            <a:ext cx="2069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>
                <a:solidFill>
                  <a:srgbClr val="000000"/>
                </a:solidFill>
                <a:effectLst/>
                <a:latin typeface="Calibri" panose="020F0502020204030204" charset="0"/>
              </a:rPr>
              <a:t>Avg Ticket Re-open Rate</a:t>
            </a:r>
            <a:endParaRPr lang="en-US" sz="1200"/>
          </a:p>
        </p:txBody>
      </p:sp>
      <p:graphicFrame>
        <p:nvGraphicFramePr>
          <p:cNvPr id="5" name="Diagram 4"/>
          <p:cNvGraphicFramePr/>
          <p:nvPr/>
        </p:nvGraphicFramePr>
        <p:xfrm>
          <a:off x="4381309" y="2194580"/>
          <a:ext cx="4243015" cy="2391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itle 2"/>
          <p:cNvSpPr txBox="1"/>
          <p:nvPr/>
        </p:nvSpPr>
        <p:spPr>
          <a:xfrm>
            <a:off x="726855" y="139888"/>
            <a:ext cx="507964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b="1">
                <a:solidFill>
                  <a:prstClr val="white"/>
                </a:solidFill>
                <a:latin typeface="Calibri" panose="020F0502020204030204"/>
              </a:rPr>
              <a:t>Integration Talend to GCP QA Updates</a:t>
            </a:r>
            <a:endParaRPr lang="en-IN" sz="2400" b="1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55432" y="1828800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55432" y="2411104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Demandware Access , Demandware JIRA access has been granted while Belk Dev JIRA access available only for newly created users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55432" y="1731142"/>
            <a:ext cx="350906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100">
                <a:solidFill>
                  <a:schemeClr val="bg1"/>
                </a:solidFill>
              </a:rPr>
              <a:t>Automation – Completed Sprint 1A and Sprint 2A ; Sprint 3A iTest scripts are in progress for Mobile and Desktop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55431" y="745718"/>
            <a:ext cx="11305631" cy="2964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Integration Talend to GCP  QA -Plan for March 2026</a:t>
            </a:r>
            <a:endParaRPr lang="en-US" b="1"/>
          </a:p>
        </p:txBody>
      </p:sp>
      <p:graphicFrame>
        <p:nvGraphicFramePr>
          <p:cNvPr id="86" name="Table 8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7185" y="1201421"/>
          <a:ext cx="8491129" cy="25323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5601"/>
                <a:gridCol w="7615528"/>
              </a:tblGrid>
              <a:tr h="312366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S. No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US" sz="14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1470335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baseline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Talend to GCP Migration - Batch 9 | Analysis and Validation</a:t>
                      </a:r>
                      <a:endParaRPr lang="en-US" sz="1200" b="0" i="0" u="none" strike="noStrike" kern="1200" baseline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Talend to GCP Migration - Batch 10| Analysis and Validation</a:t>
                      </a:r>
                      <a:endParaRPr lang="en-US" sz="1200" b="0" i="0" u="none" strike="noStrike" kern="1200" baseline="0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Talend to GCP Migration - Batch 11| Analysis and Validation</a:t>
                      </a:r>
                      <a:endParaRPr lang="en-US" sz="1200" b="0" i="0" u="none" strike="noStrike" kern="1200" baseline="0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baseline="0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Talend to GCP Migration - Batch 12 | Analysis and Validation</a:t>
                      </a:r>
                      <a:endParaRPr lang="en-US" sz="1200" b="1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7484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Documentation for Each job – Input /Output path, logs and Context parameter including JAMS portal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74840">
                <a:tc>
                  <a:txBody>
                    <a:bodyPr/>
                    <a:lstStyle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200" baseline="0">
                          <a:solidFill>
                            <a:schemeClr val="tx1"/>
                          </a:solidFill>
                          <a:latin typeface="+mn-lt"/>
                        </a:rPr>
                        <a:t>Defect creation and Retest </a:t>
                      </a:r>
                      <a:endParaRPr lang="en-US" altLang="en-US" sz="120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286042" y="1342124"/>
          <a:ext cx="2297651" cy="975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97651"/>
              </a:tblGrid>
              <a:tr h="241255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Integration</a:t>
                      </a:r>
                      <a:r>
                        <a:rPr lang="en-US" sz="14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>
                          <a:solidFill>
                            <a:schemeClr val="tx1"/>
                          </a:solidFill>
                        </a:rPr>
                        <a:t>Release</a:t>
                      </a:r>
                      <a:endParaRPr lang="en-IN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200" b="0">
                          <a:solidFill>
                            <a:schemeClr val="tx1"/>
                          </a:solidFill>
                          <a:latin typeface="+mn-lt"/>
                        </a:rPr>
                        <a:t>No Plan Release</a:t>
                      </a:r>
                      <a:endParaRPr lang="en-US" altLang="en-IN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IN" sz="1200" b="0">
                          <a:solidFill>
                            <a:schemeClr val="tx1"/>
                          </a:solidFill>
                          <a:latin typeface="+mn-lt"/>
                        </a:rPr>
                        <a:t>-</a:t>
                      </a:r>
                      <a:endParaRPr lang="en-US" altLang="en-IN" sz="1200" b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130811" y="139760"/>
            <a:ext cx="11847430" cy="436743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 txBox="1"/>
          <p:nvPr/>
        </p:nvSpPr>
        <p:spPr>
          <a:xfrm>
            <a:off x="350989" y="157940"/>
            <a:ext cx="1162725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eComm Website, Mobile App, Integrations QA – </a:t>
            </a:r>
            <a:r>
              <a:rPr lang="en-US" altLang="en-IN" sz="2000" b="1" dirty="0">
                <a:solidFill>
                  <a:prstClr val="white"/>
                </a:solidFill>
                <a:latin typeface="Calibri" panose="020F0502020204030204"/>
                <a:sym typeface="+mn-ea"/>
              </a:rPr>
              <a:t>February </a:t>
            </a:r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Effort Variance (</a:t>
            </a:r>
            <a:r>
              <a:rPr lang="en-IN" sz="1800" b="1" dirty="0">
                <a:solidFill>
                  <a:prstClr val="white"/>
                </a:solidFill>
                <a:latin typeface="Calibri" panose="020F0502020204030204"/>
              </a:rPr>
              <a:t>Onsite &amp; Offshore</a:t>
            </a:r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)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917107" y="3783331"/>
          <a:ext cx="3866575" cy="2335529"/>
        </p:xfrm>
        <a:graphic>
          <a:graphicData uri="http://schemas.openxmlformats.org/drawingml/2006/table">
            <a:tbl>
              <a:tblPr/>
              <a:tblGrid>
                <a:gridCol w="2088641"/>
                <a:gridCol w="1777934"/>
              </a:tblGrid>
              <a:tr h="579211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Effort Variance %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</a:tr>
              <a:tr h="59789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Website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19.64%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Mobile App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11.36%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579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 Integrations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2.36%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/>
          <p:nvPr/>
        </p:nvGraphicFramePr>
        <p:xfrm>
          <a:off x="130810" y="738505"/>
          <a:ext cx="3841750" cy="2749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055110" y="738505"/>
          <a:ext cx="3835400" cy="2889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/>
          <p:cNvGraphicFramePr/>
          <p:nvPr/>
        </p:nvGraphicFramePr>
        <p:xfrm>
          <a:off x="7973060" y="738505"/>
          <a:ext cx="3841750" cy="2814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/>
        </p:nvGraphicFramePr>
        <p:xfrm>
          <a:off x="213360" y="3882390"/>
          <a:ext cx="7379335" cy="2236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"/>
          <p:cNvSpPr/>
          <p:nvPr/>
        </p:nvSpPr>
        <p:spPr>
          <a:xfrm>
            <a:off x="111363" y="42118"/>
            <a:ext cx="12080637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 txBox="1"/>
          <p:nvPr/>
        </p:nvSpPr>
        <p:spPr>
          <a:xfrm>
            <a:off x="220759" y="118423"/>
            <a:ext cx="1162725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eComm Website, Mobile App, Integrations QA </a:t>
            </a:r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– </a:t>
            </a:r>
            <a:r>
              <a:rPr lang="en-US" altLang="en-IN" sz="2400" b="1" dirty="0">
                <a:solidFill>
                  <a:prstClr val="white"/>
                </a:solidFill>
                <a:latin typeface="Calibri" panose="020F0502020204030204"/>
              </a:rPr>
              <a:t>Weekly</a:t>
            </a:r>
            <a:r>
              <a:rPr lang="en-IN" sz="2400" b="1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Effort (</a:t>
            </a:r>
            <a:r>
              <a:rPr lang="en-IN" sz="1800" b="1" dirty="0">
                <a:solidFill>
                  <a:prstClr val="white"/>
                </a:solidFill>
                <a:latin typeface="Calibri" panose="020F0502020204030204"/>
              </a:rPr>
              <a:t>Onsite &amp; Offshore</a:t>
            </a:r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)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0" y="4653915"/>
            <a:ext cx="11554460" cy="10439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b="1" dirty="0"/>
              <a:t>Note :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Weekend support &amp; comp off details tracked in</a:t>
            </a:r>
            <a:r>
              <a:rPr lang="en-IN" altLang="en-US" sz="1200" dirty="0"/>
              <a:t> </a:t>
            </a:r>
            <a:r>
              <a:rPr lang="en-US" altLang="en-US" sz="1200" dirty="0"/>
              <a:t>https://belkdev.atlassian.net/wiki/spaces/QAE/pages/5711855617/Ecom+Automation+Integrations+Mobile+App+team+Release+weekend+Support+and+Holiday+details+Feb+2026+-+Jan+2027</a:t>
            </a:r>
            <a:endParaRPr lang="en-US" alt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ym typeface="+mn-ea"/>
              </a:rPr>
              <a:t>Overall Additional effort</a:t>
            </a:r>
            <a:r>
              <a:rPr lang="en-IN" altLang="en-US" sz="1200" b="1" dirty="0">
                <a:sym typeface="+mn-ea"/>
              </a:rPr>
              <a:t>/weekend support</a:t>
            </a:r>
            <a:r>
              <a:rPr lang="en-US" sz="1200" b="1" dirty="0">
                <a:sym typeface="+mn-ea"/>
              </a:rPr>
              <a:t> for the month of March</a:t>
            </a:r>
            <a:r>
              <a:rPr lang="en-US" altLang="en-IN" sz="1200" b="1" dirty="0">
                <a:sym typeface="+mn-ea"/>
              </a:rPr>
              <a:t> </a:t>
            </a:r>
            <a:r>
              <a:rPr lang="en-US" sz="1200" b="1" dirty="0">
                <a:sym typeface="+mn-ea"/>
              </a:rPr>
              <a:t>2026</a:t>
            </a:r>
            <a:r>
              <a:rPr lang="en-US" sz="1200" dirty="0">
                <a:sym typeface="+mn-ea"/>
              </a:rPr>
              <a:t> apart from planned hours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28650" lvl="1" indent="-171450" algn="l">
              <a:buFont typeface="Wingdings" panose="05000000000000000000" charset="0"/>
              <a:buChar char="Ø"/>
            </a:pPr>
            <a:r>
              <a:rPr lang="en-IN" altLang="en-US" sz="1200" dirty="0">
                <a:sym typeface="+mn-ea"/>
              </a:rPr>
              <a:t>Website &amp; Automation - </a:t>
            </a:r>
            <a:r>
              <a:rPr lang="en-US" altLang="en-IN" sz="1200" dirty="0">
                <a:sym typeface="+mn-ea"/>
              </a:rPr>
              <a:t>Additional efforts 1</a:t>
            </a:r>
            <a:r>
              <a:rPr lang="en-US" sz="1200" dirty="0">
                <a:sym typeface="+mn-ea"/>
              </a:rPr>
              <a:t>71 </a:t>
            </a:r>
            <a:r>
              <a:rPr lang="en-IN" altLang="en-US" sz="1200" dirty="0">
                <a:sym typeface="+mn-ea"/>
              </a:rPr>
              <a:t>hours</a:t>
            </a:r>
            <a:r>
              <a:rPr lang="en-US" altLang="en-IN" sz="1200" dirty="0">
                <a:sym typeface="+mn-ea"/>
              </a:rPr>
              <a:t> </a:t>
            </a:r>
            <a:endParaRPr lang="en-US" altLang="en-IN" sz="1200" dirty="0">
              <a:sym typeface="+mn-ea"/>
            </a:endParaRPr>
          </a:p>
          <a:p>
            <a:pPr marL="628650" lvl="1" indent="-171450" algn="l">
              <a:buFont typeface="Wingdings" panose="05000000000000000000" charset="0"/>
              <a:buChar char="Ø"/>
            </a:pPr>
            <a:r>
              <a:rPr lang="en-US" altLang="en-US" sz="1200" dirty="0"/>
              <a:t>Website Weekend Support - Mar 6, 7 </a:t>
            </a:r>
            <a:endParaRPr lang="en-US" altLang="en-US" sz="1200" dirty="0"/>
          </a:p>
          <a:p>
            <a:pPr marL="628650" lvl="1" indent="-171450" algn="l">
              <a:buFont typeface="Wingdings" panose="05000000000000000000" charset="0"/>
              <a:buChar char="Ø"/>
            </a:pPr>
            <a:r>
              <a:rPr lang="en-US" altLang="en-US" sz="1200" dirty="0"/>
              <a:t>Mobile App Weekend Support - Mar 6 &amp; 7 (Website support), 14, 21, 28</a:t>
            </a:r>
            <a:endParaRPr lang="en-US" altLang="en-US" sz="1200" dirty="0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221615" y="838200"/>
          <a:ext cx="11838940" cy="3719195"/>
        </p:xfrm>
        <a:graphic>
          <a:graphicData uri="http://schemas.openxmlformats.org/drawingml/2006/table">
            <a:tbl>
              <a:tblPr/>
              <a:tblGrid>
                <a:gridCol w="859790"/>
                <a:gridCol w="664210"/>
                <a:gridCol w="1094105"/>
                <a:gridCol w="1064260"/>
                <a:gridCol w="752475"/>
                <a:gridCol w="996315"/>
                <a:gridCol w="752475"/>
                <a:gridCol w="1210945"/>
                <a:gridCol w="751840"/>
                <a:gridCol w="1143000"/>
                <a:gridCol w="752475"/>
                <a:gridCol w="1044575"/>
                <a:gridCol w="752475"/>
              </a:tblGrid>
              <a:tr h="592455">
                <a:tc rowSpan="3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Teams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# of Team members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 1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 2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 3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 4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Week 5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489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Offshore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Onsite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(Mar 1 - 7)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(Mar 8-14)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(Mar 15-21)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(Mar 22-28)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(Mar 29-31)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Web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335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284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251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262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Automation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Mobile App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224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232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216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447675">
                <a:tc>
                  <a:txBody>
                    <a:bodyPr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Integrations</a:t>
                      </a:r>
                      <a:endParaRPr sz="1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280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312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320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128</a:t>
                      </a:r>
                      <a:endParaRPr sz="1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 txBox="1"/>
          <p:nvPr/>
        </p:nvSpPr>
        <p:spPr>
          <a:xfrm>
            <a:off x="220759" y="118423"/>
            <a:ext cx="1162725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Resource Allocation -  Based on Project Work [</a:t>
            </a:r>
            <a:r>
              <a:rPr lang="en-US" altLang="en-IN" sz="2000" b="1" dirty="0">
                <a:solidFill>
                  <a:prstClr val="white"/>
                </a:solidFill>
                <a:latin typeface="Calibri" panose="020F0502020204030204"/>
              </a:rPr>
              <a:t>January </a:t>
            </a:r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– 202</a:t>
            </a:r>
            <a:r>
              <a:rPr lang="en-US" altLang="en-IN" sz="2000" b="1" dirty="0">
                <a:solidFill>
                  <a:prstClr val="white"/>
                </a:solidFill>
                <a:latin typeface="Calibri" panose="020F0502020204030204"/>
              </a:rPr>
              <a:t>6</a:t>
            </a:r>
            <a:r>
              <a:rPr lang="en-IN" sz="2000" b="1" dirty="0">
                <a:solidFill>
                  <a:prstClr val="white"/>
                </a:solidFill>
                <a:latin typeface="Calibri" panose="020F0502020204030204"/>
              </a:rPr>
              <a:t>]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3820" y="814336"/>
          <a:ext cx="4889500" cy="2874188"/>
        </p:xfrm>
        <a:graphic>
          <a:graphicData uri="http://schemas.openxmlformats.org/drawingml/2006/table">
            <a:tbl>
              <a:tblPr/>
              <a:tblGrid>
                <a:gridCol w="584200"/>
                <a:gridCol w="2006600"/>
                <a:gridCol w="1384300"/>
                <a:gridCol w="914400"/>
              </a:tblGrid>
              <a:tr h="286464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eComm Team – Release Work</a:t>
                      </a:r>
                      <a:endParaRPr lang="en-US" sz="13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9601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S.No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Resource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Project Work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Location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Swathi Palaniswamy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Onsite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Vasanth Thennarasu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Narayana Reddy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Sowmiya Dharmalingam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Abinaya Kannan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VInu John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eComm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Hariharasudhan Mani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Automation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864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8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Karthik Chinnappa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Automation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635" y="2820670"/>
          <a:ext cx="4838700" cy="3014980"/>
        </p:xfrm>
        <a:graphic>
          <a:graphicData uri="http://schemas.openxmlformats.org/drawingml/2006/table">
            <a:tbl>
              <a:tblPr/>
              <a:tblGrid>
                <a:gridCol w="483870"/>
                <a:gridCol w="1751965"/>
                <a:gridCol w="1626235"/>
                <a:gridCol w="976630"/>
              </a:tblGrid>
              <a:tr h="265430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charset="0"/>
                        </a:rPr>
                        <a:t>Integration/Loyalty, Data and CDP</a:t>
                      </a: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charset="0"/>
                        </a:rPr>
                        <a:t> </a:t>
                      </a: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charset="0"/>
                        </a:rPr>
                        <a:t>Team – Release Work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Aptos Narrow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25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S.No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Resource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Project Work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Location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7495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Uvaiskhan Rahmathullah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Int, Loyalty, Data, CDP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Onsite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Ankur Degaramudi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Integration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Onsite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Balaji Kannan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Integration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Mohamed Rabeek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Integration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Venkatesh Narayana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Integration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Jaydev Dhingra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Integration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358" y="814336"/>
          <a:ext cx="4838700" cy="1870205"/>
        </p:xfrm>
        <a:graphic>
          <a:graphicData uri="http://schemas.openxmlformats.org/drawingml/2006/table">
            <a:tbl>
              <a:tblPr/>
              <a:tblGrid>
                <a:gridCol w="558800"/>
                <a:gridCol w="1930400"/>
                <a:gridCol w="1384300"/>
                <a:gridCol w="965200"/>
              </a:tblGrid>
              <a:tr h="265906"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Mobile App Team – Release Work</a:t>
                      </a:r>
                      <a:endParaRPr lang="en-US" sz="13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747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S.No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Resource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Project Work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Location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659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Parasuram Rangasamy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Mobile App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Onsite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659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Priyanka Moorthy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Mobile App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659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Shankari Devaraj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Mobile App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659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Ranjani Subramanian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Mobile App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659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Gowtham Ram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Mobile App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Offshore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/>
          <p:nvPr>
            <p:custDataLst>
              <p:tags r:id="rId2"/>
            </p:custDataLst>
          </p:nvPr>
        </p:nvGraphicFramePr>
        <p:xfrm>
          <a:off x="703580" y="3825240"/>
          <a:ext cx="4889500" cy="1054100"/>
        </p:xfrm>
        <a:graphic>
          <a:graphicData uri="http://schemas.openxmlformats.org/drawingml/2006/table">
            <a:tbl>
              <a:tblPr/>
              <a:tblGrid>
                <a:gridCol w="514350"/>
                <a:gridCol w="1849755"/>
                <a:gridCol w="1565275"/>
                <a:gridCol w="960120"/>
              </a:tblGrid>
              <a:tr h="274320">
                <a:tc gridSpan="4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Talend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to GCP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–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Release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Work</a:t>
                      </a:r>
                      <a:endParaRPr sz="1400" b="1" i="0">
                        <a:solidFill>
                          <a:srgbClr val="FFFFFF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Resource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Work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Location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971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Rajanaga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Kannan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Talend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 GCP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Offshore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9715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Kush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Mishra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Talend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 GCP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Offshore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703580" y="5076825"/>
          <a:ext cx="4889500" cy="628650"/>
        </p:xfrm>
        <a:graphic>
          <a:graphicData uri="http://schemas.openxmlformats.org/drawingml/2006/table">
            <a:tbl>
              <a:tblPr/>
              <a:tblGrid>
                <a:gridCol w="514985"/>
                <a:gridCol w="1849120"/>
                <a:gridCol w="1565910"/>
                <a:gridCol w="959485"/>
              </a:tblGrid>
              <a:tr h="219710">
                <a:tc gridSpan="4">
                  <a:txBody>
                    <a:bodyPr/>
                    <a:p>
                      <a:pPr algn="ctr" fontAlgn="ctr"/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Legion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–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Release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 </a:t>
                      </a:r>
                      <a:r>
                        <a:rPr sz="1400" b="1" i="0">
                          <a:solidFill>
                            <a:srgbClr val="FFFFFF"/>
                          </a:solidFill>
                          <a:latin typeface="Aptos Narrow"/>
                          <a:ea typeface="Aptos Narrow"/>
                        </a:rPr>
                        <a:t>Work</a:t>
                      </a:r>
                      <a:endParaRPr sz="1400" b="1" i="0">
                        <a:solidFill>
                          <a:srgbClr val="FFFFFF"/>
                        </a:solidFill>
                        <a:latin typeface="Aptos Narrow"/>
                        <a:ea typeface="Aptos Narrow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04470"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S.No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Resource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Project</a:t>
                      </a:r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Work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Location</a:t>
                      </a:r>
                      <a:endParaRPr sz="13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04470"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Mani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Obulisamy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Legion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Offshore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29301" y="59398"/>
            <a:ext cx="11554392" cy="618064"/>
          </a:xfrm>
          <a:prstGeom prst="roundRect">
            <a:avLst/>
          </a:prstGeom>
          <a:solidFill>
            <a:srgbClr val="8C5AA5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 txBox="1"/>
          <p:nvPr/>
        </p:nvSpPr>
        <p:spPr>
          <a:xfrm>
            <a:off x="220759" y="118423"/>
            <a:ext cx="11627252" cy="418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prstClr val="white"/>
                </a:solidFill>
                <a:latin typeface="Calibri" panose="020F0502020204030204"/>
              </a:rPr>
              <a:t>WFO Compliance</a:t>
            </a:r>
            <a:endParaRPr lang="en-IN" sz="2400" b="1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6857" y="736487"/>
          <a:ext cx="11360150" cy="5277485"/>
        </p:xfrm>
        <a:graphic>
          <a:graphicData uri="http://schemas.openxmlformats.org/drawingml/2006/table">
            <a:tbl>
              <a:tblPr/>
              <a:tblGrid>
                <a:gridCol w="881608"/>
                <a:gridCol w="2483289"/>
                <a:gridCol w="2485292"/>
                <a:gridCol w="2438400"/>
                <a:gridCol w="3071447"/>
              </a:tblGrid>
              <a:tr h="2612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S No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69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Member Names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69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WFO Actual Days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69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Compliance %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69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charset="0"/>
                        </a:rPr>
                        <a:t>Avg 7 hrs per day compliance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769E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Vasanth Thennarasu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58.33%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Sowmiya Dharmalingam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Vinu John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33.33%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Abinaya Kannan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58.33%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Yamuna Sethu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58.33%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Priyanka Moorthy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Mathumitha Rajan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Gowtham Ram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86.36%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Ranjani Subramanian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Narayana Reddy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Kavin Nataraj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Viswateja Dhanunjaya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Hari Devaraj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41.67%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Kush Mishra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66.67%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Jaydev Dhingra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66.67%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Mohamed Rabeek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Venkatesh Baskaran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95.45%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250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Balamurugan Guru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100%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Rajanaga Kannan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77.27%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25081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l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Mani Oblisamy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77.27%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charset="0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charset="0"/>
                      </a:endParaRPr>
                    </a:p>
                  </a:txBody>
                  <a:tcPr marL="8617" marR="8617" marT="861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1875" y="750104"/>
            <a:ext cx="2438400" cy="1054607"/>
          </a:xfrm>
          <a:prstGeom prst="rect">
            <a:avLst/>
          </a:prstGeom>
        </p:spPr>
      </p:pic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hqprint"/>
          <a:stretch>
            <a:fillRect/>
          </a:stretch>
        </p:blipFill>
        <p:spPr>
          <a:xfrm>
            <a:off x="8821130" y="2982434"/>
            <a:ext cx="3088111" cy="30263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1647" y="3226455"/>
            <a:ext cx="5999989" cy="1774263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Rectangle 10"/>
          <p:cNvSpPr/>
          <p:nvPr/>
        </p:nvSpPr>
        <p:spPr>
          <a:xfrm>
            <a:off x="681571" y="3723735"/>
            <a:ext cx="4633552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265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wis721 BT"/>
                <a:cs typeface="Roboto"/>
              </a:rPr>
              <a:t>Q &amp; A</a:t>
            </a:r>
            <a:endParaRPr lang="en-US" sz="426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wis721 BT"/>
              <a:cs typeface="Roboto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-16933" y="2038781"/>
            <a:ext cx="5999989" cy="1774263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Rectangle 7"/>
          <p:cNvSpPr/>
          <p:nvPr/>
        </p:nvSpPr>
        <p:spPr>
          <a:xfrm>
            <a:off x="666285" y="2536061"/>
            <a:ext cx="4633552" cy="748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265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wis721 BT"/>
                <a:cs typeface="Roboto"/>
              </a:rPr>
              <a:t>Thank You</a:t>
            </a:r>
            <a:endParaRPr lang="en-US" sz="4265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wis721 BT"/>
              <a:cs typeface="Roboto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0*387"/>
  <p:tag name="TABLE_ENDDRAG_RECT" val="26*91*730*387"/>
</p:tagLst>
</file>

<file path=ppt/tags/tag2.xml><?xml version="1.0" encoding="utf-8"?>
<p:tagLst xmlns:p="http://schemas.openxmlformats.org/presentationml/2006/main">
  <p:tag name="TABLE_ENDDRAG_ORIGIN_RECT" val="692*269"/>
  <p:tag name="TABLE_ENDDRAG_RECT" val="26*94*692*269"/>
</p:tagLst>
</file>

<file path=ppt/tags/tag3.xml><?xml version="1.0" encoding="utf-8"?>
<p:tagLst xmlns:p="http://schemas.openxmlformats.org/presentationml/2006/main">
  <p:tag name="TABLE_ENDDRAG_ORIGIN_RECT" val="873*29"/>
  <p:tag name="TABLE_ENDDRAG_RECT" val="20*56*873*29"/>
</p:tagLst>
</file>

<file path=ppt/tags/tag4.xml><?xml version="1.0" encoding="utf-8"?>
<p:tagLst xmlns:p="http://schemas.openxmlformats.org/presentationml/2006/main">
  <p:tag name="TABLE_ENDDRAG_ORIGIN_RECT" val="873*388"/>
  <p:tag name="TABLE_ENDDRAG_RECT" val="20*81*873*388"/>
</p:tagLst>
</file>

<file path=ppt/tags/tag5.xml><?xml version="1.0" encoding="utf-8"?>
<p:tagLst xmlns:p="http://schemas.openxmlformats.org/presentationml/2006/main">
  <p:tag name="TABLE_ENDDRAG_ORIGIN_RECT" val="873*33"/>
  <p:tag name="TABLE_ENDDRAG_RECT" val="20*56*873*33"/>
</p:tagLst>
</file>

<file path=ppt/tags/tag6.xml><?xml version="1.0" encoding="utf-8"?>
<p:tagLst xmlns:p="http://schemas.openxmlformats.org/presentationml/2006/main">
  <p:tag name="TABLE_ENDDRAG_ORIGIN_RECT" val="873*192"/>
  <p:tag name="TABLE_ENDDRAG_RECT" val="20*91*873*192"/>
</p:tagLst>
</file>

<file path=ppt/tags/tag7.xml><?xml version="1.0" encoding="utf-8"?>
<p:tagLst xmlns:p="http://schemas.openxmlformats.org/presentationml/2006/main">
  <p:tag name="TABLE_ENDDRAG_ORIGIN_RECT" val="873*33"/>
  <p:tag name="TABLE_ENDDRAG_RECT" val="20*56*873*33"/>
</p:tagLst>
</file>

<file path=ppt/tags/tag8.xml><?xml version="1.0" encoding="utf-8"?>
<p:tagLst xmlns:p="http://schemas.openxmlformats.org/presentationml/2006/main">
  <p:tag name="TABLE_ENDDRAG_ORIGIN_RECT" val="444*207"/>
  <p:tag name="TABLE_ENDDRAG_RECT" val="20*90*444*207"/>
</p:tagLst>
</file>

<file path=ppt/tags/tag9.xml><?xml version="1.0" encoding="utf-8"?>
<p:tagLst xmlns:p="http://schemas.openxmlformats.org/presentationml/2006/main">
  <p:tag name="TABLE_ENDDRAG_ORIGIN_RECT" val="432*218"/>
  <p:tag name="TABLE_ENDDRAG_RECT" val="467*89*432*218"/>
</p:tagLst>
</file>

<file path=ppt/tags/tag10.xml><?xml version="1.0" encoding="utf-8"?>
<p:tagLst xmlns:p="http://schemas.openxmlformats.org/presentationml/2006/main">
  <p:tag name="TABLE_ENDDRAG_ORIGIN_RECT" val="873*132"/>
  <p:tag name="TABLE_ENDDRAG_RECT" val="20*307*873*132"/>
</p:tagLst>
</file>

<file path=ppt/tags/tag11.xml><?xml version="1.0" encoding="utf-8"?>
<p:tagLst xmlns:p="http://schemas.openxmlformats.org/presentationml/2006/main">
  <p:tag name="TABLE_ENDDRAG_ORIGIN_RECT" val="787*35"/>
  <p:tag name="TABLE_ENDDRAG_RECT" val="80*65*787*35"/>
</p:tagLst>
</file>

<file path=ppt/tags/tag12.xml><?xml version="1.0" encoding="utf-8"?>
<p:tagLst xmlns:p="http://schemas.openxmlformats.org/presentationml/2006/main">
  <p:tag name="TABLE_ENDDRAG_ORIGIN_RECT" val="787*362"/>
  <p:tag name="TABLE_ENDDRAG_RECT" val="80*99*787*362"/>
</p:tagLst>
</file>

<file path=ppt/tags/tag13.xml><?xml version="1.0" encoding="utf-8"?>
<p:tagLst xmlns:p="http://schemas.openxmlformats.org/presentationml/2006/main">
  <p:tag name="TABLE_ENDDRAG_ORIGIN_RECT" val="674*162"/>
  <p:tag name="TABLE_ENDDRAG_RECT" val="145*96*674*162"/>
</p:tagLst>
</file>

<file path=ppt/tags/tag14.xml><?xml version="1.0" encoding="utf-8"?>
<p:tagLst xmlns:p="http://schemas.openxmlformats.org/presentationml/2006/main">
  <p:tag name="TABLE_ENDDRAG_ORIGIN_RECT" val="291*84"/>
  <p:tag name="TABLE_ENDDRAG_RECT" val="12*360*291*84"/>
</p:tagLst>
</file>

<file path=ppt/tags/tag15.xml><?xml version="1.0" encoding="utf-8"?>
<p:tagLst xmlns:p="http://schemas.openxmlformats.org/presentationml/2006/main">
  <p:tag name="TABLE_ENDDRAG_ORIGIN_RECT" val="730*387"/>
  <p:tag name="TABLE_ENDDRAG_RECT" val="26*91*730*387"/>
</p:tagLst>
</file>

<file path=ppt/tags/tag16.xml><?xml version="1.0" encoding="utf-8"?>
<p:tagLst xmlns:p="http://schemas.openxmlformats.org/presentationml/2006/main">
  <p:tag name="TABLE_ENDDRAG_ORIGIN_RECT" val="692*269"/>
  <p:tag name="TABLE_ENDDRAG_RECT" val="26*94*692*269"/>
</p:tagLst>
</file>

<file path=ppt/tags/tag17.xml><?xml version="1.0" encoding="utf-8"?>
<p:tagLst xmlns:p="http://schemas.openxmlformats.org/presentationml/2006/main">
  <p:tag name="TABLE_ENDDRAG_ORIGIN_RECT" val="692*269"/>
  <p:tag name="TABLE_ENDDRAG_RECT" val="26*94*692*269"/>
</p:tagLst>
</file>

<file path=ppt/tags/tag18.xml><?xml version="1.0" encoding="utf-8"?>
<p:tagLst xmlns:p="http://schemas.openxmlformats.org/presentationml/2006/main">
  <p:tag name="TABLE_ENDDRAG_ORIGIN_RECT" val="692*269"/>
  <p:tag name="TABLE_ENDDRAG_RECT" val="26*94*692*269"/>
</p:tagLst>
</file>

<file path=ppt/tags/tag19.xml><?xml version="1.0" encoding="utf-8"?>
<p:tagLst xmlns:p="http://schemas.openxmlformats.org/presentationml/2006/main">
  <p:tag name="TABLE_ENDDRAG_ORIGIN_RECT" val="932*292"/>
  <p:tag name="TABLE_ENDDRAG_RECT" val="17*66*932*292"/>
</p:tagLst>
</file>

<file path=ppt/tags/tag20.xml><?xml version="1.0" encoding="utf-8"?>
<p:tagLst xmlns:p="http://schemas.openxmlformats.org/presentationml/2006/main">
  <p:tag name="TABLE_ENDDRAG_ORIGIN_RECT" val="381*237"/>
  <p:tag name="TABLE_ENDDRAG_RECT" val="460*222*381*237"/>
</p:tagLst>
</file>

<file path=ppt/tags/tag21.xml><?xml version="1.0" encoding="utf-8"?>
<p:tagLst xmlns:p="http://schemas.openxmlformats.org/presentationml/2006/main">
  <p:tag name="TABLE_ENDDRAG_ORIGIN_RECT" val="385*83"/>
  <p:tag name="TABLE_ENDDRAG_RECT" val="55*301*385*83"/>
</p:tagLst>
</file>

<file path=ppt/tags/tag22.xml><?xml version="1.0" encoding="utf-8"?>
<p:tagLst xmlns:p="http://schemas.openxmlformats.org/presentationml/2006/main">
  <p:tag name="TABLE_ENDDRAG_ORIGIN_RECT" val="385*43"/>
  <p:tag name="TABLE_ENDDRAG_RECT" val="55*405*385*43"/>
</p:tagLst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Aptos Narrow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30435</Words>
  <Application>WPS Presentation</Application>
  <PresentationFormat>Widescreen</PresentationFormat>
  <Paragraphs>2112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64" baseType="lpstr">
      <vt:lpstr>Arial</vt:lpstr>
      <vt:lpstr>SimSun</vt:lpstr>
      <vt:lpstr>Wingdings</vt:lpstr>
      <vt:lpstr>Calibri</vt:lpstr>
      <vt:lpstr>Calibri</vt:lpstr>
      <vt:lpstr>Wingdings</vt:lpstr>
      <vt:lpstr>Microsoft YaHei</vt:lpstr>
      <vt:lpstr>Arial Unicode MS</vt:lpstr>
      <vt:lpstr>Calibri Light</vt:lpstr>
      <vt:lpstr>Calbiri</vt:lpstr>
      <vt:lpstr>Segoe Print</vt:lpstr>
      <vt:lpstr>Calibri Light</vt:lpstr>
      <vt:lpstr>Arial</vt:lpstr>
      <vt:lpstr>Aptos Narrow</vt:lpstr>
      <vt:lpstr>Segoe UI Variable Display</vt:lpstr>
      <vt:lpstr>Aptos Narrow</vt:lpstr>
      <vt:lpstr>Swis721 BT</vt:lpstr>
      <vt:lpstr>Roboto</vt:lpstr>
      <vt:lpstr>Times New Roman</vt:lpstr>
      <vt:lpstr>Motyw pakietu Office</vt:lpstr>
      <vt:lpstr>Excel.Sheet.12</vt:lpstr>
      <vt:lpstr>Excel.Sheet.12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 Ranganathan (Aspire)</dc:creator>
  <cp:lastModifiedBy>Vasanth Kumar.T</cp:lastModifiedBy>
  <cp:revision>170</cp:revision>
  <dcterms:created xsi:type="dcterms:W3CDTF">2019-04-07T19:10:00Z</dcterms:created>
  <dcterms:modified xsi:type="dcterms:W3CDTF">2026-04-08T09:49:08Z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40EFA7C57803448DA00B9E6C4DFB44D2_12</vt:lpwstr>
  </property>
  <property fmtid="{D5CDD505-2E9C-101B-9397-08002B2CF9AE}" pid="3" name="KSOProductBuildVer">
    <vt:lpwstr>1033-12.2.0.23196</vt:lpwstr>
  </property>
</Properties>
</file>